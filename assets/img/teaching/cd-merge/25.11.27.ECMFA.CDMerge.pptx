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3" r:id="rId1"/>
  </p:sldMasterIdLst>
  <p:notesMasterIdLst>
    <p:notesMasterId r:id="rId22"/>
  </p:notesMasterIdLst>
  <p:handoutMasterIdLst>
    <p:handoutMasterId r:id="rId23"/>
  </p:handoutMasterIdLst>
  <p:sldIdLst>
    <p:sldId id="1070" r:id="rId2"/>
    <p:sldId id="947" r:id="rId3"/>
    <p:sldId id="1097" r:id="rId4"/>
    <p:sldId id="1085" r:id="rId5"/>
    <p:sldId id="1092" r:id="rId6"/>
    <p:sldId id="1084" r:id="rId7"/>
    <p:sldId id="976" r:id="rId8"/>
    <p:sldId id="1099" r:id="rId9"/>
    <p:sldId id="1100" r:id="rId10"/>
    <p:sldId id="1095" r:id="rId11"/>
    <p:sldId id="917" r:id="rId12"/>
    <p:sldId id="918" r:id="rId13"/>
    <p:sldId id="919" r:id="rId14"/>
    <p:sldId id="920" r:id="rId15"/>
    <p:sldId id="922" r:id="rId16"/>
    <p:sldId id="925" r:id="rId17"/>
    <p:sldId id="924" r:id="rId18"/>
    <p:sldId id="923" r:id="rId19"/>
    <p:sldId id="927" r:id="rId20"/>
    <p:sldId id="1096" r:id="rId21"/>
  </p:sldIdLst>
  <p:sldSz cx="12192000" cy="6858000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tics of Model Composition" id="{BA5A418E-533D-411B-A37B-767B687B3CED}">
          <p14:sldIdLst>
            <p14:sldId id="1070"/>
            <p14:sldId id="947"/>
            <p14:sldId id="1097"/>
            <p14:sldId id="1085"/>
            <p14:sldId id="1092"/>
            <p14:sldId id="1084"/>
            <p14:sldId id="976"/>
            <p14:sldId id="1099"/>
            <p14:sldId id="1100"/>
            <p14:sldId id="1095"/>
            <p14:sldId id="917"/>
            <p14:sldId id="918"/>
            <p14:sldId id="919"/>
            <p14:sldId id="920"/>
            <p14:sldId id="922"/>
            <p14:sldId id="925"/>
            <p14:sldId id="924"/>
            <p14:sldId id="923"/>
            <p14:sldId id="927"/>
            <p14:sldId id="1096"/>
          </p14:sldIdLst>
        </p14:section>
        <p14:section name="Standardabschnitt" id="{6E7F82FA-FE42-4318-9577-364728012E37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Schmalzing" initials="DS" lastIdx="1" clrIdx="0">
    <p:extLst>
      <p:ext uri="{19B8F6BF-5375-455C-9EA6-DF929625EA0E}">
        <p15:presenceInfo xmlns:p15="http://schemas.microsoft.com/office/powerpoint/2012/main" userId="David Schmalzi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FFFFFF"/>
    <a:srgbClr val="071ECC"/>
    <a:srgbClr val="1E07CC"/>
    <a:srgbClr val="FF0000"/>
    <a:srgbClr val="FF00FF"/>
    <a:srgbClr val="CC0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0" autoAdjust="0"/>
    <p:restoredTop sz="93515" autoAdjust="0"/>
  </p:normalViewPr>
  <p:slideViewPr>
    <p:cSldViewPr snapToGrid="0">
      <p:cViewPr varScale="1">
        <p:scale>
          <a:sx n="106" d="100"/>
          <a:sy n="106" d="100"/>
        </p:scale>
        <p:origin x="804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316"/>
    </p:cViewPr>
  </p:sorterViewPr>
  <p:notesViewPr>
    <p:cSldViewPr snapToGrid="0">
      <p:cViewPr varScale="1">
        <p:scale>
          <a:sx n="92" d="100"/>
          <a:sy n="92" d="100"/>
        </p:scale>
        <p:origin x="280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MSh, Stand 15.9.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5" y="1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8BCBB3B-932A-4D6C-900D-9F4B28686221}" type="datetimeFigureOut">
              <a:rPr lang="de-DE" altLang="de-DE"/>
              <a:pPr>
                <a:defRPr/>
              </a:pPr>
              <a:t>27.11.2025</a:t>
            </a:fld>
            <a:endParaRPr lang="de-DE" alt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6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5" y="9429306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35FA329-B071-4BC1-BBB5-3B07BBB55D93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de-DE"/>
              <a:t>MSh, Stand 15.9.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5" y="1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B02CD211-E599-4F87-85BA-4D602CEE05A3}" type="datetimeFigureOut">
              <a:rPr lang="de-DE" altLang="de-DE"/>
              <a:pPr>
                <a:defRPr/>
              </a:pPr>
              <a:t>27.11.2025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6" rIns="88212" bIns="44106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5" y="4777782"/>
            <a:ext cx="5438748" cy="3907834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6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5" y="9429306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1BC8D279-B8BC-4FA6-86F2-E41329D88EBB}" type="slidenum">
              <a:rPr lang="de-DE" altLang="de-DE"/>
              <a:pPr/>
              <a:t>‹Nr.›</a:t>
            </a:fld>
            <a:endParaRPr lang="de-DE" alt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Kopfzeilenplatzhalter 3">
            <a:extLst>
              <a:ext uri="{FF2B5EF4-FFF2-40B4-BE49-F238E27FC236}">
                <a16:creationId xmlns:a16="http://schemas.microsoft.com/office/drawing/2014/main" id="{119F3FC2-43CD-8E98-0A3E-1B3C4734349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MSh, Stand 15.9.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4895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Open-</a:t>
            </a:r>
            <a:r>
              <a:rPr lang="de-DE" dirty="0" err="1"/>
              <a:t>worls</a:t>
            </a:r>
            <a:r>
              <a:rPr lang="de-DE" dirty="0"/>
              <a:t> </a:t>
            </a:r>
            <a:r>
              <a:rPr lang="de-DE" dirty="0" err="1"/>
              <a:t>semantic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540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Open-</a:t>
            </a:r>
            <a:r>
              <a:rPr lang="de-DE" dirty="0" err="1"/>
              <a:t>worls</a:t>
            </a:r>
            <a:r>
              <a:rPr lang="de-DE" dirty="0"/>
              <a:t> </a:t>
            </a:r>
            <a:r>
              <a:rPr lang="de-DE" dirty="0" err="1"/>
              <a:t>semantic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5437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noProof="0" dirty="0"/>
              <a:t>XXX </a:t>
            </a:r>
            <a:r>
              <a:rPr lang="de-DE" noProof="0" dirty="0" err="1"/>
              <a:t>laterdo</a:t>
            </a:r>
            <a:r>
              <a:rPr lang="de-DE" noProof="0" dirty="0"/>
              <a:t> Die benutzen mathematischen Symbole sind inkompatibel und auch noch im Falschen Font:</a:t>
            </a:r>
          </a:p>
          <a:p>
            <a:r>
              <a:rPr lang="de-DE" noProof="0" dirty="0"/>
              <a:t>Das ist anzupassen in diesem Kapitel. Idealerweise an die ISE-Vorlesungsnorm</a:t>
            </a:r>
          </a:p>
          <a:p>
            <a:r>
              <a:rPr lang="de-DE" noProof="0" dirty="0">
                <a:sym typeface="Wingdings" panose="05000000000000000000" pitchFamily="2" charset="2"/>
              </a:rPr>
              <a:t> Es bietet sich an, das bei der Umsetzung ins neue Format mit zu erledigen (bedarf aber einer Rücksprache)</a:t>
            </a:r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C53D3-2EC4-4E5E-A0D6-E40BF5E54D4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8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C53D3-2EC4-4E5E-A0D6-E40BF5E54D4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43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7892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9A960-D211-3F2F-001E-EBF624B2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66E2EE0-91F0-E02D-E390-8577D41B1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D942DB8-20C9-59AD-C044-BAC2FE9C0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8883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77EDB-E014-52D0-6E8C-FEB6E3DA8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4E0BCC-BB8D-B383-0A5F-52FE65005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75FDC68-E87D-3C0A-6664-208E27827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4737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8667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1751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76557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2284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6831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Writing </a:t>
            </a:r>
            <a:r>
              <a:rPr lang="de-DE" dirty="0" err="1"/>
              <a:t>promises</a:t>
            </a:r>
            <a:r>
              <a:rPr lang="de-DE" dirty="0"/>
              <a:t> erklären</a:t>
            </a:r>
          </a:p>
        </p:txBody>
      </p:sp>
    </p:spTree>
    <p:extLst>
      <p:ext uri="{BB962C8B-B14F-4D97-AF65-F5344CB8AC3E}">
        <p14:creationId xmlns:p14="http://schemas.microsoft.com/office/powerpoint/2010/main" val="41669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0862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5278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439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8F71EE3-D70A-4C02-A968-4B934D1A0EFF}"/>
              </a:ext>
            </a:extLst>
          </p:cNvPr>
          <p:cNvGrpSpPr/>
          <p:nvPr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7C845E14-D05D-4847-8D0F-48B225F97F2B}"/>
                </a:ext>
              </a:extLst>
            </p:cNvPr>
            <p:cNvGrpSpPr/>
            <p:nvPr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DEAA3F24-7ABD-43F2-AA45-BF5173CF32C5}"/>
                  </a:ext>
                </a:extLst>
              </p:cNvPr>
              <p:cNvCxnSpPr/>
              <p:nvPr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6AFAD796-294C-4678-84E4-36609DA3DE96}"/>
                  </a:ext>
                </a:extLst>
              </p:cNvPr>
              <p:cNvCxnSpPr/>
              <p:nvPr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C515608-7894-4009-BE21-62D65B382976}"/>
                </a:ext>
              </a:extLst>
            </p:cNvPr>
            <p:cNvGrpSpPr/>
            <p:nvPr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0334CBD9-C046-4B8D-8306-1B31D1E6CD28}"/>
                  </a:ext>
                </a:extLst>
              </p:cNvPr>
              <p:cNvCxnSpPr/>
              <p:nvPr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10AEC939-0940-4439-A734-7AAF6763DFF8}"/>
                  </a:ext>
                </a:extLst>
              </p:cNvPr>
              <p:cNvCxnSpPr/>
              <p:nvPr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42CAEF3-4F48-4FEC-9E09-79D3F41BC518}"/>
              </a:ext>
            </a:extLst>
          </p:cNvPr>
          <p:cNvGrpSpPr/>
          <p:nvPr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5E654C8-5ED2-482F-82FE-D8B7AB672D1B}"/>
                </a:ext>
              </a:extLst>
            </p:cNvPr>
            <p:cNvCxnSpPr/>
            <p:nvPr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5CBF0CD-26F9-4ACF-A893-9837FC6A792A}"/>
                </a:ext>
              </a:extLst>
            </p:cNvPr>
            <p:cNvCxnSpPr/>
            <p:nvPr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3B422C15-1DE6-4DF9-8E96-5CA163219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434" y="2584876"/>
            <a:ext cx="10886925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983979DD-F31A-4483-BB1A-22D5710FA3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434" y="3078076"/>
            <a:ext cx="10886925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en-US" noProof="0" dirty="0" err="1"/>
              <a:t>Untertitelmasters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EE02E37-16C7-4AED-B03D-D2D32DD5AE21}"/>
              </a:ext>
            </a:extLst>
          </p:cNvPr>
          <p:cNvGrpSpPr/>
          <p:nvPr userDrawn="1"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757562EE-1B2D-44E7-A590-9E9EDBC85B94}"/>
                </a:ext>
              </a:extLst>
            </p:cNvPr>
            <p:cNvGrpSpPr/>
            <p:nvPr userDrawn="1"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5705C926-C661-4870-90F5-B8FE6824FA3E}"/>
                  </a:ext>
                </a:extLst>
              </p:cNvPr>
              <p:cNvCxnSpPr/>
              <p:nvPr userDrawn="1"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61340FDD-0028-43F6-9B43-780A9256EA84}"/>
                  </a:ext>
                </a:extLst>
              </p:cNvPr>
              <p:cNvCxnSpPr/>
              <p:nvPr userDrawn="1"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67471FCE-9EBC-4563-B643-791B6D9CF2C5}"/>
                </a:ext>
              </a:extLst>
            </p:cNvPr>
            <p:cNvGrpSpPr/>
            <p:nvPr userDrawn="1"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DEBBEDD9-913B-43A7-92D2-70200277794A}"/>
                  </a:ext>
                </a:extLst>
              </p:cNvPr>
              <p:cNvCxnSpPr/>
              <p:nvPr userDrawn="1"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7EBB47A-B507-4D7F-9E88-09CE2A7386CD}"/>
                  </a:ext>
                </a:extLst>
              </p:cNvPr>
              <p:cNvCxnSpPr/>
              <p:nvPr userDrawn="1"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B17A0267-74CA-449E-AFFC-93B6796DAFC7}"/>
              </a:ext>
            </a:extLst>
          </p:cNvPr>
          <p:cNvGrpSpPr/>
          <p:nvPr userDrawn="1"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298FA662-EA6F-40FE-BBAD-CBDF6AB6DBCB}"/>
                </a:ext>
              </a:extLst>
            </p:cNvPr>
            <p:cNvCxnSpPr/>
            <p:nvPr userDrawn="1"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5A789B2B-F6CE-4245-989C-4A30EA0B1352}"/>
                </a:ext>
              </a:extLst>
            </p:cNvPr>
            <p:cNvCxnSpPr/>
            <p:nvPr userDrawn="1"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fik 35">
            <a:extLst>
              <a:ext uri="{FF2B5EF4-FFF2-40B4-BE49-F238E27FC236}">
                <a16:creationId xmlns:a16="http://schemas.microsoft.com/office/drawing/2014/main" id="{E5F32772-7E67-4104-809E-A67B38C64C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99"/>
            <a:ext cx="12199620" cy="230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8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F02B50-D467-41F6-8F0B-DF2AA821368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6273"/>
            <a:ext cx="11483975" cy="4385455"/>
          </a:xfrm>
          <a:prstGeom prst="rect">
            <a:avLst/>
          </a:prstGeom>
        </p:spPr>
        <p:txBody>
          <a:bodyPr wrap="square" lIns="0" tIns="0" rIns="0" bIns="0"/>
          <a:lstStyle>
            <a:lvl1pPr marL="216000" indent="-216000">
              <a:buFont typeface="Arial" panose="020B0604020202020204" pitchFamily="34" charset="0"/>
              <a:buChar char="•"/>
              <a:defRPr/>
            </a:lvl1pPr>
            <a:lvl2pPr marL="432000" indent="-216000">
              <a:buFont typeface="Symbol" panose="05050102010706020507" pitchFamily="18" charset="2"/>
              <a:buChar char="-"/>
              <a:defRPr/>
            </a:lvl2pPr>
            <a:lvl3pPr marL="648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/>
            </a:lvl3pPr>
            <a:lvl4pPr marL="864000" indent="-216000">
              <a:buFont typeface="Symbol" panose="05050102010706020507" pitchFamily="18" charset="2"/>
              <a:buChar char="-"/>
              <a:defRPr/>
            </a:lvl4pPr>
            <a:lvl5pPr marL="647700" indent="0">
              <a:buNone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11432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79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D89513B-8A7E-430E-8F63-7469EC1FB664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6F83956-15CC-418E-B737-9061141E4CD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66B5100-86F8-4E8C-9DE1-10AD5FB9B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703F518-B554-4AC1-A90D-7EDD58F262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de-DE" dirty="0"/>
              <a:t>Untertitelmasters durch Klicken bearbeiten</a:t>
            </a:r>
            <a:endParaRPr lang="en-US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D9FA7CF-D871-4A92-B637-6BD1D2660BDF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2A6B56BE-B7D9-4ABB-9FC4-4C2C40CB670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B385CDCE-8F09-4AAB-B014-0073E7D048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feld 12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dirty="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33525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4000" y="1235175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6000" y="1236273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" name="Textfeld 2"/>
          <p:cNvSpPr txBox="1"/>
          <p:nvPr userDrawn="1"/>
        </p:nvSpPr>
        <p:spPr>
          <a:xfrm>
            <a:off x="779929" y="2430576"/>
            <a:ext cx="1119564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71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use the flipped one instead (and manually copy the content(!) of the flipped pages)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chemeClr val="accent6"/>
                </a:solidFill>
              </a:rPr>
              <a:t>(DO NOT REMOVE LAYOUT DUE TO REASONS OF BACKWARD COMPATIBILITY)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C071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10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16000" y="1234689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5175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25727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E9EC9F2-3C9F-4A4B-9463-32200C1888C5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BE7F8F3-90E3-4324-B96F-F4C733799980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FB93F6E7-9B79-444E-9797-C017CBCD9F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966A802-7238-4572-8B31-F10BAD15BE6A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01C63A65-01F5-4E3D-9EE7-E225D07B1954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7CBACAB-4E61-4BA4-A7E8-012536F511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14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dirty="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27336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pieren 14"/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6" name="Gerader Verbinder 15"/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/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0B61E83-F62A-4E6F-9728-ABDE5413BA68}"/>
              </a:ext>
            </a:extLst>
          </p:cNvPr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3ED25C8-3644-4C59-B80C-B3EC3EBB6C18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94E318B-6CC6-4660-9EC9-B8FEB8D24174}"/>
                </a:ext>
              </a:extLst>
            </p:cNvPr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7E0399E-000C-4919-9189-D72AC9F21B27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39B952C-73F9-4639-9C6B-D79F321E765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D1F7EFE-C1E5-46CC-AC0C-2ACADE80B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BEA13B8-67E5-4E0C-87FF-5C3A86F3E1BB}"/>
              </a:ext>
            </a:extLst>
          </p:cNvPr>
          <p:cNvGrpSpPr/>
          <p:nvPr userDrawn="1"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2D7C05B6-2FEC-4BCF-B0D2-C4E0FBD988C4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1DD01610-9DF8-4DC4-93DF-34D4ADF39035}"/>
                </a:ext>
              </a:extLst>
            </p:cNvPr>
            <p:cNvCxnSpPr/>
            <p:nvPr userDrawn="1"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E00B62C-5012-43AC-B2B8-7ABCCC897041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8204F29-F5C4-4D02-857A-E600F35F2E4F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5F4B9776-75B3-46D2-8C19-AE6D80A6416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feld 28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dirty="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605203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 dirty="0">
                <a:solidFill>
                  <a:schemeClr val="tx2"/>
                </a:solidFill>
              </a:rPr>
              <a:t>Vielen Dank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>
                <a:solidFill>
                  <a:schemeClr val="tx2"/>
                </a:solidFill>
              </a:rPr>
              <a:t>für Ihre Aufmerksamkeit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D42372E-A88B-49BE-BF8B-A349B6BE88BB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E73DD95-497D-41DA-AE15-231D472ACF1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33C7AEA-7E75-4F96-A29D-6E01AE30A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54A51D3-6BB0-4789-89BC-481D89445CBE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6F4FEE0A-400B-495A-BBAD-43B3BB9910CB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BA932F8-ADAD-449E-8505-B146C5E2606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14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dirty="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13214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739CD8DE-4C7D-4115-826C-095081C9C550}"/>
              </a:ext>
            </a:extLst>
          </p:cNvPr>
          <p:cNvGrpSpPr/>
          <p:nvPr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E7A10CC4-C78C-496F-ADD8-BFFEA15832AC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8D031218-F43F-4F64-8EFA-18FF5CC8D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Software Engineering</a:t>
            </a:r>
            <a:r>
              <a:rPr lang="de-DE" altLang="de-DE" sz="900" baseline="0" dirty="0">
                <a:solidFill>
                  <a:schemeClr val="tx2"/>
                </a:solidFill>
              </a:rPr>
              <a:t>  |  RWTH Aachen</a:t>
            </a:r>
            <a:endParaRPr lang="de-DE" altLang="de-DE" sz="900" dirty="0">
              <a:solidFill>
                <a:schemeClr val="tx2"/>
              </a:solidFill>
            </a:endParaRPr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546A872-26C7-4E5C-9125-775206BCBEA4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8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07601A5-C709-41D1-A3FB-1067D511C6A0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23116334-B9FF-486F-853F-2FC0FEBBB345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0B09F16D-C13E-41E9-9D8E-F62185B5F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3137B7CE-1B7B-4BD9-84EC-35BB2F899117}"/>
              </a:ext>
            </a:extLst>
          </p:cNvPr>
          <p:cNvGrpSpPr/>
          <p:nvPr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62A21AE-7533-4515-8E6B-0629BDE1E199}"/>
                </a:ext>
              </a:extLst>
            </p:cNvPr>
            <p:cNvCxnSpPr>
              <a:cxnSpLocks/>
            </p:cNvCxnSpPr>
            <p:nvPr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C2D2DC96-2606-46A7-BE47-231944BE7F88}"/>
                </a:ext>
              </a:extLst>
            </p:cNvPr>
            <p:cNvCxnSpPr>
              <a:cxnSpLocks/>
            </p:cNvCxnSpPr>
            <p:nvPr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5E8F4D0-8DD9-4778-8FAF-1A3AAD236EE6}"/>
              </a:ext>
            </a:extLst>
          </p:cNvPr>
          <p:cNvGrpSpPr/>
          <p:nvPr userDrawn="1"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F39390DE-7CDF-413A-BA63-9DBE991A03FE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38FE4379-972E-42EA-875D-205082A062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D885A2B-353E-4CC6-AE36-D7FBA6412355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42BAD79-77B5-4F17-9B1B-118759906CC7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49B137E-A382-4784-8424-D97BEBD109F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4B58725-E025-476C-8EFF-8D44F3A77022}"/>
              </a:ext>
            </a:extLst>
          </p:cNvPr>
          <p:cNvGrpSpPr/>
          <p:nvPr userDrawn="1"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1243A30B-762F-4D0C-8856-A9541783A9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BCB409D8-D56C-486C-ABAB-CCD3DECF18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833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6" r:id="rId2"/>
    <p:sldLayoutId id="2147483905" r:id="rId3"/>
    <p:sldLayoutId id="2147483907" r:id="rId4"/>
    <p:sldLayoutId id="2147483911" r:id="rId5"/>
    <p:sldLayoutId id="2147483908" r:id="rId6"/>
    <p:sldLayoutId id="2147483909" r:id="rId7"/>
    <p:sldLayoutId id="2147483910" r:id="rId8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e-rwth.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github.com/MontiCore/cd4analysi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5400AD-1145-43A0-9DDB-BD0B30AC9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CDMerge</a:t>
            </a:r>
            <a:r>
              <a:rPr lang="en-US" dirty="0"/>
              <a:t>: Semantically Sound Merging of Class Diagrams for Software Component Integration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B3837036-6DD6-40B5-9156-52AEF70FD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138" y="4405079"/>
            <a:ext cx="7178247" cy="1538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de-DE" sz="2000" dirty="0"/>
              <a:t>Achim Lindt, Bernhard Rumpe, </a:t>
            </a:r>
            <a:r>
              <a:rPr lang="de-DE" sz="2000" u="sng" dirty="0">
                <a:solidFill>
                  <a:schemeClr val="tx2"/>
                </a:solidFill>
              </a:rPr>
              <a:t>Max Stachon</a:t>
            </a:r>
            <a:r>
              <a:rPr lang="de-DE" sz="2000" dirty="0"/>
              <a:t>, Sebastian Stüber</a:t>
            </a:r>
          </a:p>
          <a:p>
            <a:r>
              <a:rPr lang="de-DE" sz="2000" dirty="0"/>
              <a:t>Software Engineering</a:t>
            </a:r>
          </a:p>
          <a:p>
            <a:r>
              <a:rPr lang="de-DE" sz="2000" dirty="0"/>
              <a:t>RWTH Aachen </a:t>
            </a:r>
          </a:p>
          <a:p>
            <a:endParaRPr lang="de-DE" sz="2000" dirty="0"/>
          </a:p>
          <a:p>
            <a:r>
              <a:rPr lang="de-DE" sz="2000" dirty="0">
                <a:hlinkClick r:id="rId3"/>
              </a:rPr>
              <a:t>https://se-rwth.de/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981815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9A98E8D-85B3-4212-A8A0-453EB02C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Class Diagrams: Motivation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3DC4C09-07FB-4CCD-8D4A-3E283788AD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4000" y="1235175"/>
            <a:ext cx="6932538" cy="4385455"/>
          </a:xfrm>
        </p:spPr>
        <p:txBody>
          <a:bodyPr/>
          <a:lstStyle/>
          <a:p>
            <a:r>
              <a:rPr lang="en-US" dirty="0"/>
              <a:t>Principle of Software Engineering: </a:t>
            </a:r>
            <a:r>
              <a:rPr lang="en-US" dirty="0">
                <a:solidFill>
                  <a:schemeClr val="tx2"/>
                </a:solidFill>
              </a:rPr>
              <a:t>Divide and Conquer</a:t>
            </a:r>
            <a:endParaRPr lang="en-US" dirty="0"/>
          </a:p>
          <a:p>
            <a:pPr lvl="1"/>
            <a:r>
              <a:rPr lang="en-US" dirty="0">
                <a:solidFill>
                  <a:schemeClr val="tx2"/>
                </a:solidFill>
              </a:rPr>
              <a:t>division </a:t>
            </a:r>
            <a:r>
              <a:rPr lang="en-US" dirty="0"/>
              <a:t>of systems into </a:t>
            </a:r>
            <a:r>
              <a:rPr lang="en-US" dirty="0">
                <a:solidFill>
                  <a:schemeClr val="tx2"/>
                </a:solidFill>
              </a:rPr>
              <a:t>submodules </a:t>
            </a:r>
            <a:r>
              <a:rPr lang="en-US" dirty="0"/>
              <a:t>with high cohesion / low coupling </a:t>
            </a:r>
          </a:p>
          <a:p>
            <a:endParaRPr lang="en-US" dirty="0"/>
          </a:p>
          <a:p>
            <a:r>
              <a:rPr lang="en-US" dirty="0"/>
              <a:t>Now we want to </a:t>
            </a:r>
            <a:r>
              <a:rPr lang="en-US" dirty="0">
                <a:solidFill>
                  <a:schemeClr val="tx2"/>
                </a:solidFill>
              </a:rPr>
              <a:t>apply this principle to models</a:t>
            </a:r>
            <a:r>
              <a:rPr lang="en-US" dirty="0"/>
              <a:t>, as well:</a:t>
            </a:r>
          </a:p>
          <a:p>
            <a:pPr lvl="1"/>
            <a:r>
              <a:rPr lang="en-US" dirty="0"/>
              <a:t>Model each submodule independently.</a:t>
            </a:r>
          </a:p>
          <a:p>
            <a:pPr lvl="1"/>
            <a:r>
              <a:rPr lang="en-US" dirty="0"/>
              <a:t>Utilize model-composition to:</a:t>
            </a:r>
          </a:p>
          <a:p>
            <a:pPr lvl="2"/>
            <a:r>
              <a:rPr lang="en-US" dirty="0">
                <a:solidFill>
                  <a:schemeClr val="tx2"/>
                </a:solidFill>
              </a:rPr>
              <a:t>check for compatibility</a:t>
            </a:r>
            <a:r>
              <a:rPr lang="en-US" dirty="0"/>
              <a:t>,</a:t>
            </a:r>
          </a:p>
          <a:p>
            <a:pPr lvl="2"/>
            <a:r>
              <a:rPr lang="en-US" dirty="0"/>
              <a:t>generate system-model </a:t>
            </a:r>
            <a:r>
              <a:rPr lang="en-US" dirty="0">
                <a:solidFill>
                  <a:schemeClr val="tx2"/>
                </a:solidFill>
              </a:rPr>
              <a:t>on demand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Use-case: </a:t>
            </a:r>
            <a:r>
              <a:rPr lang="en-US" dirty="0" err="1">
                <a:solidFill>
                  <a:schemeClr val="tx2"/>
                </a:solidFill>
              </a:rPr>
              <a:t>MaCoCo</a:t>
            </a:r>
            <a:r>
              <a:rPr lang="en-US" dirty="0"/>
              <a:t> (large CD for university information system)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2" descr="C:\Users\Achim Lindt\AppData\Local\Microsoft\Windows\Temporary Internet Files\Content.IE5\3XNARK0H\fotos-da-peça-puzzle-vermelho-nb14202[1].jpg">
            <a:extLst>
              <a:ext uri="{FF2B5EF4-FFF2-40B4-BE49-F238E27FC236}">
                <a16:creationId xmlns:a16="http://schemas.microsoft.com/office/drawing/2014/main" id="{EB0FE81C-E922-045E-0089-74A212EDD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0067A6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232" y="1842850"/>
            <a:ext cx="252028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01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2">
                <a:extLst>
                  <a:ext uri="{FF2B5EF4-FFF2-40B4-BE49-F238E27FC236}">
                    <a16:creationId xmlns:a16="http://schemas.microsoft.com/office/drawing/2014/main" id="{D9A98E8D-85B3-4212-A8A0-453EB02CC55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Merging Operator for Class Diagrams </a:t>
                </a:r>
                <a:r>
                  <a:rPr lang="en-US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 </a:t>
                </a:r>
                <a:r>
                  <a:rPr lang="en-US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CD </a:t>
                </a:r>
                <a14:m>
                  <m:oMath xmlns:m="http://schemas.openxmlformats.org/officeDocument/2006/math">
                    <m:r>
                      <a:rPr lang="de-DE" alt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CD</a:t>
                </a:r>
                <a:r>
                  <a:rPr lang="en-US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</a:t>
                </a:r>
                <a:r>
                  <a:rPr lang="en-US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CD</a:t>
                </a:r>
                <a:endParaRPr lang="en-US" dirty="0"/>
              </a:p>
            </p:txBody>
          </p:sp>
        </mc:Choice>
        <mc:Fallback xmlns="">
          <p:sp>
            <p:nvSpPr>
              <p:cNvPr id="3" name="Titel 2">
                <a:extLst>
                  <a:ext uri="{FF2B5EF4-FFF2-40B4-BE49-F238E27FC236}">
                    <a16:creationId xmlns:a16="http://schemas.microsoft.com/office/drawing/2014/main" id="{D9A98E8D-85B3-4212-A8A0-453EB02CC5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80" b="-303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3DC4C09-07FB-4CCD-8D4A-3E283788AD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4000" y="1235175"/>
            <a:ext cx="6932538" cy="4385455"/>
          </a:xfrm>
        </p:spPr>
        <p:txBody>
          <a:bodyPr/>
          <a:lstStyle/>
          <a:p>
            <a:r>
              <a:rPr lang="en-US" dirty="0"/>
              <a:t>The merged CD reflects </a:t>
            </a:r>
            <a:r>
              <a:rPr lang="en-US" dirty="0">
                <a:solidFill>
                  <a:schemeClr val="tx2"/>
                </a:solidFill>
              </a:rPr>
              <a:t>precisely all information </a:t>
            </a:r>
            <a:r>
              <a:rPr lang="en-US" dirty="0"/>
              <a:t>of its parts.</a:t>
            </a:r>
          </a:p>
          <a:p>
            <a:pPr lvl="2"/>
            <a:r>
              <a:rPr lang="en-US" dirty="0"/>
              <a:t>Nothing is omitted and nothing added.</a:t>
            </a:r>
          </a:p>
          <a:p>
            <a:pPr lvl="2"/>
            <a:endParaRPr lang="en-US" dirty="0"/>
          </a:p>
          <a:p>
            <a:r>
              <a:rPr lang="en-US" dirty="0"/>
              <a:t>Conflicting information </a:t>
            </a:r>
            <a:r>
              <a:rPr lang="en-US" dirty="0">
                <a:solidFill>
                  <a:schemeClr val="tx2"/>
                </a:solidFill>
              </a:rPr>
              <a:t>prevents a merge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All systems S implementing (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US" dirty="0">
                <a:solidFill>
                  <a:srgbClr val="080808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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B</a:t>
            </a:r>
            <a:r>
              <a:rPr lang="en-US" dirty="0"/>
              <a:t>) also implement </a:t>
            </a:r>
            <a:br>
              <a:rPr lang="en-US" dirty="0"/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dirty="0"/>
              <a:t> and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dirty="0"/>
              <a:t> correctly!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6C609BE2-DCFD-A45A-D534-D33164C630C2}"/>
              </a:ext>
            </a:extLst>
          </p:cNvPr>
          <p:cNvGrpSpPr/>
          <p:nvPr/>
        </p:nvGrpSpPr>
        <p:grpSpPr>
          <a:xfrm>
            <a:off x="2169035" y="3675708"/>
            <a:ext cx="7853930" cy="1528304"/>
            <a:chOff x="2946870" y="3828671"/>
            <a:chExt cx="6463018" cy="1257645"/>
          </a:xfrm>
        </p:grpSpPr>
        <p:grpSp>
          <p:nvGrpSpPr>
            <p:cNvPr id="4" name="Group 25">
              <a:extLst>
                <a:ext uri="{FF2B5EF4-FFF2-40B4-BE49-F238E27FC236}">
                  <a16:creationId xmlns:a16="http://schemas.microsoft.com/office/drawing/2014/main" id="{A4A51812-57D2-27E8-8FC3-354F33425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7771" y="4264467"/>
              <a:ext cx="595100" cy="554654"/>
              <a:chOff x="707" y="1477"/>
              <a:chExt cx="790" cy="712"/>
            </a:xfrm>
          </p:grpSpPr>
          <p:sp>
            <p:nvSpPr>
              <p:cNvPr id="5" name="Rectangle 26">
                <a:extLst>
                  <a:ext uri="{FF2B5EF4-FFF2-40B4-BE49-F238E27FC236}">
                    <a16:creationId xmlns:a16="http://schemas.microsoft.com/office/drawing/2014/main" id="{E06074B8-9EF9-44CC-61D8-30D4ECC13C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04" y="2011"/>
                <a:ext cx="293" cy="178"/>
              </a:xfrm>
              <a:prstGeom prst="rect">
                <a:avLst/>
              </a:prstGeom>
              <a:solidFill>
                <a:srgbClr val="FECABE"/>
              </a:solidFill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  <p:txBody>
              <a:bodyPr wrap="none" anchor="ctr"/>
              <a:lstStyle/>
              <a:p>
                <a:endParaRPr lang="de-DE">
                  <a:latin typeface="+mj-lt"/>
                </a:endParaRPr>
              </a:p>
            </p:txBody>
          </p:sp>
          <p:sp>
            <p:nvSpPr>
              <p:cNvPr id="6" name="Rectangle 27">
                <a:extLst>
                  <a:ext uri="{FF2B5EF4-FFF2-40B4-BE49-F238E27FC236}">
                    <a16:creationId xmlns:a16="http://schemas.microsoft.com/office/drawing/2014/main" id="{0996778A-A8AA-E9FB-2952-632FADB848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07" y="2011"/>
                <a:ext cx="293" cy="178"/>
              </a:xfrm>
              <a:prstGeom prst="rect">
                <a:avLst/>
              </a:prstGeom>
              <a:solidFill>
                <a:srgbClr val="FECABE"/>
              </a:solidFill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  <p:txBody>
              <a:bodyPr wrap="none" anchor="ctr"/>
              <a:lstStyle/>
              <a:p>
                <a:endParaRPr lang="de-DE">
                  <a:latin typeface="+mj-lt"/>
                </a:endParaRPr>
              </a:p>
            </p:txBody>
          </p:sp>
          <p:sp>
            <p:nvSpPr>
              <p:cNvPr id="7" name="Rectangle 28">
                <a:extLst>
                  <a:ext uri="{FF2B5EF4-FFF2-40B4-BE49-F238E27FC236}">
                    <a16:creationId xmlns:a16="http://schemas.microsoft.com/office/drawing/2014/main" id="{9118DD5C-D00D-040F-9D94-5CB193DE21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41" y="1477"/>
                <a:ext cx="293" cy="178"/>
              </a:xfrm>
              <a:prstGeom prst="rect">
                <a:avLst/>
              </a:prstGeom>
              <a:solidFill>
                <a:srgbClr val="FECABE"/>
              </a:solidFill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  <p:txBody>
              <a:bodyPr wrap="none" anchor="ctr"/>
              <a:lstStyle/>
              <a:p>
                <a:endParaRPr lang="de-DE">
                  <a:latin typeface="+mj-lt"/>
                </a:endParaRPr>
              </a:p>
            </p:txBody>
          </p:sp>
          <p:cxnSp>
            <p:nvCxnSpPr>
              <p:cNvPr id="8" name="AutoShape 29">
                <a:extLst>
                  <a:ext uri="{FF2B5EF4-FFF2-40B4-BE49-F238E27FC236}">
                    <a16:creationId xmlns:a16="http://schemas.microsoft.com/office/drawing/2014/main" id="{90681C22-65C0-3755-4792-42DC71F57B87}"/>
                  </a:ext>
                </a:extLst>
              </p:cNvPr>
              <p:cNvCxnSpPr>
                <a:cxnSpLocks noChangeAspect="1" noChangeShapeType="1"/>
                <a:stCxn id="5" idx="0"/>
                <a:endCxn id="10" idx="3"/>
              </p:cNvCxnSpPr>
              <p:nvPr/>
            </p:nvCxnSpPr>
            <p:spPr bwMode="auto">
              <a:xfrm rot="5400000" flipH="1">
                <a:off x="1093" y="1753"/>
                <a:ext cx="267" cy="249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</p:cxnSp>
          <p:cxnSp>
            <p:nvCxnSpPr>
              <p:cNvPr id="9" name="AutoShape 30">
                <a:extLst>
                  <a:ext uri="{FF2B5EF4-FFF2-40B4-BE49-F238E27FC236}">
                    <a16:creationId xmlns:a16="http://schemas.microsoft.com/office/drawing/2014/main" id="{03D41720-2FD7-1814-433F-EE52F0D47F04}"/>
                  </a:ext>
                </a:extLst>
              </p:cNvPr>
              <p:cNvCxnSpPr>
                <a:cxnSpLocks noChangeAspect="1" noChangeShapeType="1"/>
                <a:stCxn id="6" idx="0"/>
                <a:endCxn id="10" idx="3"/>
              </p:cNvCxnSpPr>
              <p:nvPr/>
            </p:nvCxnSpPr>
            <p:spPr bwMode="auto">
              <a:xfrm rot="-5400000">
                <a:off x="844" y="1753"/>
                <a:ext cx="267" cy="249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</p:cxnSp>
          <p:sp>
            <p:nvSpPr>
              <p:cNvPr id="10" name="AutoShape 31">
                <a:extLst>
                  <a:ext uri="{FF2B5EF4-FFF2-40B4-BE49-F238E27FC236}">
                    <a16:creationId xmlns:a16="http://schemas.microsoft.com/office/drawing/2014/main" id="{C4AAD239-E806-3345-853E-A794ED2D9F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58" y="1655"/>
                <a:ext cx="88" cy="89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  <p:txBody>
              <a:bodyPr wrap="none" anchor="ctr"/>
              <a:lstStyle/>
              <a:p>
                <a:endParaRPr lang="de-DE">
                  <a:latin typeface="+mj-lt"/>
                </a:endParaRPr>
              </a:p>
            </p:txBody>
          </p:sp>
          <p:cxnSp>
            <p:nvCxnSpPr>
              <p:cNvPr id="11" name="AutoShape 32">
                <a:extLst>
                  <a:ext uri="{FF2B5EF4-FFF2-40B4-BE49-F238E27FC236}">
                    <a16:creationId xmlns:a16="http://schemas.microsoft.com/office/drawing/2014/main" id="{C52697A8-834B-8C85-25A8-5B8CFB5A6258}"/>
                  </a:ext>
                </a:extLst>
              </p:cNvPr>
              <p:cNvCxnSpPr>
                <a:cxnSpLocks noChangeAspect="1" noChangeShapeType="1"/>
                <a:stCxn id="7" idx="3"/>
                <a:endCxn id="5" idx="3"/>
              </p:cNvCxnSpPr>
              <p:nvPr/>
            </p:nvCxnSpPr>
            <p:spPr bwMode="auto">
              <a:xfrm>
                <a:off x="1234" y="1566"/>
                <a:ext cx="263" cy="534"/>
              </a:xfrm>
              <a:prstGeom prst="bentConnector3">
                <a:avLst>
                  <a:gd name="adj1" fmla="val 133333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</p:cxn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0FF3947D-8691-2442-7334-2DF50AEA3BCA}"/>
                </a:ext>
              </a:extLst>
            </p:cNvPr>
            <p:cNvSpPr txBox="1"/>
            <p:nvPr/>
          </p:nvSpPr>
          <p:spPr>
            <a:xfrm>
              <a:off x="3943330" y="4179171"/>
              <a:ext cx="311393" cy="339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254F21B7-7B2F-095B-FBE0-D60E2F45F4A6}"/>
                </a:ext>
              </a:extLst>
            </p:cNvPr>
            <p:cNvSpPr txBox="1"/>
            <p:nvPr/>
          </p:nvSpPr>
          <p:spPr>
            <a:xfrm>
              <a:off x="6031430" y="4156973"/>
              <a:ext cx="311393" cy="339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B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3F7732C7-0558-404A-1D68-8E1F7DB1A804}"/>
                </a:ext>
              </a:extLst>
            </p:cNvPr>
            <p:cNvSpPr txBox="1"/>
            <p:nvPr/>
          </p:nvSpPr>
          <p:spPr>
            <a:xfrm>
              <a:off x="4407047" y="4301172"/>
              <a:ext cx="681470" cy="4812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⊕</a:t>
              </a:r>
              <a:r>
                <a:rPr lang="de-DE" sz="2000" b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CD</a:t>
              </a:r>
              <a:endParaRPr lang="de-DE" sz="2800" b="1" baseline="-25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A4764D83-1B33-217C-C6E9-512DA572C364}"/>
                </a:ext>
              </a:extLst>
            </p:cNvPr>
            <p:cNvSpPr/>
            <p:nvPr/>
          </p:nvSpPr>
          <p:spPr>
            <a:xfrm>
              <a:off x="6749220" y="4337876"/>
              <a:ext cx="362999" cy="4812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2800" b="1" dirty="0">
                  <a:latin typeface="+mj-lt"/>
                  <a:ea typeface="Cambria Math"/>
                </a:rPr>
                <a:t>=</a:t>
              </a:r>
              <a:endParaRPr lang="de-DE" sz="2800" b="1" dirty="0">
                <a:latin typeface="+mj-lt"/>
              </a:endParaRPr>
            </a:p>
          </p:txBody>
        </p:sp>
        <p:grpSp>
          <p:nvGrpSpPr>
            <p:cNvPr id="32" name="Group 25">
              <a:extLst>
                <a:ext uri="{FF2B5EF4-FFF2-40B4-BE49-F238E27FC236}">
                  <a16:creationId xmlns:a16="http://schemas.microsoft.com/office/drawing/2014/main" id="{843E8774-F9B0-E96C-FD96-D517D1C54C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1089" y="4262239"/>
              <a:ext cx="595100" cy="554654"/>
              <a:chOff x="707" y="1477"/>
              <a:chExt cx="790" cy="712"/>
            </a:xfrm>
          </p:grpSpPr>
          <p:sp>
            <p:nvSpPr>
              <p:cNvPr id="41" name="Rectangle 26">
                <a:extLst>
                  <a:ext uri="{FF2B5EF4-FFF2-40B4-BE49-F238E27FC236}">
                    <a16:creationId xmlns:a16="http://schemas.microsoft.com/office/drawing/2014/main" id="{B60CCF81-13BC-AE85-455B-6B16057781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04" y="2011"/>
                <a:ext cx="293" cy="178"/>
              </a:xfrm>
              <a:prstGeom prst="rect">
                <a:avLst/>
              </a:prstGeom>
              <a:solidFill>
                <a:srgbClr val="FECABE"/>
              </a:solidFill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  <p:txBody>
              <a:bodyPr wrap="none" anchor="ctr"/>
              <a:lstStyle/>
              <a:p>
                <a:endParaRPr lang="de-DE">
                  <a:latin typeface="+mj-lt"/>
                </a:endParaRPr>
              </a:p>
            </p:txBody>
          </p:sp>
          <p:sp>
            <p:nvSpPr>
              <p:cNvPr id="42" name="Rectangle 27">
                <a:extLst>
                  <a:ext uri="{FF2B5EF4-FFF2-40B4-BE49-F238E27FC236}">
                    <a16:creationId xmlns:a16="http://schemas.microsoft.com/office/drawing/2014/main" id="{D2F4612C-6CF2-7146-1C82-AEB1F37216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07" y="2011"/>
                <a:ext cx="293" cy="178"/>
              </a:xfrm>
              <a:prstGeom prst="rect">
                <a:avLst/>
              </a:prstGeom>
              <a:solidFill>
                <a:srgbClr val="FECABE"/>
              </a:solidFill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  <p:txBody>
              <a:bodyPr wrap="none" anchor="ctr"/>
              <a:lstStyle/>
              <a:p>
                <a:endParaRPr lang="de-DE">
                  <a:latin typeface="+mj-lt"/>
                </a:endParaRPr>
              </a:p>
            </p:txBody>
          </p:sp>
          <p:sp>
            <p:nvSpPr>
              <p:cNvPr id="43" name="Rectangle 28">
                <a:extLst>
                  <a:ext uri="{FF2B5EF4-FFF2-40B4-BE49-F238E27FC236}">
                    <a16:creationId xmlns:a16="http://schemas.microsoft.com/office/drawing/2014/main" id="{5C7E3619-4C6E-A70E-0812-958EE82875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41" y="1477"/>
                <a:ext cx="293" cy="178"/>
              </a:xfrm>
              <a:prstGeom prst="rect">
                <a:avLst/>
              </a:prstGeom>
              <a:solidFill>
                <a:srgbClr val="FECABE"/>
              </a:solidFill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  <p:txBody>
              <a:bodyPr wrap="none" anchor="ctr"/>
              <a:lstStyle/>
              <a:p>
                <a:endParaRPr lang="de-DE">
                  <a:latin typeface="+mj-lt"/>
                </a:endParaRPr>
              </a:p>
            </p:txBody>
          </p:sp>
          <p:cxnSp>
            <p:nvCxnSpPr>
              <p:cNvPr id="44" name="AutoShape 29">
                <a:extLst>
                  <a:ext uri="{FF2B5EF4-FFF2-40B4-BE49-F238E27FC236}">
                    <a16:creationId xmlns:a16="http://schemas.microsoft.com/office/drawing/2014/main" id="{C6F8468B-6B4A-05CB-E227-4ABE5D69F5AA}"/>
                  </a:ext>
                </a:extLst>
              </p:cNvPr>
              <p:cNvCxnSpPr>
                <a:cxnSpLocks noChangeAspect="1" noChangeShapeType="1"/>
                <a:stCxn id="41" idx="0"/>
                <a:endCxn id="46" idx="3"/>
              </p:cNvCxnSpPr>
              <p:nvPr/>
            </p:nvCxnSpPr>
            <p:spPr bwMode="auto">
              <a:xfrm rot="5400000" flipH="1">
                <a:off x="1093" y="1753"/>
                <a:ext cx="267" cy="249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</p:cxnSp>
          <p:cxnSp>
            <p:nvCxnSpPr>
              <p:cNvPr id="45" name="AutoShape 30">
                <a:extLst>
                  <a:ext uri="{FF2B5EF4-FFF2-40B4-BE49-F238E27FC236}">
                    <a16:creationId xmlns:a16="http://schemas.microsoft.com/office/drawing/2014/main" id="{64543928-7D62-8C56-2BCD-48EB86BA156A}"/>
                  </a:ext>
                </a:extLst>
              </p:cNvPr>
              <p:cNvCxnSpPr>
                <a:cxnSpLocks noChangeAspect="1" noChangeShapeType="1"/>
                <a:stCxn id="42" idx="0"/>
                <a:endCxn id="46" idx="3"/>
              </p:cNvCxnSpPr>
              <p:nvPr/>
            </p:nvCxnSpPr>
            <p:spPr bwMode="auto">
              <a:xfrm rot="-5400000">
                <a:off x="844" y="1753"/>
                <a:ext cx="267" cy="249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</p:cxnSp>
          <p:sp>
            <p:nvSpPr>
              <p:cNvPr id="46" name="AutoShape 31">
                <a:extLst>
                  <a:ext uri="{FF2B5EF4-FFF2-40B4-BE49-F238E27FC236}">
                    <a16:creationId xmlns:a16="http://schemas.microsoft.com/office/drawing/2014/main" id="{A7CB4C56-B840-73F2-73AC-C32244ECCA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58" y="1655"/>
                <a:ext cx="88" cy="89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  <p:txBody>
              <a:bodyPr wrap="none" anchor="ctr"/>
              <a:lstStyle/>
              <a:p>
                <a:endParaRPr lang="de-DE">
                  <a:latin typeface="+mj-lt"/>
                </a:endParaRPr>
              </a:p>
            </p:txBody>
          </p:sp>
          <p:cxnSp>
            <p:nvCxnSpPr>
              <p:cNvPr id="47" name="AutoShape 32">
                <a:extLst>
                  <a:ext uri="{FF2B5EF4-FFF2-40B4-BE49-F238E27FC236}">
                    <a16:creationId xmlns:a16="http://schemas.microsoft.com/office/drawing/2014/main" id="{D21C831C-59B8-B73F-2D70-CD533A6DBEE4}"/>
                  </a:ext>
                </a:extLst>
              </p:cNvPr>
              <p:cNvCxnSpPr>
                <a:cxnSpLocks noChangeAspect="1" noChangeShapeType="1"/>
                <a:stCxn id="43" idx="3"/>
                <a:endCxn id="41" idx="3"/>
              </p:cNvCxnSpPr>
              <p:nvPr/>
            </p:nvCxnSpPr>
            <p:spPr bwMode="auto">
              <a:xfrm>
                <a:off x="1234" y="1566"/>
                <a:ext cx="263" cy="534"/>
              </a:xfrm>
              <a:prstGeom prst="bentConnector3">
                <a:avLst>
                  <a:gd name="adj1" fmla="val 133333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:ln>
            </p:spPr>
          </p:cxnSp>
        </p:grpSp>
        <p:sp>
          <p:nvSpPr>
            <p:cNvPr id="65" name="Rectangle 27">
              <a:extLst>
                <a:ext uri="{FF2B5EF4-FFF2-40B4-BE49-F238E27FC236}">
                  <a16:creationId xmlns:a16="http://schemas.microsoft.com/office/drawing/2014/main" id="{418081DA-14B1-BA24-867C-538EFC42DB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95164" y="4678229"/>
              <a:ext cx="220713" cy="138664"/>
            </a:xfrm>
            <a:prstGeom prst="rect">
              <a:avLst/>
            </a:prstGeom>
            <a:solidFill>
              <a:srgbClr val="FECABE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sp>
          <p:nvSpPr>
            <p:cNvPr id="66" name="Rectangle 28">
              <a:extLst>
                <a:ext uri="{FF2B5EF4-FFF2-40B4-BE49-F238E27FC236}">
                  <a16:creationId xmlns:a16="http://schemas.microsoft.com/office/drawing/2014/main" id="{103C41F7-7065-515F-B932-FD0EAE1A7F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51919" y="4262239"/>
              <a:ext cx="220713" cy="138664"/>
            </a:xfrm>
            <a:prstGeom prst="rect">
              <a:avLst/>
            </a:prstGeom>
            <a:solidFill>
              <a:srgbClr val="FECABE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sp>
          <p:nvSpPr>
            <p:cNvPr id="67" name="AutoShape 31">
              <a:extLst>
                <a:ext uri="{FF2B5EF4-FFF2-40B4-BE49-F238E27FC236}">
                  <a16:creationId xmlns:a16="http://schemas.microsoft.com/office/drawing/2014/main" id="{0070A8F0-E500-3C67-04EA-0B15C3C24F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68985" y="4400902"/>
              <a:ext cx="66289" cy="69332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sp>
          <p:nvSpPr>
            <p:cNvPr id="68" name="Rectangle 26">
              <a:extLst>
                <a:ext uri="{FF2B5EF4-FFF2-40B4-BE49-F238E27FC236}">
                  <a16:creationId xmlns:a16="http://schemas.microsoft.com/office/drawing/2014/main" id="{F5B4C18A-C000-87FA-2218-3FE81A8BAA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78690" y="4265206"/>
              <a:ext cx="220714" cy="138664"/>
            </a:xfrm>
            <a:prstGeom prst="rect">
              <a:avLst/>
            </a:prstGeom>
            <a:solidFill>
              <a:srgbClr val="FECABE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B9EDAA5E-6C95-AAC4-617C-44AC2C00E2D2}"/>
                </a:ext>
              </a:extLst>
            </p:cNvPr>
            <p:cNvCxnSpPr>
              <a:cxnSpLocks/>
              <a:stCxn id="65" idx="0"/>
              <a:endCxn id="67" idx="3"/>
            </p:cNvCxnSpPr>
            <p:nvPr/>
          </p:nvCxnSpPr>
          <p:spPr>
            <a:xfrm flipH="1" flipV="1">
              <a:off x="5902131" y="4470234"/>
              <a:ext cx="3389" cy="2079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686B23B9-6B4C-6EC5-249B-6B854702F2AC}"/>
                </a:ext>
              </a:extLst>
            </p:cNvPr>
            <p:cNvCxnSpPr>
              <a:stCxn id="66" idx="3"/>
              <a:endCxn id="68" idx="1"/>
            </p:cNvCxnSpPr>
            <p:nvPr/>
          </p:nvCxnSpPr>
          <p:spPr>
            <a:xfrm>
              <a:off x="5572632" y="4331570"/>
              <a:ext cx="206058" cy="29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28">
              <a:extLst>
                <a:ext uri="{FF2B5EF4-FFF2-40B4-BE49-F238E27FC236}">
                  <a16:creationId xmlns:a16="http://schemas.microsoft.com/office/drawing/2014/main" id="{F777179D-BB48-86DE-94A8-76FA9AC056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500386" y="4262239"/>
              <a:ext cx="220713" cy="138664"/>
            </a:xfrm>
            <a:prstGeom prst="rect">
              <a:avLst/>
            </a:prstGeom>
            <a:solidFill>
              <a:srgbClr val="FECABE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cxnSp>
          <p:nvCxnSpPr>
            <p:cNvPr id="74" name="Gerader Verbinder 73">
              <a:extLst>
                <a:ext uri="{FF2B5EF4-FFF2-40B4-BE49-F238E27FC236}">
                  <a16:creationId xmlns:a16="http://schemas.microsoft.com/office/drawing/2014/main" id="{833FF977-EB0F-0A41-3CD1-6005FB8A772E}"/>
                </a:ext>
              </a:extLst>
            </p:cNvPr>
            <p:cNvCxnSpPr>
              <a:cxnSpLocks/>
              <a:stCxn id="73" idx="3"/>
              <a:endCxn id="43" idx="1"/>
            </p:cNvCxnSpPr>
            <p:nvPr/>
          </p:nvCxnSpPr>
          <p:spPr>
            <a:xfrm>
              <a:off x="7721099" y="4331570"/>
              <a:ext cx="2062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B83935E1-9B11-0E0B-2C57-F88564A00FA0}"/>
                </a:ext>
              </a:extLst>
            </p:cNvPr>
            <p:cNvSpPr txBox="1"/>
            <p:nvPr/>
          </p:nvSpPr>
          <p:spPr>
            <a:xfrm>
              <a:off x="8428671" y="4095865"/>
              <a:ext cx="690316" cy="339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 </a:t>
              </a:r>
              <a:r>
                <a:rPr lang="en-US" dirty="0">
                  <a:solidFill>
                    <a:srgbClr val="080808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Symbol" pitchFamily="18" charset="2"/>
                </a:rPr>
                <a:t></a:t>
              </a:r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B</a:t>
              </a:r>
            </a:p>
          </p:txBody>
        </p:sp>
        <p:sp>
          <p:nvSpPr>
            <p:cNvPr id="14" name="Abgerundetes Rechteck 68">
              <a:extLst>
                <a:ext uri="{FF2B5EF4-FFF2-40B4-BE49-F238E27FC236}">
                  <a16:creationId xmlns:a16="http://schemas.microsoft.com/office/drawing/2014/main" id="{BB656FFA-F809-A559-C255-0BCE0557EEC2}"/>
                </a:ext>
              </a:extLst>
            </p:cNvPr>
            <p:cNvSpPr/>
            <p:nvPr/>
          </p:nvSpPr>
          <p:spPr>
            <a:xfrm>
              <a:off x="2946870" y="3828671"/>
              <a:ext cx="6463018" cy="1257645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3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194F829-0DD0-44F4-66C0-DF6A19EC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Class Diagrams: Example</a:t>
            </a:r>
          </a:p>
        </p:txBody>
      </p:sp>
      <p:sp>
        <p:nvSpPr>
          <p:cNvPr id="2" name="Text Box 1047">
            <a:extLst>
              <a:ext uri="{FF2B5EF4-FFF2-40B4-BE49-F238E27FC236}">
                <a16:creationId xmlns:a16="http://schemas.microsoft.com/office/drawing/2014/main" id="{3C13D4A1-E9E7-D9D5-EB76-040887A24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1648" y="2083930"/>
            <a:ext cx="9428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200" dirty="0"/>
              <a:t>attendance</a:t>
            </a:r>
            <a:endParaRPr lang="en-US" altLang="de-DE" sz="1400" dirty="0"/>
          </a:p>
        </p:txBody>
      </p:sp>
      <p:grpSp>
        <p:nvGrpSpPr>
          <p:cNvPr id="39" name="Group 88">
            <a:extLst>
              <a:ext uri="{FF2B5EF4-FFF2-40B4-BE49-F238E27FC236}">
                <a16:creationId xmlns:a16="http://schemas.microsoft.com/office/drawing/2014/main" id="{503D4596-107A-4951-E9E6-405077A7516B}"/>
              </a:ext>
            </a:extLst>
          </p:cNvPr>
          <p:cNvGrpSpPr>
            <a:grpSpLocks/>
          </p:cNvGrpSpPr>
          <p:nvPr/>
        </p:nvGrpSpPr>
        <p:grpSpPr bwMode="auto">
          <a:xfrm>
            <a:off x="5701164" y="1989026"/>
            <a:ext cx="1290639" cy="889600"/>
            <a:chOff x="2386" y="2654"/>
            <a:chExt cx="813" cy="554"/>
          </a:xfrm>
        </p:grpSpPr>
        <p:sp>
          <p:nvSpPr>
            <p:cNvPr id="40" name="Text Box 89">
              <a:extLst>
                <a:ext uri="{FF2B5EF4-FFF2-40B4-BE49-F238E27FC236}">
                  <a16:creationId xmlns:a16="http://schemas.microsoft.com/office/drawing/2014/main" id="{C7209F21-7AE2-D422-E3CD-92088507E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9" y="2664"/>
              <a:ext cx="6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Professor</a:t>
              </a:r>
            </a:p>
          </p:txBody>
        </p:sp>
        <p:grpSp>
          <p:nvGrpSpPr>
            <p:cNvPr id="41" name="Group 90">
              <a:extLst>
                <a:ext uri="{FF2B5EF4-FFF2-40B4-BE49-F238E27FC236}">
                  <a16:creationId xmlns:a16="http://schemas.microsoft.com/office/drawing/2014/main" id="{BC0F9FBD-39BE-54E5-B8CB-6AD772B28B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654"/>
              <a:ext cx="768" cy="540"/>
              <a:chOff x="2400" y="2654"/>
              <a:chExt cx="1536" cy="540"/>
            </a:xfrm>
          </p:grpSpPr>
          <p:sp>
            <p:nvSpPr>
              <p:cNvPr id="43" name="Rectangle 91">
                <a:extLst>
                  <a:ext uri="{FF2B5EF4-FFF2-40B4-BE49-F238E27FC236}">
                    <a16:creationId xmlns:a16="http://schemas.microsoft.com/office/drawing/2014/main" id="{5F2B8B52-EA98-8A53-67AF-6786B7C9AE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654"/>
                <a:ext cx="1536" cy="5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Rectangle 92">
                <a:extLst>
                  <a:ext uri="{FF2B5EF4-FFF2-40B4-BE49-F238E27FC236}">
                    <a16:creationId xmlns:a16="http://schemas.microsoft.com/office/drawing/2014/main" id="{7F08789F-9438-A07A-1055-584DF5777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860"/>
                <a:ext cx="1536" cy="33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42" name="Text Box 93">
              <a:extLst>
                <a:ext uri="{FF2B5EF4-FFF2-40B4-BE49-F238E27FC236}">
                  <a16:creationId xmlns:a16="http://schemas.microsoft.com/office/drawing/2014/main" id="{D1112273-616A-E33C-024D-470E76F29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6" y="2844"/>
              <a:ext cx="813" cy="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de-DE" sz="1600" dirty="0"/>
                <a:t>String </a:t>
              </a:r>
              <a:r>
                <a:rPr lang="de-DE" sz="1600" dirty="0" err="1"/>
                <a:t>name</a:t>
              </a:r>
              <a:endParaRPr lang="de-DE" sz="1600" dirty="0"/>
            </a:p>
            <a:p>
              <a:r>
                <a:rPr lang="de-DE" sz="1600" dirty="0"/>
                <a:t>String mail</a:t>
              </a:r>
            </a:p>
          </p:txBody>
        </p:sp>
      </p:grpSp>
      <p:grpSp>
        <p:nvGrpSpPr>
          <p:cNvPr id="45" name="Group 88">
            <a:extLst>
              <a:ext uri="{FF2B5EF4-FFF2-40B4-BE49-F238E27FC236}">
                <a16:creationId xmlns:a16="http://schemas.microsoft.com/office/drawing/2014/main" id="{1C316979-9C8C-0B0C-DD9D-13AD849087B6}"/>
              </a:ext>
            </a:extLst>
          </p:cNvPr>
          <p:cNvGrpSpPr>
            <a:grpSpLocks/>
          </p:cNvGrpSpPr>
          <p:nvPr/>
        </p:nvGrpSpPr>
        <p:grpSpPr bwMode="auto">
          <a:xfrm>
            <a:off x="8161856" y="1988791"/>
            <a:ext cx="1219200" cy="680857"/>
            <a:chOff x="2400" y="2655"/>
            <a:chExt cx="768" cy="430"/>
          </a:xfrm>
        </p:grpSpPr>
        <p:sp>
          <p:nvSpPr>
            <p:cNvPr id="46" name="Text Box 89">
              <a:extLst>
                <a:ext uri="{FF2B5EF4-FFF2-40B4-BE49-F238E27FC236}">
                  <a16:creationId xmlns:a16="http://schemas.microsoft.com/office/drawing/2014/main" id="{9E20448C-3E00-4100-31C7-0FD1E93A1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0" y="2658"/>
              <a:ext cx="54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Lecture</a:t>
              </a:r>
            </a:p>
          </p:txBody>
        </p:sp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6C706C09-4A8A-5455-7467-849BE6AF61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655"/>
              <a:ext cx="768" cy="430"/>
              <a:chOff x="2400" y="2655"/>
              <a:chExt cx="1536" cy="430"/>
            </a:xfrm>
          </p:grpSpPr>
          <p:sp>
            <p:nvSpPr>
              <p:cNvPr id="49" name="Rectangle 91">
                <a:extLst>
                  <a:ext uri="{FF2B5EF4-FFF2-40B4-BE49-F238E27FC236}">
                    <a16:creationId xmlns:a16="http://schemas.microsoft.com/office/drawing/2014/main" id="{A1A67227-32EF-9FE0-A244-755BB2E15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655"/>
                <a:ext cx="1536" cy="4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Rectangle 92">
                <a:extLst>
                  <a:ext uri="{FF2B5EF4-FFF2-40B4-BE49-F238E27FC236}">
                    <a16:creationId xmlns:a16="http://schemas.microsoft.com/office/drawing/2014/main" id="{E6F9DFDA-BF63-2B09-00E8-4CFB0EAA2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860"/>
                <a:ext cx="1536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48" name="Text Box 93">
              <a:extLst>
                <a:ext uri="{FF2B5EF4-FFF2-40B4-BE49-F238E27FC236}">
                  <a16:creationId xmlns:a16="http://schemas.microsoft.com/office/drawing/2014/main" id="{68376827-C2B9-6299-9066-4998398757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860"/>
              <a:ext cx="6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e-DE" sz="1600" dirty="0" err="1"/>
                <a:t>int</a:t>
              </a:r>
              <a:r>
                <a:rPr lang="de-DE" sz="1600" dirty="0"/>
                <a:t> </a:t>
              </a:r>
              <a:r>
                <a:rPr lang="de-DE" sz="1600" dirty="0" err="1"/>
                <a:t>credits</a:t>
              </a:r>
              <a:endParaRPr lang="de-DE" sz="1600" dirty="0"/>
            </a:p>
          </p:txBody>
        </p:sp>
      </p:grpSp>
      <p:sp>
        <p:nvSpPr>
          <p:cNvPr id="51" name="Text Box 1086">
            <a:extLst>
              <a:ext uri="{FF2B5EF4-FFF2-40B4-BE49-F238E27FC236}">
                <a16:creationId xmlns:a16="http://schemas.microsoft.com/office/drawing/2014/main" id="{5003A922-A3AA-5225-DB51-55942311F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957" y="1798631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de-DE" sz="1400" dirty="0"/>
              <a:t>1</a:t>
            </a:r>
          </a:p>
        </p:txBody>
      </p:sp>
      <p:grpSp>
        <p:nvGrpSpPr>
          <p:cNvPr id="53" name="Group 88">
            <a:extLst>
              <a:ext uri="{FF2B5EF4-FFF2-40B4-BE49-F238E27FC236}">
                <a16:creationId xmlns:a16="http://schemas.microsoft.com/office/drawing/2014/main" id="{D2819F3A-D23D-8ECC-00EF-B38CBE092CD2}"/>
              </a:ext>
            </a:extLst>
          </p:cNvPr>
          <p:cNvGrpSpPr>
            <a:grpSpLocks/>
          </p:cNvGrpSpPr>
          <p:nvPr/>
        </p:nvGrpSpPr>
        <p:grpSpPr bwMode="auto">
          <a:xfrm>
            <a:off x="10312867" y="1988054"/>
            <a:ext cx="1303340" cy="681038"/>
            <a:chOff x="2400" y="2662"/>
            <a:chExt cx="821" cy="429"/>
          </a:xfrm>
        </p:grpSpPr>
        <p:sp>
          <p:nvSpPr>
            <p:cNvPr id="54" name="Text Box 89">
              <a:extLst>
                <a:ext uri="{FF2B5EF4-FFF2-40B4-BE49-F238E27FC236}">
                  <a16:creationId xmlns:a16="http://schemas.microsoft.com/office/drawing/2014/main" id="{102F6CDC-9702-2C36-1CC3-B2B338387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3" y="2664"/>
              <a:ext cx="5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Student</a:t>
              </a:r>
            </a:p>
          </p:txBody>
        </p:sp>
        <p:grpSp>
          <p:nvGrpSpPr>
            <p:cNvPr id="55" name="Group 90">
              <a:extLst>
                <a:ext uri="{FF2B5EF4-FFF2-40B4-BE49-F238E27FC236}">
                  <a16:creationId xmlns:a16="http://schemas.microsoft.com/office/drawing/2014/main" id="{10668E6B-EB49-9389-3974-91863B2C4E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662"/>
              <a:ext cx="768" cy="429"/>
              <a:chOff x="2400" y="2662"/>
              <a:chExt cx="1536" cy="429"/>
            </a:xfrm>
          </p:grpSpPr>
          <p:sp>
            <p:nvSpPr>
              <p:cNvPr id="57" name="Rectangle 91">
                <a:extLst>
                  <a:ext uri="{FF2B5EF4-FFF2-40B4-BE49-F238E27FC236}">
                    <a16:creationId xmlns:a16="http://schemas.microsoft.com/office/drawing/2014/main" id="{A5CE7138-019C-3413-BAC9-EB20BFB94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662"/>
                <a:ext cx="1536" cy="42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Rectangle 92">
                <a:extLst>
                  <a:ext uri="{FF2B5EF4-FFF2-40B4-BE49-F238E27FC236}">
                    <a16:creationId xmlns:a16="http://schemas.microsoft.com/office/drawing/2014/main" id="{7643C5EA-4251-32AC-3A8C-E55315F92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860"/>
                <a:ext cx="1536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56" name="Text Box 93">
              <a:extLst>
                <a:ext uri="{FF2B5EF4-FFF2-40B4-BE49-F238E27FC236}">
                  <a16:creationId xmlns:a16="http://schemas.microsoft.com/office/drawing/2014/main" id="{147B4463-D4EB-19FB-106E-30544A7291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866"/>
              <a:ext cx="82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e-DE" sz="1600" dirty="0" err="1"/>
                <a:t>long</a:t>
              </a:r>
              <a:r>
                <a:rPr lang="de-DE" sz="1600" dirty="0"/>
                <a:t> </a:t>
              </a:r>
              <a:r>
                <a:rPr lang="de-DE" sz="1600" dirty="0" err="1"/>
                <a:t>matrNr</a:t>
              </a:r>
              <a:endParaRPr lang="de-DE" sz="1600" dirty="0"/>
            </a:p>
          </p:txBody>
        </p:sp>
      </p:grpSp>
      <p:sp>
        <p:nvSpPr>
          <p:cNvPr id="59" name="Line 1087">
            <a:extLst>
              <a:ext uri="{FF2B5EF4-FFF2-40B4-BE49-F238E27FC236}">
                <a16:creationId xmlns:a16="http://schemas.microsoft.com/office/drawing/2014/main" id="{397E4E75-CFA7-4B7B-8583-FF4096F92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5764" y="2136844"/>
            <a:ext cx="121236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anchor="ctr"/>
          <a:lstStyle/>
          <a:p>
            <a:endParaRPr lang="de-DE"/>
          </a:p>
        </p:txBody>
      </p:sp>
      <p:sp>
        <p:nvSpPr>
          <p:cNvPr id="60" name="Text Box 1047">
            <a:extLst>
              <a:ext uri="{FF2B5EF4-FFF2-40B4-BE49-F238E27FC236}">
                <a16:creationId xmlns:a16="http://schemas.microsoft.com/office/drawing/2014/main" id="{35226764-C769-8B24-9EC1-39C22CD62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579" y="2136844"/>
            <a:ext cx="69602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200" dirty="0"/>
              <a:t>lecturer</a:t>
            </a:r>
            <a:endParaRPr lang="en-US" altLang="de-DE" sz="1400" dirty="0"/>
          </a:p>
        </p:txBody>
      </p:sp>
      <p:sp>
        <p:nvSpPr>
          <p:cNvPr id="61" name="Text Box 1047">
            <a:extLst>
              <a:ext uri="{FF2B5EF4-FFF2-40B4-BE49-F238E27FC236}">
                <a16:creationId xmlns:a16="http://schemas.microsoft.com/office/drawing/2014/main" id="{75E7938F-0A1C-A6A2-62BB-2DFE8656B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8373" y="2136843"/>
            <a:ext cx="550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200" dirty="0"/>
              <a:t>holds</a:t>
            </a:r>
            <a:endParaRPr lang="en-US" altLang="de-DE" sz="1400" dirty="0"/>
          </a:p>
        </p:txBody>
      </p:sp>
      <p:sp>
        <p:nvSpPr>
          <p:cNvPr id="62" name="Line 1068">
            <a:extLst>
              <a:ext uri="{FF2B5EF4-FFF2-40B4-BE49-F238E27FC236}">
                <a16:creationId xmlns:a16="http://schemas.microsoft.com/office/drawing/2014/main" id="{F0113E5B-8E3E-0D0B-B5C4-DF08B7B156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379468" y="2136843"/>
            <a:ext cx="93043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endParaRPr lang="de-DE" dirty="0"/>
          </a:p>
        </p:txBody>
      </p:sp>
      <p:sp>
        <p:nvSpPr>
          <p:cNvPr id="63" name="Text Box 1086">
            <a:extLst>
              <a:ext uri="{FF2B5EF4-FFF2-40B4-BE49-F238E27FC236}">
                <a16:creationId xmlns:a16="http://schemas.microsoft.com/office/drawing/2014/main" id="{4B8A9735-B18C-AAE7-86C4-A343BFC20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1498" y="1881085"/>
            <a:ext cx="2551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de-DE" sz="1400" dirty="0"/>
              <a:t>*</a:t>
            </a:r>
          </a:p>
        </p:txBody>
      </p:sp>
      <p:sp>
        <p:nvSpPr>
          <p:cNvPr id="64" name="Text Box 1038">
            <a:extLst>
              <a:ext uri="{FF2B5EF4-FFF2-40B4-BE49-F238E27FC236}">
                <a16:creationId xmlns:a16="http://schemas.microsoft.com/office/drawing/2014/main" id="{C2FFA748-531E-BBAD-B197-5294F37F2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9585" y="1283332"/>
            <a:ext cx="127951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de-DE" sz="1600" i="1" dirty="0">
                <a:solidFill>
                  <a:schemeClr val="tx2"/>
                </a:solidFill>
                <a:latin typeface="Comic Sans MS" pitchFamily="66" charset="0"/>
              </a:rPr>
              <a:t>Association</a:t>
            </a:r>
          </a:p>
          <a:p>
            <a:pPr algn="ctr" eaLnBrk="0" hangingPunct="0"/>
            <a:r>
              <a:rPr lang="en-US" altLang="de-DE" sz="1600" i="1" dirty="0">
                <a:solidFill>
                  <a:schemeClr val="tx2"/>
                </a:solidFill>
                <a:latin typeface="Comic Sans MS" pitchFamily="66" charset="0"/>
              </a:rPr>
              <a:t>Name</a:t>
            </a:r>
          </a:p>
        </p:txBody>
      </p:sp>
      <p:sp>
        <p:nvSpPr>
          <p:cNvPr id="65" name="Text Box 1038">
            <a:extLst>
              <a:ext uri="{FF2B5EF4-FFF2-40B4-BE49-F238E27FC236}">
                <a16:creationId xmlns:a16="http://schemas.microsoft.com/office/drawing/2014/main" id="{33A43544-8B67-5A8F-4C4B-0525F4453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7932" y="2782288"/>
            <a:ext cx="68800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600" i="1" dirty="0">
                <a:solidFill>
                  <a:schemeClr val="tx2"/>
                </a:solidFill>
                <a:latin typeface="Comic Sans MS" pitchFamily="66" charset="0"/>
              </a:rPr>
              <a:t>Roles</a:t>
            </a:r>
          </a:p>
        </p:txBody>
      </p:sp>
      <p:cxnSp>
        <p:nvCxnSpPr>
          <p:cNvPr id="66" name="Verbinder: gekrümmt 65">
            <a:extLst>
              <a:ext uri="{FF2B5EF4-FFF2-40B4-BE49-F238E27FC236}">
                <a16:creationId xmlns:a16="http://schemas.microsoft.com/office/drawing/2014/main" id="{582A21CE-A4AE-81DC-AA0E-369E50F09606}"/>
              </a:ext>
            </a:extLst>
          </p:cNvPr>
          <p:cNvCxnSpPr>
            <a:cxnSpLocks/>
            <a:endCxn id="61" idx="2"/>
          </p:cNvCxnSpPr>
          <p:nvPr/>
        </p:nvCxnSpPr>
        <p:spPr>
          <a:xfrm rot="5400000" flipH="1" flipV="1">
            <a:off x="7633865" y="2522704"/>
            <a:ext cx="368446" cy="150722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Verbinder: gekrümmt 66">
            <a:extLst>
              <a:ext uri="{FF2B5EF4-FFF2-40B4-BE49-F238E27FC236}">
                <a16:creationId xmlns:a16="http://schemas.microsoft.com/office/drawing/2014/main" id="{F51D2B9F-713B-CACF-A1EC-279EEE0D3AF1}"/>
              </a:ext>
            </a:extLst>
          </p:cNvPr>
          <p:cNvCxnSpPr>
            <a:cxnSpLocks/>
            <a:endCxn id="60" idx="2"/>
          </p:cNvCxnSpPr>
          <p:nvPr/>
        </p:nvCxnSpPr>
        <p:spPr>
          <a:xfrm rot="10800000">
            <a:off x="7224592" y="2413843"/>
            <a:ext cx="174131" cy="537722"/>
          </a:xfrm>
          <a:prstGeom prst="curved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Verbinder: gekrümmt 67">
            <a:extLst>
              <a:ext uri="{FF2B5EF4-FFF2-40B4-BE49-F238E27FC236}">
                <a16:creationId xmlns:a16="http://schemas.microsoft.com/office/drawing/2014/main" id="{B5221E1B-3902-2155-893E-A818DA6D7B46}"/>
              </a:ext>
            </a:extLst>
          </p:cNvPr>
          <p:cNvCxnSpPr>
            <a:cxnSpLocks/>
            <a:stCxn id="64" idx="2"/>
          </p:cNvCxnSpPr>
          <p:nvPr/>
        </p:nvCxnSpPr>
        <p:spPr>
          <a:xfrm rot="16200000" flipH="1">
            <a:off x="9749922" y="1987529"/>
            <a:ext cx="245950" cy="7106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 Box 1047">
            <a:extLst>
              <a:ext uri="{FF2B5EF4-FFF2-40B4-BE49-F238E27FC236}">
                <a16:creationId xmlns:a16="http://schemas.microsoft.com/office/drawing/2014/main" id="{344661E3-E512-9F31-FB7C-05DCB5F8E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469" y="2553961"/>
            <a:ext cx="69602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200" dirty="0"/>
              <a:t>lecturer</a:t>
            </a:r>
            <a:endParaRPr lang="en-US" altLang="de-DE" sz="1400" dirty="0"/>
          </a:p>
        </p:txBody>
      </p:sp>
      <p:grpSp>
        <p:nvGrpSpPr>
          <p:cNvPr id="70" name="Group 88">
            <a:extLst>
              <a:ext uri="{FF2B5EF4-FFF2-40B4-BE49-F238E27FC236}">
                <a16:creationId xmlns:a16="http://schemas.microsoft.com/office/drawing/2014/main" id="{7C0408C6-5545-D710-38FC-05E6C6566D70}"/>
              </a:ext>
            </a:extLst>
          </p:cNvPr>
          <p:cNvGrpSpPr>
            <a:grpSpLocks/>
          </p:cNvGrpSpPr>
          <p:nvPr/>
        </p:nvGrpSpPr>
        <p:grpSpPr bwMode="auto">
          <a:xfrm>
            <a:off x="622817" y="1166602"/>
            <a:ext cx="1252540" cy="684213"/>
            <a:chOff x="2379" y="2754"/>
            <a:chExt cx="789" cy="431"/>
          </a:xfrm>
        </p:grpSpPr>
        <p:sp>
          <p:nvSpPr>
            <p:cNvPr id="71" name="Text Box 89">
              <a:extLst>
                <a:ext uri="{FF2B5EF4-FFF2-40B4-BE49-F238E27FC236}">
                  <a16:creationId xmlns:a16="http://schemas.microsoft.com/office/drawing/2014/main" id="{EE67D4F7-F6FB-86EB-53BA-F56A27FF3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9" y="2754"/>
              <a:ext cx="7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de-DE" sz="1600" dirty="0"/>
                <a:t>Employee</a:t>
              </a:r>
            </a:p>
          </p:txBody>
        </p:sp>
        <p:grpSp>
          <p:nvGrpSpPr>
            <p:cNvPr id="72" name="Group 90">
              <a:extLst>
                <a:ext uri="{FF2B5EF4-FFF2-40B4-BE49-F238E27FC236}">
                  <a16:creationId xmlns:a16="http://schemas.microsoft.com/office/drawing/2014/main" id="{8F90E719-23D9-0876-A63F-0E889ABAD6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755"/>
              <a:ext cx="768" cy="430"/>
              <a:chOff x="2400" y="2755"/>
              <a:chExt cx="1536" cy="430"/>
            </a:xfrm>
          </p:grpSpPr>
          <p:sp>
            <p:nvSpPr>
              <p:cNvPr id="74" name="Rectangle 91">
                <a:extLst>
                  <a:ext uri="{FF2B5EF4-FFF2-40B4-BE49-F238E27FC236}">
                    <a16:creationId xmlns:a16="http://schemas.microsoft.com/office/drawing/2014/main" id="{768A8487-BFEB-6B99-361D-881813B77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755"/>
                <a:ext cx="1536" cy="4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" name="Rectangle 92">
                <a:extLst>
                  <a:ext uri="{FF2B5EF4-FFF2-40B4-BE49-F238E27FC236}">
                    <a16:creationId xmlns:a16="http://schemas.microsoft.com/office/drawing/2014/main" id="{DEDCA08D-4FE5-453C-E0B5-3DEE3963C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967"/>
                <a:ext cx="1536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" name="Text Box 93">
              <a:extLst>
                <a:ext uri="{FF2B5EF4-FFF2-40B4-BE49-F238E27FC236}">
                  <a16:creationId xmlns:a16="http://schemas.microsoft.com/office/drawing/2014/main" id="{7565900C-7657-C133-F69A-5A5B0B5FE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962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e-DE" sz="1600" dirty="0" err="1"/>
                <a:t>int</a:t>
              </a:r>
              <a:r>
                <a:rPr lang="de-DE" sz="1600" dirty="0"/>
                <a:t> </a:t>
              </a:r>
              <a:r>
                <a:rPr lang="de-DE" sz="1600" dirty="0" err="1"/>
                <a:t>salary</a:t>
              </a:r>
              <a:endParaRPr lang="de-DE" sz="1600" dirty="0"/>
            </a:p>
          </p:txBody>
        </p:sp>
      </p:grpSp>
      <p:grpSp>
        <p:nvGrpSpPr>
          <p:cNvPr id="76" name="Group 88">
            <a:extLst>
              <a:ext uri="{FF2B5EF4-FFF2-40B4-BE49-F238E27FC236}">
                <a16:creationId xmlns:a16="http://schemas.microsoft.com/office/drawing/2014/main" id="{BA90AA22-7D33-8EC2-F496-01D266A7F833}"/>
              </a:ext>
            </a:extLst>
          </p:cNvPr>
          <p:cNvGrpSpPr>
            <a:grpSpLocks/>
          </p:cNvGrpSpPr>
          <p:nvPr/>
        </p:nvGrpSpPr>
        <p:grpSpPr bwMode="auto">
          <a:xfrm>
            <a:off x="637282" y="2377237"/>
            <a:ext cx="1219202" cy="692580"/>
            <a:chOff x="2400" y="2636"/>
            <a:chExt cx="768" cy="437"/>
          </a:xfrm>
        </p:grpSpPr>
        <p:sp>
          <p:nvSpPr>
            <p:cNvPr id="77" name="Text Box 89">
              <a:extLst>
                <a:ext uri="{FF2B5EF4-FFF2-40B4-BE49-F238E27FC236}">
                  <a16:creationId xmlns:a16="http://schemas.microsoft.com/office/drawing/2014/main" id="{9DF288E1-EBAD-3ECD-CC5C-4CCC24A7C6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9" y="2646"/>
              <a:ext cx="6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Professor</a:t>
              </a:r>
            </a:p>
          </p:txBody>
        </p:sp>
        <p:grpSp>
          <p:nvGrpSpPr>
            <p:cNvPr id="78" name="Group 90">
              <a:extLst>
                <a:ext uri="{FF2B5EF4-FFF2-40B4-BE49-F238E27FC236}">
                  <a16:creationId xmlns:a16="http://schemas.microsoft.com/office/drawing/2014/main" id="{7A9D7995-9D7C-9DEE-8977-31023015E8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636"/>
              <a:ext cx="768" cy="437"/>
              <a:chOff x="2400" y="2636"/>
              <a:chExt cx="1536" cy="437"/>
            </a:xfrm>
          </p:grpSpPr>
          <p:sp>
            <p:nvSpPr>
              <p:cNvPr id="80" name="Rectangle 91">
                <a:extLst>
                  <a:ext uri="{FF2B5EF4-FFF2-40B4-BE49-F238E27FC236}">
                    <a16:creationId xmlns:a16="http://schemas.microsoft.com/office/drawing/2014/main" id="{21ADA313-2AF0-2CEC-38D0-E6FFE8B9E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636"/>
                <a:ext cx="1536" cy="43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81" name="Rectangle 92">
                <a:extLst>
                  <a:ext uri="{FF2B5EF4-FFF2-40B4-BE49-F238E27FC236}">
                    <a16:creationId xmlns:a16="http://schemas.microsoft.com/office/drawing/2014/main" id="{479DAABE-F96E-4541-9CC4-97B7E75A3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860"/>
                <a:ext cx="1536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9" name="Text Box 93">
              <a:extLst>
                <a:ext uri="{FF2B5EF4-FFF2-40B4-BE49-F238E27FC236}">
                  <a16:creationId xmlns:a16="http://schemas.microsoft.com/office/drawing/2014/main" id="{7FF6451A-3372-BCDA-2A23-779820C4E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860"/>
              <a:ext cx="726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e-DE" sz="1600" dirty="0"/>
                <a:t>String mail</a:t>
              </a:r>
            </a:p>
          </p:txBody>
        </p:sp>
      </p:grpSp>
      <p:grpSp>
        <p:nvGrpSpPr>
          <p:cNvPr id="82" name="Group 88">
            <a:extLst>
              <a:ext uri="{FF2B5EF4-FFF2-40B4-BE49-F238E27FC236}">
                <a16:creationId xmlns:a16="http://schemas.microsoft.com/office/drawing/2014/main" id="{FEA5BE3D-B592-1B9E-4B9A-E48BA730B25E}"/>
              </a:ext>
            </a:extLst>
          </p:cNvPr>
          <p:cNvGrpSpPr>
            <a:grpSpLocks/>
          </p:cNvGrpSpPr>
          <p:nvPr/>
        </p:nvGrpSpPr>
        <p:grpSpPr bwMode="auto">
          <a:xfrm>
            <a:off x="3075754" y="2347504"/>
            <a:ext cx="1395415" cy="722313"/>
            <a:chOff x="2400" y="2618"/>
            <a:chExt cx="879" cy="455"/>
          </a:xfrm>
        </p:grpSpPr>
        <p:sp>
          <p:nvSpPr>
            <p:cNvPr id="83" name="Text Box 89">
              <a:extLst>
                <a:ext uri="{FF2B5EF4-FFF2-40B4-BE49-F238E27FC236}">
                  <a16:creationId xmlns:a16="http://schemas.microsoft.com/office/drawing/2014/main" id="{D0663185-7863-67ED-2AC6-6C1898FC6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0" y="2628"/>
              <a:ext cx="54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Lecture</a:t>
              </a:r>
            </a:p>
          </p:txBody>
        </p:sp>
        <p:grpSp>
          <p:nvGrpSpPr>
            <p:cNvPr id="84" name="Group 90">
              <a:extLst>
                <a:ext uri="{FF2B5EF4-FFF2-40B4-BE49-F238E27FC236}">
                  <a16:creationId xmlns:a16="http://schemas.microsoft.com/office/drawing/2014/main" id="{585920C8-58BD-29BF-974B-078EE013DA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618"/>
              <a:ext cx="768" cy="455"/>
              <a:chOff x="2400" y="2618"/>
              <a:chExt cx="1536" cy="455"/>
            </a:xfrm>
          </p:grpSpPr>
          <p:sp>
            <p:nvSpPr>
              <p:cNvPr id="86" name="Rectangle 91">
                <a:extLst>
                  <a:ext uri="{FF2B5EF4-FFF2-40B4-BE49-F238E27FC236}">
                    <a16:creationId xmlns:a16="http://schemas.microsoft.com/office/drawing/2014/main" id="{5015294D-64C2-8C04-9D32-51FB045A4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618"/>
                <a:ext cx="1536" cy="4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Rectangle 92">
                <a:extLst>
                  <a:ext uri="{FF2B5EF4-FFF2-40B4-BE49-F238E27FC236}">
                    <a16:creationId xmlns:a16="http://schemas.microsoft.com/office/drawing/2014/main" id="{594F64F9-6098-9AF0-8274-42B6E26C6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860"/>
                <a:ext cx="1536" cy="2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85" name="Text Box 93">
              <a:extLst>
                <a:ext uri="{FF2B5EF4-FFF2-40B4-BE49-F238E27FC236}">
                  <a16:creationId xmlns:a16="http://schemas.microsoft.com/office/drawing/2014/main" id="{A02C9F32-089B-BB54-3345-F46B494DD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860"/>
              <a:ext cx="87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e-DE" sz="1600" dirty="0" err="1"/>
                <a:t>int</a:t>
              </a:r>
              <a:r>
                <a:rPr lang="de-DE" sz="1600" dirty="0"/>
                <a:t> </a:t>
              </a:r>
              <a:r>
                <a:rPr lang="de-DE" sz="1600" dirty="0" err="1"/>
                <a:t>courseID</a:t>
              </a:r>
              <a:r>
                <a:rPr lang="de-DE" sz="1600" dirty="0"/>
                <a:t>  </a:t>
              </a:r>
            </a:p>
          </p:txBody>
        </p:sp>
      </p:grpSp>
      <p:sp>
        <p:nvSpPr>
          <p:cNvPr id="89" name="Line 1087">
            <a:extLst>
              <a:ext uri="{FF2B5EF4-FFF2-40B4-BE49-F238E27FC236}">
                <a16:creationId xmlns:a16="http://schemas.microsoft.com/office/drawing/2014/main" id="{490FCE29-729B-BA51-5745-C8E8728E4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9654" y="2553961"/>
            <a:ext cx="121236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 anchor="ctr"/>
          <a:lstStyle/>
          <a:p>
            <a:endParaRPr lang="de-DE"/>
          </a:p>
        </p:txBody>
      </p:sp>
      <p:sp>
        <p:nvSpPr>
          <p:cNvPr id="90" name="Text Box 1047">
            <a:extLst>
              <a:ext uri="{FF2B5EF4-FFF2-40B4-BE49-F238E27FC236}">
                <a16:creationId xmlns:a16="http://schemas.microsoft.com/office/drawing/2014/main" id="{85AF4841-7003-66F6-D566-751ECB090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263" y="2553960"/>
            <a:ext cx="550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200" dirty="0"/>
              <a:t>holds</a:t>
            </a:r>
            <a:endParaRPr lang="en-US" altLang="de-DE" sz="1400" dirty="0"/>
          </a:p>
        </p:txBody>
      </p:sp>
      <p:sp>
        <p:nvSpPr>
          <p:cNvPr id="91" name="Text Box 1086">
            <a:extLst>
              <a:ext uri="{FF2B5EF4-FFF2-40B4-BE49-F238E27FC236}">
                <a16:creationId xmlns:a16="http://schemas.microsoft.com/office/drawing/2014/main" id="{17DEF315-3D37-E950-6D84-2D57B370C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631" y="2257363"/>
            <a:ext cx="45397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de-DE" sz="1400" dirty="0"/>
              <a:t>1..*</a:t>
            </a:r>
          </a:p>
        </p:txBody>
      </p:sp>
      <p:sp>
        <p:nvSpPr>
          <p:cNvPr id="92" name="Line 36">
            <a:extLst>
              <a:ext uri="{FF2B5EF4-FFF2-40B4-BE49-F238E27FC236}">
                <a16:creationId xmlns:a16="http://schemas.microsoft.com/office/drawing/2014/main" id="{357B28B4-4A84-3385-75FE-0A93DA3E5E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45439" y="1920407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square">
            <a:spAutoFit/>
          </a:bodyPr>
          <a:lstStyle/>
          <a:p>
            <a:endParaRPr lang="de-DE"/>
          </a:p>
        </p:txBody>
      </p:sp>
      <p:sp>
        <p:nvSpPr>
          <p:cNvPr id="93" name="AutoShape 37">
            <a:extLst>
              <a:ext uri="{FF2B5EF4-FFF2-40B4-BE49-F238E27FC236}">
                <a16:creationId xmlns:a16="http://schemas.microsoft.com/office/drawing/2014/main" id="{4760B5B6-C9F9-1AAB-9E1B-8F59F487E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039" y="1872782"/>
            <a:ext cx="304800" cy="29051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" name="Text Box 1038">
            <a:extLst>
              <a:ext uri="{FF2B5EF4-FFF2-40B4-BE49-F238E27FC236}">
                <a16:creationId xmlns:a16="http://schemas.microsoft.com/office/drawing/2014/main" id="{CD64070C-FB09-2893-EF88-1B2D0E67A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996" y="1495222"/>
            <a:ext cx="14350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600" i="1" dirty="0">
                <a:solidFill>
                  <a:schemeClr val="tx2"/>
                </a:solidFill>
                <a:latin typeface="Comic Sans MS" pitchFamily="66" charset="0"/>
              </a:rPr>
              <a:t>Cardinality </a:t>
            </a:r>
          </a:p>
          <a:p>
            <a:pPr eaLnBrk="0" hangingPunct="0"/>
            <a:r>
              <a:rPr lang="en-US" altLang="de-DE" sz="1600" i="1" dirty="0">
                <a:solidFill>
                  <a:schemeClr val="tx2"/>
                </a:solidFill>
                <a:latin typeface="Comic Sans MS" pitchFamily="66" charset="0"/>
              </a:rPr>
              <a:t>not specified</a:t>
            </a:r>
          </a:p>
        </p:txBody>
      </p:sp>
      <p:sp>
        <p:nvSpPr>
          <p:cNvPr id="95" name="Freeform 1040">
            <a:extLst>
              <a:ext uri="{FF2B5EF4-FFF2-40B4-BE49-F238E27FC236}">
                <a16:creationId xmlns:a16="http://schemas.microsoft.com/office/drawing/2014/main" id="{1049CE3B-8CF0-9C2C-9528-0384A08CA078}"/>
              </a:ext>
            </a:extLst>
          </p:cNvPr>
          <p:cNvSpPr>
            <a:spLocks/>
          </p:cNvSpPr>
          <p:nvPr/>
        </p:nvSpPr>
        <p:spPr bwMode="auto">
          <a:xfrm rot="12820027" flipH="1">
            <a:off x="2120568" y="1960609"/>
            <a:ext cx="45719" cy="588259"/>
          </a:xfrm>
          <a:custGeom>
            <a:avLst/>
            <a:gdLst>
              <a:gd name="T0" fmla="*/ 0 w 240"/>
              <a:gd name="T1" fmla="*/ 480 h 480"/>
              <a:gd name="T2" fmla="*/ 240 w 240"/>
              <a:gd name="T3" fmla="*/ 240 h 480"/>
              <a:gd name="T4" fmla="*/ 0 w 240"/>
              <a:gd name="T5" fmla="*/ 0 h 480"/>
              <a:gd name="T6" fmla="*/ 0 60000 65536"/>
              <a:gd name="T7" fmla="*/ 0 60000 65536"/>
              <a:gd name="T8" fmla="*/ 0 60000 65536"/>
              <a:gd name="T9" fmla="*/ 0 w 240"/>
              <a:gd name="T10" fmla="*/ 0 h 480"/>
              <a:gd name="T11" fmla="*/ 240 w 24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480">
                <a:moveTo>
                  <a:pt x="0" y="480"/>
                </a:moveTo>
                <a:cubicBezTo>
                  <a:pt x="120" y="400"/>
                  <a:pt x="240" y="320"/>
                  <a:pt x="240" y="240"/>
                </a:cubicBezTo>
                <a:cubicBezTo>
                  <a:pt x="240" y="160"/>
                  <a:pt x="56" y="56"/>
                  <a:pt x="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arrow" w="med" len="me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A9B5BB48-9CBF-C5F8-977E-6E5A854BF597}"/>
              </a:ext>
            </a:extLst>
          </p:cNvPr>
          <p:cNvSpPr txBox="1"/>
          <p:nvPr/>
        </p:nvSpPr>
        <p:spPr>
          <a:xfrm>
            <a:off x="4766178" y="2013732"/>
            <a:ext cx="740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r>
              <a:rPr lang="de-DE" sz="2000" b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CD</a:t>
            </a:r>
            <a:endParaRPr lang="de-DE" sz="2800" b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98" name="Group 88">
            <a:extLst>
              <a:ext uri="{FF2B5EF4-FFF2-40B4-BE49-F238E27FC236}">
                <a16:creationId xmlns:a16="http://schemas.microsoft.com/office/drawing/2014/main" id="{A8AE6915-5B5D-2116-0B8F-D407180B1984}"/>
              </a:ext>
            </a:extLst>
          </p:cNvPr>
          <p:cNvGrpSpPr>
            <a:grpSpLocks/>
          </p:cNvGrpSpPr>
          <p:nvPr/>
        </p:nvGrpSpPr>
        <p:grpSpPr bwMode="auto">
          <a:xfrm>
            <a:off x="3423006" y="3685031"/>
            <a:ext cx="1252540" cy="684213"/>
            <a:chOff x="2379" y="2754"/>
            <a:chExt cx="789" cy="431"/>
          </a:xfrm>
        </p:grpSpPr>
        <p:sp>
          <p:nvSpPr>
            <p:cNvPr id="99" name="Text Box 89">
              <a:extLst>
                <a:ext uri="{FF2B5EF4-FFF2-40B4-BE49-F238E27FC236}">
                  <a16:creationId xmlns:a16="http://schemas.microsoft.com/office/drawing/2014/main" id="{D3C3CC51-AC69-301B-61D8-FDD17ABBF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9" y="2754"/>
              <a:ext cx="7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de-DE" sz="1600" dirty="0"/>
                <a:t>Employee</a:t>
              </a:r>
            </a:p>
          </p:txBody>
        </p:sp>
        <p:grpSp>
          <p:nvGrpSpPr>
            <p:cNvPr id="100" name="Group 90">
              <a:extLst>
                <a:ext uri="{FF2B5EF4-FFF2-40B4-BE49-F238E27FC236}">
                  <a16:creationId xmlns:a16="http://schemas.microsoft.com/office/drawing/2014/main" id="{9F135ABE-B672-9F64-9403-F6F561A15E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755"/>
              <a:ext cx="768" cy="430"/>
              <a:chOff x="2400" y="2755"/>
              <a:chExt cx="1536" cy="430"/>
            </a:xfrm>
          </p:grpSpPr>
          <p:sp>
            <p:nvSpPr>
              <p:cNvPr id="102" name="Rectangle 91">
                <a:extLst>
                  <a:ext uri="{FF2B5EF4-FFF2-40B4-BE49-F238E27FC236}">
                    <a16:creationId xmlns:a16="http://schemas.microsoft.com/office/drawing/2014/main" id="{8EDA46E3-14BD-99B1-4766-182457386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755"/>
                <a:ext cx="1536" cy="4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3" name="Rectangle 92">
                <a:extLst>
                  <a:ext uri="{FF2B5EF4-FFF2-40B4-BE49-F238E27FC236}">
                    <a16:creationId xmlns:a16="http://schemas.microsoft.com/office/drawing/2014/main" id="{75606717-1556-3CB6-DE08-0F8AAE9DD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967"/>
                <a:ext cx="1536" cy="21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01" name="Text Box 93">
              <a:extLst>
                <a:ext uri="{FF2B5EF4-FFF2-40B4-BE49-F238E27FC236}">
                  <a16:creationId xmlns:a16="http://schemas.microsoft.com/office/drawing/2014/main" id="{18265F57-0F65-F4A7-452C-B323F1526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962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e-DE" sz="1600" dirty="0" err="1"/>
                <a:t>int</a:t>
              </a:r>
              <a:r>
                <a:rPr lang="de-DE" sz="1600" dirty="0"/>
                <a:t> </a:t>
              </a:r>
              <a:r>
                <a:rPr lang="de-DE" sz="1600" dirty="0" err="1"/>
                <a:t>salary</a:t>
              </a:r>
              <a:endParaRPr lang="de-DE" sz="1600" dirty="0"/>
            </a:p>
          </p:txBody>
        </p:sp>
      </p:grpSp>
      <p:grpSp>
        <p:nvGrpSpPr>
          <p:cNvPr id="110" name="Group 88">
            <a:extLst>
              <a:ext uri="{FF2B5EF4-FFF2-40B4-BE49-F238E27FC236}">
                <a16:creationId xmlns:a16="http://schemas.microsoft.com/office/drawing/2014/main" id="{8F5E509E-8F1D-E06C-4E8A-A98F0576E2A0}"/>
              </a:ext>
            </a:extLst>
          </p:cNvPr>
          <p:cNvGrpSpPr>
            <a:grpSpLocks/>
          </p:cNvGrpSpPr>
          <p:nvPr/>
        </p:nvGrpSpPr>
        <p:grpSpPr bwMode="auto">
          <a:xfrm>
            <a:off x="5837474" y="4866819"/>
            <a:ext cx="1279527" cy="1200152"/>
            <a:chOff x="2387" y="2618"/>
            <a:chExt cx="806" cy="756"/>
          </a:xfrm>
        </p:grpSpPr>
        <p:sp>
          <p:nvSpPr>
            <p:cNvPr id="111" name="Text Box 89">
              <a:extLst>
                <a:ext uri="{FF2B5EF4-FFF2-40B4-BE49-F238E27FC236}">
                  <a16:creationId xmlns:a16="http://schemas.microsoft.com/office/drawing/2014/main" id="{78053D21-53CB-1CF4-CF3F-96563E536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0" y="2628"/>
              <a:ext cx="54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Lecture</a:t>
              </a:r>
            </a:p>
          </p:txBody>
        </p:sp>
        <p:grpSp>
          <p:nvGrpSpPr>
            <p:cNvPr id="112" name="Group 90">
              <a:extLst>
                <a:ext uri="{FF2B5EF4-FFF2-40B4-BE49-F238E27FC236}">
                  <a16:creationId xmlns:a16="http://schemas.microsoft.com/office/drawing/2014/main" id="{C2D66285-7266-3353-3B89-C1FE56F9D7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618"/>
              <a:ext cx="768" cy="573"/>
              <a:chOff x="2400" y="2618"/>
              <a:chExt cx="1536" cy="573"/>
            </a:xfrm>
          </p:grpSpPr>
          <p:sp>
            <p:nvSpPr>
              <p:cNvPr id="114" name="Rectangle 91">
                <a:extLst>
                  <a:ext uri="{FF2B5EF4-FFF2-40B4-BE49-F238E27FC236}">
                    <a16:creationId xmlns:a16="http://schemas.microsoft.com/office/drawing/2014/main" id="{29E4B197-D3A3-EF12-9265-1E294690A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618"/>
                <a:ext cx="1536" cy="57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" name="Rectangle 92">
                <a:extLst>
                  <a:ext uri="{FF2B5EF4-FFF2-40B4-BE49-F238E27FC236}">
                    <a16:creationId xmlns:a16="http://schemas.microsoft.com/office/drawing/2014/main" id="{9FAE062C-1518-D56B-6004-25F251B43E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860"/>
                <a:ext cx="1536" cy="3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13" name="Text Box 93">
              <a:extLst>
                <a:ext uri="{FF2B5EF4-FFF2-40B4-BE49-F238E27FC236}">
                  <a16:creationId xmlns:a16="http://schemas.microsoft.com/office/drawing/2014/main" id="{072E9CF3-CB5A-4704-BEC3-D1AB90558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7" y="2851"/>
              <a:ext cx="806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e-DE" sz="1600" dirty="0" err="1"/>
                <a:t>int</a:t>
              </a:r>
              <a:r>
                <a:rPr lang="de-DE" sz="1600" dirty="0"/>
                <a:t> </a:t>
              </a:r>
              <a:r>
                <a:rPr lang="de-DE" sz="1600" dirty="0" err="1"/>
                <a:t>credits</a:t>
              </a:r>
              <a:endParaRPr lang="de-DE" sz="1600" dirty="0"/>
            </a:p>
            <a:p>
              <a:r>
                <a:rPr lang="de-DE" sz="1600" dirty="0" err="1"/>
                <a:t>int</a:t>
              </a:r>
              <a:r>
                <a:rPr lang="de-DE" sz="1600" dirty="0"/>
                <a:t> </a:t>
              </a:r>
              <a:r>
                <a:rPr lang="de-DE" sz="1600" dirty="0" err="1"/>
                <a:t>courseID</a:t>
              </a:r>
              <a:endParaRPr lang="de-DE" sz="1600" dirty="0"/>
            </a:p>
            <a:p>
              <a:r>
                <a:rPr lang="de-DE" sz="1600" dirty="0"/>
                <a:t>  </a:t>
              </a:r>
            </a:p>
          </p:txBody>
        </p:sp>
      </p:grpSp>
      <p:sp>
        <p:nvSpPr>
          <p:cNvPr id="118" name="Text Box 1086">
            <a:extLst>
              <a:ext uri="{FF2B5EF4-FFF2-40B4-BE49-F238E27FC236}">
                <a16:creationId xmlns:a16="http://schemas.microsoft.com/office/drawing/2014/main" id="{6B7F5EBA-0F19-B44F-7E06-0BECC6D5D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290" y="4902534"/>
            <a:ext cx="45397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de-DE" sz="1400" dirty="0"/>
              <a:t>1..*</a:t>
            </a:r>
          </a:p>
        </p:txBody>
      </p:sp>
      <p:sp>
        <p:nvSpPr>
          <p:cNvPr id="119" name="Line 36">
            <a:extLst>
              <a:ext uri="{FF2B5EF4-FFF2-40B4-BE49-F238E27FC236}">
                <a16:creationId xmlns:a16="http://schemas.microsoft.com/office/drawing/2014/main" id="{4BC7EE28-F1C2-ED70-F1B4-973C682591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45628" y="4438836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square">
            <a:spAutoFit/>
          </a:bodyPr>
          <a:lstStyle/>
          <a:p>
            <a:endParaRPr lang="de-DE"/>
          </a:p>
        </p:txBody>
      </p:sp>
      <p:sp>
        <p:nvSpPr>
          <p:cNvPr id="120" name="AutoShape 37">
            <a:extLst>
              <a:ext uri="{FF2B5EF4-FFF2-40B4-BE49-F238E27FC236}">
                <a16:creationId xmlns:a16="http://schemas.microsoft.com/office/drawing/2014/main" id="{CFA4CF45-95BF-092B-3E8F-382C5AFDE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3228" y="4391211"/>
            <a:ext cx="304800" cy="29051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" name="Text Box 1047">
            <a:extLst>
              <a:ext uri="{FF2B5EF4-FFF2-40B4-BE49-F238E27FC236}">
                <a16:creationId xmlns:a16="http://schemas.microsoft.com/office/drawing/2014/main" id="{03E0152A-9A61-F7BF-9FCB-D0678851E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632" y="5173405"/>
            <a:ext cx="9428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200" dirty="0"/>
              <a:t>attendance</a:t>
            </a:r>
            <a:endParaRPr lang="en-US" altLang="de-DE" sz="1400" dirty="0"/>
          </a:p>
        </p:txBody>
      </p:sp>
      <p:grpSp>
        <p:nvGrpSpPr>
          <p:cNvPr id="124" name="Group 88">
            <a:extLst>
              <a:ext uri="{FF2B5EF4-FFF2-40B4-BE49-F238E27FC236}">
                <a16:creationId xmlns:a16="http://schemas.microsoft.com/office/drawing/2014/main" id="{8CD48E98-BE76-41C9-3172-BBE8F297714B}"/>
              </a:ext>
            </a:extLst>
          </p:cNvPr>
          <p:cNvGrpSpPr>
            <a:grpSpLocks/>
          </p:cNvGrpSpPr>
          <p:nvPr/>
        </p:nvGrpSpPr>
        <p:grpSpPr bwMode="auto">
          <a:xfrm>
            <a:off x="8013995" y="5059420"/>
            <a:ext cx="1303340" cy="681038"/>
            <a:chOff x="2400" y="2662"/>
            <a:chExt cx="821" cy="429"/>
          </a:xfrm>
        </p:grpSpPr>
        <p:sp>
          <p:nvSpPr>
            <p:cNvPr id="125" name="Text Box 89">
              <a:extLst>
                <a:ext uri="{FF2B5EF4-FFF2-40B4-BE49-F238E27FC236}">
                  <a16:creationId xmlns:a16="http://schemas.microsoft.com/office/drawing/2014/main" id="{2EDB5F64-FCCA-751E-3B4B-A5E1CF608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3" y="2664"/>
              <a:ext cx="5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Student</a:t>
              </a:r>
            </a:p>
          </p:txBody>
        </p:sp>
        <p:grpSp>
          <p:nvGrpSpPr>
            <p:cNvPr id="126" name="Group 90">
              <a:extLst>
                <a:ext uri="{FF2B5EF4-FFF2-40B4-BE49-F238E27FC236}">
                  <a16:creationId xmlns:a16="http://schemas.microsoft.com/office/drawing/2014/main" id="{912010C4-F61D-5453-9545-662CF83735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662"/>
              <a:ext cx="768" cy="429"/>
              <a:chOff x="2400" y="2662"/>
              <a:chExt cx="1536" cy="429"/>
            </a:xfrm>
          </p:grpSpPr>
          <p:sp>
            <p:nvSpPr>
              <p:cNvPr id="128" name="Rectangle 91">
                <a:extLst>
                  <a:ext uri="{FF2B5EF4-FFF2-40B4-BE49-F238E27FC236}">
                    <a16:creationId xmlns:a16="http://schemas.microsoft.com/office/drawing/2014/main" id="{FDBA6388-8D26-2FBE-DA00-9AF787953E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662"/>
                <a:ext cx="1536" cy="42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Rectangle 92">
                <a:extLst>
                  <a:ext uri="{FF2B5EF4-FFF2-40B4-BE49-F238E27FC236}">
                    <a16:creationId xmlns:a16="http://schemas.microsoft.com/office/drawing/2014/main" id="{AEF607D4-20C7-D002-DA17-C582C046F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860"/>
                <a:ext cx="1536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27" name="Text Box 93">
              <a:extLst>
                <a:ext uri="{FF2B5EF4-FFF2-40B4-BE49-F238E27FC236}">
                  <a16:creationId xmlns:a16="http://schemas.microsoft.com/office/drawing/2014/main" id="{1DAC38F7-3C27-5F74-C649-76990F83D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866"/>
              <a:ext cx="82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e-DE" sz="1600" dirty="0" err="1"/>
                <a:t>long</a:t>
              </a:r>
              <a:r>
                <a:rPr lang="de-DE" sz="1600" dirty="0"/>
                <a:t> </a:t>
              </a:r>
              <a:r>
                <a:rPr lang="de-DE" sz="1600" dirty="0" err="1"/>
                <a:t>matrNr</a:t>
              </a:r>
              <a:endParaRPr lang="de-DE" sz="1600" dirty="0"/>
            </a:p>
          </p:txBody>
        </p:sp>
      </p:grpSp>
      <p:sp>
        <p:nvSpPr>
          <p:cNvPr id="130" name="Line 1068">
            <a:extLst>
              <a:ext uri="{FF2B5EF4-FFF2-40B4-BE49-F238E27FC236}">
                <a16:creationId xmlns:a16="http://schemas.microsoft.com/office/drawing/2014/main" id="{293F72ED-FFDD-5895-E93E-AD018E00FC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80596" y="5226318"/>
            <a:ext cx="93043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endParaRPr lang="de-DE" dirty="0"/>
          </a:p>
        </p:txBody>
      </p:sp>
      <p:sp>
        <p:nvSpPr>
          <p:cNvPr id="131" name="Text Box 1086">
            <a:extLst>
              <a:ext uri="{FF2B5EF4-FFF2-40B4-BE49-F238E27FC236}">
                <a16:creationId xmlns:a16="http://schemas.microsoft.com/office/drawing/2014/main" id="{46B0BA7F-4B21-73DD-9269-7358DF6F6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997" y="4916242"/>
            <a:ext cx="2551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de-DE" sz="1400" dirty="0"/>
              <a:t>*</a:t>
            </a:r>
          </a:p>
        </p:txBody>
      </p:sp>
      <p:sp>
        <p:nvSpPr>
          <p:cNvPr id="133" name="AutoShape 40">
            <a:extLst>
              <a:ext uri="{FF2B5EF4-FFF2-40B4-BE49-F238E27FC236}">
                <a16:creationId xmlns:a16="http://schemas.microsoft.com/office/drawing/2014/main" id="{AB6461A5-E676-889E-7BF2-A8641ADFD06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56444" y="1016590"/>
            <a:ext cx="1677024" cy="342993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Management</a:t>
            </a:r>
          </a:p>
        </p:txBody>
      </p:sp>
      <p:sp>
        <p:nvSpPr>
          <p:cNvPr id="134" name="AutoShape 40">
            <a:extLst>
              <a:ext uri="{FF2B5EF4-FFF2-40B4-BE49-F238E27FC236}">
                <a16:creationId xmlns:a16="http://schemas.microsoft.com/office/drawing/2014/main" id="{CF15A805-F4DF-9C31-83DA-CD37FCAED18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716887" y="988461"/>
            <a:ext cx="1303340" cy="342993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Teaching</a:t>
            </a:r>
          </a:p>
        </p:txBody>
      </p:sp>
      <p:sp>
        <p:nvSpPr>
          <p:cNvPr id="135" name="AutoShape 40">
            <a:extLst>
              <a:ext uri="{FF2B5EF4-FFF2-40B4-BE49-F238E27FC236}">
                <a16:creationId xmlns:a16="http://schemas.microsoft.com/office/drawing/2014/main" id="{044C90E8-CB63-592B-C9FC-7D736B6B91F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231173" y="3589557"/>
            <a:ext cx="1677024" cy="342993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University</a:t>
            </a:r>
          </a:p>
        </p:txBody>
      </p:sp>
      <p:cxnSp>
        <p:nvCxnSpPr>
          <p:cNvPr id="136" name="Gerade Verbindung 49">
            <a:extLst>
              <a:ext uri="{FF2B5EF4-FFF2-40B4-BE49-F238E27FC236}">
                <a16:creationId xmlns:a16="http://schemas.microsoft.com/office/drawing/2014/main" id="{9898C720-876D-3606-BF08-7925963030F2}"/>
              </a:ext>
            </a:extLst>
          </p:cNvPr>
          <p:cNvCxnSpPr>
            <a:cxnSpLocks/>
          </p:cNvCxnSpPr>
          <p:nvPr/>
        </p:nvCxnSpPr>
        <p:spPr>
          <a:xfrm flipH="1">
            <a:off x="219456" y="3437203"/>
            <a:ext cx="1164854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hteck 139">
            <a:extLst>
              <a:ext uri="{FF2B5EF4-FFF2-40B4-BE49-F238E27FC236}">
                <a16:creationId xmlns:a16="http://schemas.microsoft.com/office/drawing/2014/main" id="{9DFF0897-7D8D-3476-AE6B-8218712A3DE3}"/>
              </a:ext>
            </a:extLst>
          </p:cNvPr>
          <p:cNvSpPr/>
          <p:nvPr/>
        </p:nvSpPr>
        <p:spPr>
          <a:xfrm>
            <a:off x="2202809" y="4542405"/>
            <a:ext cx="394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>
                <a:latin typeface="+mj-lt"/>
                <a:ea typeface="Cambria Math"/>
              </a:rPr>
              <a:t>=</a:t>
            </a:r>
            <a:endParaRPr lang="de-DE" sz="2800" b="1" dirty="0">
              <a:latin typeface="+mj-lt"/>
            </a:endParaRPr>
          </a:p>
        </p:txBody>
      </p:sp>
      <p:grpSp>
        <p:nvGrpSpPr>
          <p:cNvPr id="4" name="Group 88">
            <a:extLst>
              <a:ext uri="{FF2B5EF4-FFF2-40B4-BE49-F238E27FC236}">
                <a16:creationId xmlns:a16="http://schemas.microsoft.com/office/drawing/2014/main" id="{10949F3E-73CD-3C7B-960C-B27E4FAB6E3B}"/>
              </a:ext>
            </a:extLst>
          </p:cNvPr>
          <p:cNvGrpSpPr>
            <a:grpSpLocks/>
          </p:cNvGrpSpPr>
          <p:nvPr/>
        </p:nvGrpSpPr>
        <p:grpSpPr bwMode="auto">
          <a:xfrm>
            <a:off x="3407378" y="4893644"/>
            <a:ext cx="1290639" cy="889600"/>
            <a:chOff x="2386" y="2654"/>
            <a:chExt cx="813" cy="554"/>
          </a:xfrm>
        </p:grpSpPr>
        <p:sp>
          <p:nvSpPr>
            <p:cNvPr id="5" name="Text Box 89">
              <a:extLst>
                <a:ext uri="{FF2B5EF4-FFF2-40B4-BE49-F238E27FC236}">
                  <a16:creationId xmlns:a16="http://schemas.microsoft.com/office/drawing/2014/main" id="{051F3A56-6EC2-092E-8FEB-F702B5993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9" y="2664"/>
              <a:ext cx="6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dirty="0"/>
                <a:t>Professor</a:t>
              </a:r>
            </a:p>
          </p:txBody>
        </p:sp>
        <p:grpSp>
          <p:nvGrpSpPr>
            <p:cNvPr id="6" name="Group 90">
              <a:extLst>
                <a:ext uri="{FF2B5EF4-FFF2-40B4-BE49-F238E27FC236}">
                  <a16:creationId xmlns:a16="http://schemas.microsoft.com/office/drawing/2014/main" id="{E9B37477-8D6D-ABF5-C34E-B00DA8A48B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654"/>
              <a:ext cx="768" cy="540"/>
              <a:chOff x="2400" y="2654"/>
              <a:chExt cx="1536" cy="540"/>
            </a:xfrm>
          </p:grpSpPr>
          <p:sp>
            <p:nvSpPr>
              <p:cNvPr id="8" name="Rectangle 91">
                <a:extLst>
                  <a:ext uri="{FF2B5EF4-FFF2-40B4-BE49-F238E27FC236}">
                    <a16:creationId xmlns:a16="http://schemas.microsoft.com/office/drawing/2014/main" id="{0C26CF49-8D9F-A83C-8B94-63D11D76A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654"/>
                <a:ext cx="1536" cy="5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Rectangle 92">
                <a:extLst>
                  <a:ext uri="{FF2B5EF4-FFF2-40B4-BE49-F238E27FC236}">
                    <a16:creationId xmlns:a16="http://schemas.microsoft.com/office/drawing/2014/main" id="{2090379C-5117-7AA3-2CD3-5AED3309E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860"/>
                <a:ext cx="1536" cy="33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" name="Text Box 93">
              <a:extLst>
                <a:ext uri="{FF2B5EF4-FFF2-40B4-BE49-F238E27FC236}">
                  <a16:creationId xmlns:a16="http://schemas.microsoft.com/office/drawing/2014/main" id="{C52233DB-DAA6-27A1-49F4-049C4D0F0B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6" y="2844"/>
              <a:ext cx="813" cy="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de-DE" sz="1600" dirty="0"/>
                <a:t>String </a:t>
              </a:r>
              <a:r>
                <a:rPr lang="de-DE" sz="1600" dirty="0" err="1"/>
                <a:t>name</a:t>
              </a:r>
              <a:endParaRPr lang="de-DE" sz="1600" dirty="0"/>
            </a:p>
            <a:p>
              <a:r>
                <a:rPr lang="de-DE" sz="1600" dirty="0"/>
                <a:t>String mail</a:t>
              </a:r>
            </a:p>
          </p:txBody>
        </p:sp>
      </p:grpSp>
      <p:sp>
        <p:nvSpPr>
          <p:cNvPr id="10" name="Text Box 1086">
            <a:extLst>
              <a:ext uri="{FF2B5EF4-FFF2-40B4-BE49-F238E27FC236}">
                <a16:creationId xmlns:a16="http://schemas.microsoft.com/office/drawing/2014/main" id="{2F451389-6135-0254-29E0-F944EE6B2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699" y="4902555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de-DE" sz="1400" dirty="0"/>
              <a:t>1</a:t>
            </a:r>
          </a:p>
        </p:txBody>
      </p:sp>
      <p:sp>
        <p:nvSpPr>
          <p:cNvPr id="11" name="Line 1087">
            <a:extLst>
              <a:ext uri="{FF2B5EF4-FFF2-40B4-BE49-F238E27FC236}">
                <a16:creationId xmlns:a16="http://schemas.microsoft.com/office/drawing/2014/main" id="{1E15249F-59E2-0961-8FD3-90912893D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4453" y="5213609"/>
            <a:ext cx="121236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anchor="ctr"/>
          <a:lstStyle/>
          <a:p>
            <a:endParaRPr lang="de-DE"/>
          </a:p>
        </p:txBody>
      </p:sp>
      <p:sp>
        <p:nvSpPr>
          <p:cNvPr id="12" name="Text Box 1047">
            <a:extLst>
              <a:ext uri="{FF2B5EF4-FFF2-40B4-BE49-F238E27FC236}">
                <a16:creationId xmlns:a16="http://schemas.microsoft.com/office/drawing/2014/main" id="{3D7F95DA-AE3D-D6C2-AB64-4C80F464F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5268" y="5213609"/>
            <a:ext cx="69602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200" dirty="0"/>
              <a:t>lecturer</a:t>
            </a:r>
            <a:endParaRPr lang="en-US" altLang="de-DE" sz="1400" dirty="0"/>
          </a:p>
        </p:txBody>
      </p:sp>
      <p:sp>
        <p:nvSpPr>
          <p:cNvPr id="13" name="Text Box 1047">
            <a:extLst>
              <a:ext uri="{FF2B5EF4-FFF2-40B4-BE49-F238E27FC236}">
                <a16:creationId xmlns:a16="http://schemas.microsoft.com/office/drawing/2014/main" id="{A424A49D-257D-29A0-2BFA-792323096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7062" y="5213608"/>
            <a:ext cx="550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200" dirty="0"/>
              <a:t>holds</a:t>
            </a:r>
            <a:endParaRPr lang="en-US" altLang="de-DE" sz="1400" dirty="0"/>
          </a:p>
        </p:txBody>
      </p:sp>
    </p:spTree>
    <p:extLst>
      <p:ext uri="{BB962C8B-B14F-4D97-AF65-F5344CB8AC3E}">
        <p14:creationId xmlns:p14="http://schemas.microsoft.com/office/powerpoint/2010/main" val="257081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19" grpId="0" animBg="1"/>
      <p:bldP spid="120" grpId="0" animBg="1"/>
      <p:bldP spid="123" grpId="0"/>
      <p:bldP spid="130" grpId="0" animBg="1"/>
      <p:bldP spid="131" grpId="0"/>
      <p:bldP spid="135" grpId="0" animBg="1"/>
      <p:bldP spid="140" grpId="0"/>
      <p:bldP spid="10" grpId="0"/>
      <p:bldP spid="11" grpId="0" animBg="1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bgerundetes Rechteck 40">
            <a:extLst>
              <a:ext uri="{FF2B5EF4-FFF2-40B4-BE49-F238E27FC236}">
                <a16:creationId xmlns:a16="http://schemas.microsoft.com/office/drawing/2014/main" id="{746454C5-A366-4A64-8889-90E81828B75C}"/>
              </a:ext>
            </a:extLst>
          </p:cNvPr>
          <p:cNvSpPr/>
          <p:nvPr/>
        </p:nvSpPr>
        <p:spPr>
          <a:xfrm>
            <a:off x="9605281" y="1008340"/>
            <a:ext cx="2229545" cy="136815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+mj-lt"/>
            </a:endParaRPr>
          </a:p>
        </p:txBody>
      </p:sp>
      <p:sp>
        <p:nvSpPr>
          <p:cNvPr id="56" name="Abgerundetes Rechteck 40">
            <a:extLst>
              <a:ext uri="{FF2B5EF4-FFF2-40B4-BE49-F238E27FC236}">
                <a16:creationId xmlns:a16="http://schemas.microsoft.com/office/drawing/2014/main" id="{5762F349-E8BD-451D-9D23-4AAB3BB68CDB}"/>
              </a:ext>
            </a:extLst>
          </p:cNvPr>
          <p:cNvSpPr/>
          <p:nvPr/>
        </p:nvSpPr>
        <p:spPr>
          <a:xfrm>
            <a:off x="9475011" y="1089036"/>
            <a:ext cx="2229545" cy="13681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275B11E-3366-403E-8DD3-152BAE894E81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2"/>
                    </a:solidFill>
                  </a:rPr>
                  <a:t>Class Diagrams </a:t>
                </a:r>
                <a:r>
                  <a:rPr lang="en-US" dirty="0"/>
                  <a:t>describe objects and their links:</a:t>
                </a:r>
              </a:p>
              <a:p>
                <a:pPr lvl="1"/>
                <a:r>
                  <a:rPr lang="en-US" dirty="0"/>
                  <a:t>Semantics of one CD is the set of all valid </a:t>
                </a:r>
                <a:r>
                  <a:rPr lang="en-US" dirty="0">
                    <a:solidFill>
                      <a:schemeClr val="tx2"/>
                    </a:solidFill>
                  </a:rPr>
                  <a:t>object structures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de-DE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𝑠𝑒𝑚</m:t>
                    </m:r>
                    <m:r>
                      <a:rPr lang="de-DE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𝐶𝐷</m:t>
                    </m:r>
                    <m:r>
                      <a:rPr lang="de-DE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→℘(</m:t>
                    </m:r>
                    <m:r>
                      <a:rPr lang="de-DE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𝑂𝑆</m:t>
                    </m:r>
                    <m:r>
                      <a:rPr lang="de-DE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i="1" dirty="0" err="1">
                    <a:solidFill>
                      <a:schemeClr val="tx2"/>
                    </a:solidFill>
                  </a:rPr>
                  <a:t>CDMerge</a:t>
                </a:r>
                <a:r>
                  <a:rPr lang="en-US" dirty="0">
                    <a:solidFill>
                      <a:schemeClr val="tx2"/>
                    </a:solidFill>
                  </a:rPr>
                  <a:t> operator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input: </a:t>
                </a:r>
                <a:r>
                  <a:rPr lang="en-US" dirty="0"/>
                  <a:t>two models A and B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output</a:t>
                </a:r>
                <a:r>
                  <a:rPr lang="en-US" dirty="0"/>
                  <a:t>: merged model </a:t>
                </a:r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A </a:t>
                </a:r>
                <a:r>
                  <a:rPr lang="en-US" dirty="0">
                    <a:solidFill>
                      <a:srgbClr val="080808"/>
                    </a:solidFill>
                    <a:latin typeface="+mn-lt"/>
                    <a:ea typeface="Cambria Math" panose="02040503050406030204" pitchFamily="18" charset="0"/>
                    <a:sym typeface="Symbol" pitchFamily="18" charset="2"/>
                  </a:rPr>
                  <a:t></a:t>
                </a:r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B</a:t>
                </a:r>
                <a:endParaRPr lang="en-US" dirty="0">
                  <a:latin typeface="+mn-lt"/>
                </a:endParaRPr>
              </a:p>
              <a:p>
                <a:pPr lvl="2"/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𝑠𝑒𝑚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de-DE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  <m:r>
                          <a:rPr lang="en-US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de-DE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 err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𝑠𝑒𝑚</m:t>
                    </m:r>
                    <m:r>
                      <a:rPr lang="en-US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∩ </m:t>
                    </m:r>
                    <m:r>
                      <a:rPr lang="en-US" i="1" dirty="0" err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𝑠𝑒𝑚</m:t>
                    </m:r>
                    <m:r>
                      <a:rPr lang="en-US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275B11E-3366-403E-8DD3-152BAE894E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3"/>
                <a:stretch>
                  <a:fillRect l="-1168" t="-18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E719B5C0-BBCC-4A01-8B30-08F52C90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Aspects of Merging Class Diagrams</a:t>
            </a:r>
          </a:p>
        </p:txBody>
      </p:sp>
      <p:grpSp>
        <p:nvGrpSpPr>
          <p:cNvPr id="30" name="Group 25">
            <a:extLst>
              <a:ext uri="{FF2B5EF4-FFF2-40B4-BE49-F238E27FC236}">
                <a16:creationId xmlns:a16="http://schemas.microsoft.com/office/drawing/2014/main" id="{D788E3E2-0C56-12A7-5161-A93C278214EB}"/>
              </a:ext>
            </a:extLst>
          </p:cNvPr>
          <p:cNvGrpSpPr>
            <a:grpSpLocks/>
          </p:cNvGrpSpPr>
          <p:nvPr/>
        </p:nvGrpSpPr>
        <p:grpSpPr bwMode="auto">
          <a:xfrm>
            <a:off x="6625331" y="3184315"/>
            <a:ext cx="647005" cy="603032"/>
            <a:chOff x="707" y="1477"/>
            <a:chExt cx="790" cy="712"/>
          </a:xfrm>
        </p:grpSpPr>
        <p:sp>
          <p:nvSpPr>
            <p:cNvPr id="49" name="Rectangle 26">
              <a:extLst>
                <a:ext uri="{FF2B5EF4-FFF2-40B4-BE49-F238E27FC236}">
                  <a16:creationId xmlns:a16="http://schemas.microsoft.com/office/drawing/2014/main" id="{855BDDD8-6AF0-7456-B9F1-BDD2F66EA0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4" y="2011"/>
              <a:ext cx="293" cy="178"/>
            </a:xfrm>
            <a:prstGeom prst="rect">
              <a:avLst/>
            </a:prstGeom>
            <a:solidFill>
              <a:srgbClr val="FECABE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9628987C-8B1D-C7A1-DDD1-E552FAFF74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07" y="2011"/>
              <a:ext cx="293" cy="178"/>
            </a:xfrm>
            <a:prstGeom prst="rect">
              <a:avLst/>
            </a:prstGeom>
            <a:solidFill>
              <a:srgbClr val="FECABE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753393BF-99F0-9A12-E8E2-465052D161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41" y="1477"/>
              <a:ext cx="293" cy="178"/>
            </a:xfrm>
            <a:prstGeom prst="rect">
              <a:avLst/>
            </a:prstGeom>
            <a:solidFill>
              <a:srgbClr val="FECABE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cxnSp>
          <p:nvCxnSpPr>
            <p:cNvPr id="52" name="AutoShape 29">
              <a:extLst>
                <a:ext uri="{FF2B5EF4-FFF2-40B4-BE49-F238E27FC236}">
                  <a16:creationId xmlns:a16="http://schemas.microsoft.com/office/drawing/2014/main" id="{54567D1B-C06B-90BB-0530-1863CDD9474A}"/>
                </a:ext>
              </a:extLst>
            </p:cNvPr>
            <p:cNvCxnSpPr>
              <a:cxnSpLocks noChangeAspect="1" noChangeShapeType="1"/>
              <a:stCxn id="49" idx="0"/>
              <a:endCxn id="54" idx="3"/>
            </p:cNvCxnSpPr>
            <p:nvPr/>
          </p:nvCxnSpPr>
          <p:spPr bwMode="auto">
            <a:xfrm rot="5400000" flipH="1">
              <a:off x="1093" y="1753"/>
              <a:ext cx="267" cy="249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</p:cxnSp>
        <p:cxnSp>
          <p:nvCxnSpPr>
            <p:cNvPr id="53" name="AutoShape 30">
              <a:extLst>
                <a:ext uri="{FF2B5EF4-FFF2-40B4-BE49-F238E27FC236}">
                  <a16:creationId xmlns:a16="http://schemas.microsoft.com/office/drawing/2014/main" id="{11DB67B7-0CF8-9A16-8E84-80B9C66524B8}"/>
                </a:ext>
              </a:extLst>
            </p:cNvPr>
            <p:cNvCxnSpPr>
              <a:cxnSpLocks noChangeAspect="1" noChangeShapeType="1"/>
              <a:stCxn id="50" idx="0"/>
              <a:endCxn id="54" idx="3"/>
            </p:cNvCxnSpPr>
            <p:nvPr/>
          </p:nvCxnSpPr>
          <p:spPr bwMode="auto">
            <a:xfrm rot="-5400000">
              <a:off x="844" y="1753"/>
              <a:ext cx="267" cy="249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</p:cxnSp>
        <p:sp>
          <p:nvSpPr>
            <p:cNvPr id="54" name="AutoShape 31">
              <a:extLst>
                <a:ext uri="{FF2B5EF4-FFF2-40B4-BE49-F238E27FC236}">
                  <a16:creationId xmlns:a16="http://schemas.microsoft.com/office/drawing/2014/main" id="{09457EE0-C205-69E6-F334-7C06E1B399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8" y="1655"/>
              <a:ext cx="88" cy="89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cxnSp>
          <p:nvCxnSpPr>
            <p:cNvPr id="55" name="AutoShape 32">
              <a:extLst>
                <a:ext uri="{FF2B5EF4-FFF2-40B4-BE49-F238E27FC236}">
                  <a16:creationId xmlns:a16="http://schemas.microsoft.com/office/drawing/2014/main" id="{31E9EFF7-3B23-42C2-3A72-CFF1F2EA46C2}"/>
                </a:ext>
              </a:extLst>
            </p:cNvPr>
            <p:cNvCxnSpPr>
              <a:cxnSpLocks noChangeAspect="1" noChangeShapeType="1"/>
              <a:stCxn id="51" idx="3"/>
              <a:endCxn id="49" idx="3"/>
            </p:cNvCxnSpPr>
            <p:nvPr/>
          </p:nvCxnSpPr>
          <p:spPr bwMode="auto">
            <a:xfrm>
              <a:off x="1234" y="1566"/>
              <a:ext cx="263" cy="534"/>
            </a:xfrm>
            <a:prstGeom prst="bentConnector3">
              <a:avLst>
                <a:gd name="adj1" fmla="val 133333"/>
              </a:avLst>
            </a:prstGeom>
            <a:noFill/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</p:spPr>
        </p:cxnSp>
      </p:grpSp>
      <p:sp>
        <p:nvSpPr>
          <p:cNvPr id="43" name="Rectangle 27">
            <a:extLst>
              <a:ext uri="{FF2B5EF4-FFF2-40B4-BE49-F238E27FC236}">
                <a16:creationId xmlns:a16="http://schemas.microsoft.com/office/drawing/2014/main" id="{3C6469B3-7D90-AD17-373D-71D4534E45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27892" y="3660723"/>
            <a:ext cx="239964" cy="150758"/>
          </a:xfrm>
          <a:prstGeom prst="rect">
            <a:avLst/>
          </a:prstGeom>
          <a:solidFill>
            <a:srgbClr val="FECABE"/>
          </a:solidFill>
          <a:ln w="9525">
            <a:solidFill>
              <a:srgbClr val="000000"/>
            </a:solidFill>
            <a:miter lim="800000"/>
            <a:headEnd type="none" w="sm" len="sm"/>
            <a:tailEnd type="none" w="lg" len="med"/>
          </a:ln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44" name="Rectangle 28">
            <a:extLst>
              <a:ext uri="{FF2B5EF4-FFF2-40B4-BE49-F238E27FC236}">
                <a16:creationId xmlns:a16="http://schemas.microsoft.com/office/drawing/2014/main" id="{2403AE57-1E8B-F58D-59B2-CC6BC80B9E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45987" y="3208449"/>
            <a:ext cx="239964" cy="150758"/>
          </a:xfrm>
          <a:prstGeom prst="rect">
            <a:avLst/>
          </a:prstGeom>
          <a:solidFill>
            <a:srgbClr val="FECABE"/>
          </a:solidFill>
          <a:ln w="9525">
            <a:solidFill>
              <a:srgbClr val="000000"/>
            </a:solidFill>
            <a:miter lim="800000"/>
            <a:headEnd type="none" w="sm" len="sm"/>
            <a:tailEnd type="none" w="lg" len="med"/>
          </a:ln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47" name="AutoShape 31">
            <a:extLst>
              <a:ext uri="{FF2B5EF4-FFF2-40B4-BE49-F238E27FC236}">
                <a16:creationId xmlns:a16="http://schemas.microsoft.com/office/drawing/2014/main" id="{D453E5E4-B669-2E1B-5D4D-79705DEC45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08153" y="3359207"/>
            <a:ext cx="72071" cy="75379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 type="none" w="sm" len="sm"/>
            <a:tailEnd type="none" w="lg" len="med"/>
          </a:ln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AB719390-6931-CA0B-2C6D-F67F6754C2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09982" y="3211675"/>
            <a:ext cx="239965" cy="150758"/>
          </a:xfrm>
          <a:prstGeom prst="rect">
            <a:avLst/>
          </a:prstGeom>
          <a:solidFill>
            <a:srgbClr val="FECABE"/>
          </a:solidFill>
          <a:ln w="9525">
            <a:solidFill>
              <a:srgbClr val="000000"/>
            </a:solidFill>
            <a:miter lim="800000"/>
            <a:headEnd type="none" w="sm" len="sm"/>
            <a:tailEnd type="none" w="lg" len="med"/>
          </a:ln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33" name="Geschweifte Klammer rechts 32">
            <a:extLst>
              <a:ext uri="{FF2B5EF4-FFF2-40B4-BE49-F238E27FC236}">
                <a16:creationId xmlns:a16="http://schemas.microsoft.com/office/drawing/2014/main" id="{F53270B5-AD53-92E7-9EA0-B64D79BDE210}"/>
              </a:ext>
            </a:extLst>
          </p:cNvPr>
          <p:cNvSpPr/>
          <p:nvPr/>
        </p:nvSpPr>
        <p:spPr>
          <a:xfrm rot="5400000">
            <a:off x="7724302" y="2810709"/>
            <a:ext cx="416583" cy="2680109"/>
          </a:xfrm>
          <a:prstGeom prst="rightBrace">
            <a:avLst>
              <a:gd name="adj1" fmla="val 51699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2D7CFB3-DE60-5A8F-2269-2DA548D8E0F8}"/>
              </a:ext>
            </a:extLst>
          </p:cNvPr>
          <p:cNvSpPr/>
          <p:nvPr/>
        </p:nvSpPr>
        <p:spPr>
          <a:xfrm>
            <a:off x="6244483" y="4385046"/>
            <a:ext cx="2056747" cy="1175814"/>
          </a:xfrm>
          <a:prstGeom prst="ellipse">
            <a:avLst/>
          </a:prstGeom>
          <a:solidFill>
            <a:srgbClr val="CCFF99">
              <a:alpha val="34118"/>
            </a:srgbClr>
          </a:solidFill>
          <a:ln w="952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F6D07AC-B8C2-65C4-FF5B-368DF8C4EA6D}"/>
              </a:ext>
            </a:extLst>
          </p:cNvPr>
          <p:cNvSpPr txBox="1"/>
          <p:nvPr/>
        </p:nvSpPr>
        <p:spPr>
          <a:xfrm>
            <a:off x="7392430" y="309157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59D8E340-5773-7569-6486-9616C7519663}"/>
              </a:ext>
            </a:extLst>
          </p:cNvPr>
          <p:cNvSpPr txBox="1"/>
          <p:nvPr/>
        </p:nvSpPr>
        <p:spPr>
          <a:xfrm>
            <a:off x="8980989" y="309157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37377D34-53DB-6B5C-0418-690DD468A411}"/>
              </a:ext>
            </a:extLst>
          </p:cNvPr>
          <p:cNvSpPr txBox="1"/>
          <p:nvPr/>
        </p:nvSpPr>
        <p:spPr>
          <a:xfrm>
            <a:off x="6712063" y="4462234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sem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(A)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D25AE6F4-59D7-1FEB-73D9-6258E4DA17BD}"/>
              </a:ext>
            </a:extLst>
          </p:cNvPr>
          <p:cNvSpPr/>
          <p:nvPr/>
        </p:nvSpPr>
        <p:spPr>
          <a:xfrm>
            <a:off x="7560324" y="4356507"/>
            <a:ext cx="2056747" cy="1175814"/>
          </a:xfrm>
          <a:prstGeom prst="ellipse">
            <a:avLst/>
          </a:prstGeom>
          <a:solidFill>
            <a:srgbClr val="FFCCFF">
              <a:alpha val="34118"/>
            </a:srgbClr>
          </a:solidFill>
          <a:ln w="952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48411363-2DC8-9CA9-36A0-6ECCEA45E8C7}"/>
              </a:ext>
            </a:extLst>
          </p:cNvPr>
          <p:cNvSpPr txBox="1"/>
          <p:nvPr/>
        </p:nvSpPr>
        <p:spPr>
          <a:xfrm>
            <a:off x="8290393" y="4439494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sem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(B)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97367F51-7ABF-387C-C29B-334937692A10}"/>
              </a:ext>
            </a:extLst>
          </p:cNvPr>
          <p:cNvCxnSpPr>
            <a:cxnSpLocks/>
          </p:cNvCxnSpPr>
          <p:nvPr/>
        </p:nvCxnSpPr>
        <p:spPr>
          <a:xfrm>
            <a:off x="268357" y="2765667"/>
            <a:ext cx="11539643" cy="56833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DBED7F51-BE16-3211-7BC8-73569C47155D}"/>
              </a:ext>
            </a:extLst>
          </p:cNvPr>
          <p:cNvCxnSpPr>
            <a:cxnSpLocks/>
            <a:stCxn id="87" idx="1"/>
          </p:cNvCxnSpPr>
          <p:nvPr/>
        </p:nvCxnSpPr>
        <p:spPr>
          <a:xfrm>
            <a:off x="4135563" y="4379848"/>
            <a:ext cx="3751562" cy="643609"/>
          </a:xfrm>
          <a:prstGeom prst="straightConnector1">
            <a:avLst/>
          </a:prstGeom>
          <a:ln w="127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Geschweifte Klammer rechts 86">
            <a:extLst>
              <a:ext uri="{FF2B5EF4-FFF2-40B4-BE49-F238E27FC236}">
                <a16:creationId xmlns:a16="http://schemas.microsoft.com/office/drawing/2014/main" id="{15C84C9D-652E-7DF7-5B58-673C6BD04775}"/>
              </a:ext>
            </a:extLst>
          </p:cNvPr>
          <p:cNvSpPr/>
          <p:nvPr/>
        </p:nvSpPr>
        <p:spPr>
          <a:xfrm rot="5400000">
            <a:off x="3999703" y="3450562"/>
            <a:ext cx="271719" cy="1586852"/>
          </a:xfrm>
          <a:prstGeom prst="rightBrace">
            <a:avLst>
              <a:gd name="adj1" fmla="val 51699"/>
              <a:gd name="adj2" fmla="val 50000"/>
            </a:avLst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29" name="Group 116">
            <a:extLst>
              <a:ext uri="{FF2B5EF4-FFF2-40B4-BE49-F238E27FC236}">
                <a16:creationId xmlns:a16="http://schemas.microsoft.com/office/drawing/2014/main" id="{DFBE7282-63C8-13C9-CF6B-670C95C592BF}"/>
              </a:ext>
            </a:extLst>
          </p:cNvPr>
          <p:cNvGrpSpPr>
            <a:grpSpLocks/>
          </p:cNvGrpSpPr>
          <p:nvPr/>
        </p:nvGrpSpPr>
        <p:grpSpPr bwMode="auto">
          <a:xfrm>
            <a:off x="6972156" y="1559024"/>
            <a:ext cx="752440" cy="720187"/>
            <a:chOff x="707" y="1477"/>
            <a:chExt cx="790" cy="712"/>
          </a:xfrm>
        </p:grpSpPr>
        <p:sp>
          <p:nvSpPr>
            <p:cNvPr id="40" name="Rectangle 117">
              <a:extLst>
                <a:ext uri="{FF2B5EF4-FFF2-40B4-BE49-F238E27FC236}">
                  <a16:creationId xmlns:a16="http://schemas.microsoft.com/office/drawing/2014/main" id="{53371196-B88A-9743-8155-DB4BD9C9E3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4" y="2011"/>
              <a:ext cx="293" cy="178"/>
            </a:xfrm>
            <a:prstGeom prst="rect">
              <a:avLst/>
            </a:prstGeom>
            <a:solidFill>
              <a:srgbClr val="FECABE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  <a:effectLst/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sp>
          <p:nvSpPr>
            <p:cNvPr id="41" name="Rectangle 118">
              <a:extLst>
                <a:ext uri="{FF2B5EF4-FFF2-40B4-BE49-F238E27FC236}">
                  <a16:creationId xmlns:a16="http://schemas.microsoft.com/office/drawing/2014/main" id="{DAC6964A-1612-D07E-FCCF-5DC9FB0D29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07" y="2011"/>
              <a:ext cx="293" cy="178"/>
            </a:xfrm>
            <a:prstGeom prst="rect">
              <a:avLst/>
            </a:prstGeom>
            <a:solidFill>
              <a:srgbClr val="FECABE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  <a:effectLst/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sp>
          <p:nvSpPr>
            <p:cNvPr id="58" name="Rectangle 119">
              <a:extLst>
                <a:ext uri="{FF2B5EF4-FFF2-40B4-BE49-F238E27FC236}">
                  <a16:creationId xmlns:a16="http://schemas.microsoft.com/office/drawing/2014/main" id="{DC694FF0-7243-5C71-9DCF-69BFFFA8D0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41" y="1477"/>
              <a:ext cx="293" cy="178"/>
            </a:xfrm>
            <a:prstGeom prst="rect">
              <a:avLst/>
            </a:prstGeom>
            <a:solidFill>
              <a:srgbClr val="FECABE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  <a:effectLst/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cxnSp>
          <p:nvCxnSpPr>
            <p:cNvPr id="59" name="AutoShape 120">
              <a:extLst>
                <a:ext uri="{FF2B5EF4-FFF2-40B4-BE49-F238E27FC236}">
                  <a16:creationId xmlns:a16="http://schemas.microsoft.com/office/drawing/2014/main" id="{F02D5817-078D-03C9-AF73-115B2A66982E}"/>
                </a:ext>
              </a:extLst>
            </p:cNvPr>
            <p:cNvCxnSpPr>
              <a:cxnSpLocks noChangeAspect="1" noChangeShapeType="1"/>
              <a:stCxn id="40" idx="0"/>
              <a:endCxn id="61" idx="3"/>
            </p:cNvCxnSpPr>
            <p:nvPr/>
          </p:nvCxnSpPr>
          <p:spPr bwMode="auto">
            <a:xfrm rot="5400000" flipH="1">
              <a:off x="1093" y="1753"/>
              <a:ext cx="267" cy="249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  <a:effectLst/>
          </p:spPr>
        </p:cxnSp>
        <p:cxnSp>
          <p:nvCxnSpPr>
            <p:cNvPr id="60" name="AutoShape 121">
              <a:extLst>
                <a:ext uri="{FF2B5EF4-FFF2-40B4-BE49-F238E27FC236}">
                  <a16:creationId xmlns:a16="http://schemas.microsoft.com/office/drawing/2014/main" id="{4F0DFA91-B2A1-3D7B-CDCD-1E56A51EACE0}"/>
                </a:ext>
              </a:extLst>
            </p:cNvPr>
            <p:cNvCxnSpPr>
              <a:cxnSpLocks noChangeAspect="1" noChangeShapeType="1"/>
              <a:stCxn id="41" idx="0"/>
              <a:endCxn id="61" idx="3"/>
            </p:cNvCxnSpPr>
            <p:nvPr/>
          </p:nvCxnSpPr>
          <p:spPr bwMode="auto">
            <a:xfrm rot="16200000">
              <a:off x="844" y="1753"/>
              <a:ext cx="267" cy="249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  <a:effectLst/>
          </p:spPr>
        </p:cxnSp>
        <p:sp>
          <p:nvSpPr>
            <p:cNvPr id="61" name="AutoShape 122">
              <a:extLst>
                <a:ext uri="{FF2B5EF4-FFF2-40B4-BE49-F238E27FC236}">
                  <a16:creationId xmlns:a16="http://schemas.microsoft.com/office/drawing/2014/main" id="{8486D33D-F3A5-F084-C18C-B4DBA318F2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8" y="1655"/>
              <a:ext cx="88" cy="89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  <a:effectLst/>
          </p:spPr>
          <p:txBody>
            <a:bodyPr wrap="none" anchor="ctr"/>
            <a:lstStyle/>
            <a:p>
              <a:endParaRPr lang="de-DE">
                <a:latin typeface="+mj-lt"/>
              </a:endParaRPr>
            </a:p>
          </p:txBody>
        </p:sp>
        <p:cxnSp>
          <p:nvCxnSpPr>
            <p:cNvPr id="62" name="AutoShape 123">
              <a:extLst>
                <a:ext uri="{FF2B5EF4-FFF2-40B4-BE49-F238E27FC236}">
                  <a16:creationId xmlns:a16="http://schemas.microsoft.com/office/drawing/2014/main" id="{22E61D53-9B75-27CA-8C8F-873096EBD656}"/>
                </a:ext>
              </a:extLst>
            </p:cNvPr>
            <p:cNvCxnSpPr>
              <a:cxnSpLocks noChangeAspect="1" noChangeShapeType="1"/>
              <a:stCxn id="58" idx="3"/>
              <a:endCxn id="40" idx="3"/>
            </p:cNvCxnSpPr>
            <p:nvPr/>
          </p:nvCxnSpPr>
          <p:spPr bwMode="auto">
            <a:xfrm>
              <a:off x="1234" y="1566"/>
              <a:ext cx="263" cy="534"/>
            </a:xfrm>
            <a:prstGeom prst="bentConnector3">
              <a:avLst>
                <a:gd name="adj1" fmla="val 133333"/>
              </a:avLst>
            </a:prstGeom>
            <a:noFill/>
            <a:ln w="9525">
              <a:solidFill>
                <a:srgbClr val="000000"/>
              </a:solidFill>
              <a:miter lim="800000"/>
              <a:headEnd type="none" w="sm" len="sm"/>
              <a:tailEnd type="none" w="lg" len="med"/>
            </a:ln>
            <a:effectLst/>
          </p:spPr>
        </p:cxnSp>
      </p:grpSp>
      <p:sp>
        <p:nvSpPr>
          <p:cNvPr id="64" name="Abgerundetes Rechteck 40">
            <a:extLst>
              <a:ext uri="{FF2B5EF4-FFF2-40B4-BE49-F238E27FC236}">
                <a16:creationId xmlns:a16="http://schemas.microsoft.com/office/drawing/2014/main" id="{0C6DE879-EECF-14BB-F2D9-207F84008DDD}"/>
              </a:ext>
            </a:extLst>
          </p:cNvPr>
          <p:cNvSpPr/>
          <p:nvPr/>
        </p:nvSpPr>
        <p:spPr>
          <a:xfrm>
            <a:off x="9359368" y="1170196"/>
            <a:ext cx="2229545" cy="13681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+mj-lt"/>
            </a:endParaRPr>
          </a:p>
        </p:txBody>
      </p:sp>
      <p:sp>
        <p:nvSpPr>
          <p:cNvPr id="65" name="Rectangle 117">
            <a:extLst>
              <a:ext uri="{FF2B5EF4-FFF2-40B4-BE49-F238E27FC236}">
                <a16:creationId xmlns:a16="http://schemas.microsoft.com/office/drawing/2014/main" id="{80F05A86-6C95-D4A3-7A4C-335AF3981B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71151" y="1593039"/>
            <a:ext cx="279070" cy="1800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 type="none" w="sm" len="sm"/>
            <a:tailEnd type="none" w="lg" len="med"/>
          </a:ln>
          <a:effectLst/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66" name="Rectangle 118">
            <a:extLst>
              <a:ext uri="{FF2B5EF4-FFF2-40B4-BE49-F238E27FC236}">
                <a16:creationId xmlns:a16="http://schemas.microsoft.com/office/drawing/2014/main" id="{467349A6-9025-05C6-E688-765E5C3DDD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71151" y="2277141"/>
            <a:ext cx="279070" cy="1800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 type="none" w="sm" len="sm"/>
            <a:tailEnd type="none" w="lg" len="med"/>
          </a:ln>
          <a:effectLst/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67" name="Rectangle 117">
            <a:extLst>
              <a:ext uri="{FF2B5EF4-FFF2-40B4-BE49-F238E27FC236}">
                <a16:creationId xmlns:a16="http://schemas.microsoft.com/office/drawing/2014/main" id="{3475EF70-1381-47BD-F582-5A57B2F1F1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261938" y="1593040"/>
            <a:ext cx="279070" cy="1800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 type="none" w="sm" len="sm"/>
            <a:tailEnd type="none" w="lg" len="med"/>
          </a:ln>
          <a:effectLst/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sp>
        <p:nvSpPr>
          <p:cNvPr id="68" name="Rectangle 117">
            <a:extLst>
              <a:ext uri="{FF2B5EF4-FFF2-40B4-BE49-F238E27FC236}">
                <a16:creationId xmlns:a16="http://schemas.microsoft.com/office/drawing/2014/main" id="{0A2B2874-AEDD-0F78-D25D-8A4EC44EEA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871151" y="1935090"/>
            <a:ext cx="279070" cy="1800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 type="none" w="sm" len="sm"/>
            <a:tailEnd type="none" w="lg" len="med"/>
          </a:ln>
          <a:effectLst/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0CDD79CE-7730-DD5E-E1EF-FBA8A97DF35A}"/>
              </a:ext>
            </a:extLst>
          </p:cNvPr>
          <p:cNvCxnSpPr>
            <a:stCxn id="67" idx="3"/>
            <a:endCxn id="65" idx="1"/>
          </p:cNvCxnSpPr>
          <p:nvPr/>
        </p:nvCxnSpPr>
        <p:spPr>
          <a:xfrm flipV="1">
            <a:off x="10541008" y="1683063"/>
            <a:ext cx="33014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winkelter Verbinder 54">
            <a:extLst>
              <a:ext uri="{FF2B5EF4-FFF2-40B4-BE49-F238E27FC236}">
                <a16:creationId xmlns:a16="http://schemas.microsoft.com/office/drawing/2014/main" id="{DB71F0A6-13EE-AAA3-EAA4-D7919BB87CC4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10541008" y="1683064"/>
            <a:ext cx="330143" cy="342050"/>
          </a:xfrm>
          <a:prstGeom prst="bentConnector3">
            <a:avLst>
              <a:gd name="adj1" fmla="val 5589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B503C975-B961-BEF3-E52F-DBBA0817002B}"/>
              </a:ext>
            </a:extLst>
          </p:cNvPr>
          <p:cNvCxnSpPr>
            <a:stCxn id="66" idx="0"/>
            <a:endCxn id="68" idx="2"/>
          </p:cNvCxnSpPr>
          <p:nvPr/>
        </p:nvCxnSpPr>
        <p:spPr>
          <a:xfrm flipV="1">
            <a:off x="11010686" y="2115137"/>
            <a:ext cx="0" cy="162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117">
            <a:extLst>
              <a:ext uri="{FF2B5EF4-FFF2-40B4-BE49-F238E27FC236}">
                <a16:creationId xmlns:a16="http://schemas.microsoft.com/office/drawing/2014/main" id="{41ABA2A8-5CAD-3AB0-FD02-C3A8603063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32436" y="1593039"/>
            <a:ext cx="279070" cy="1800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 type="none" w="sm" len="sm"/>
            <a:tailEnd type="none" w="lg" len="med"/>
          </a:ln>
          <a:effectLst/>
        </p:spPr>
        <p:txBody>
          <a:bodyPr wrap="none" anchor="ctr"/>
          <a:lstStyle/>
          <a:p>
            <a:endParaRPr lang="de-DE">
              <a:latin typeface="+mj-lt"/>
            </a:endParaRPr>
          </a:p>
        </p:txBody>
      </p: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99262005-9B5B-A2BA-3D32-D5240D993512}"/>
              </a:ext>
            </a:extLst>
          </p:cNvPr>
          <p:cNvCxnSpPr>
            <a:stCxn id="67" idx="1"/>
            <a:endCxn id="72" idx="3"/>
          </p:cNvCxnSpPr>
          <p:nvPr/>
        </p:nvCxnSpPr>
        <p:spPr>
          <a:xfrm flipH="1" flipV="1">
            <a:off x="10011506" y="1683063"/>
            <a:ext cx="25043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winkelter Verbinder 64">
            <a:extLst>
              <a:ext uri="{FF2B5EF4-FFF2-40B4-BE49-F238E27FC236}">
                <a16:creationId xmlns:a16="http://schemas.microsoft.com/office/drawing/2014/main" id="{3CD5CD69-D26D-0E02-A694-B590D2B60787}"/>
              </a:ext>
            </a:extLst>
          </p:cNvPr>
          <p:cNvCxnSpPr>
            <a:stCxn id="67" idx="2"/>
            <a:endCxn id="66" idx="1"/>
          </p:cNvCxnSpPr>
          <p:nvPr/>
        </p:nvCxnSpPr>
        <p:spPr>
          <a:xfrm rot="16200000" flipH="1">
            <a:off x="10339273" y="1835287"/>
            <a:ext cx="594078" cy="46967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85989C5E-7476-C4E4-B82E-60FA49824D37}"/>
              </a:ext>
            </a:extLst>
          </p:cNvPr>
          <p:cNvSpPr txBox="1"/>
          <p:nvPr/>
        </p:nvSpPr>
        <p:spPr>
          <a:xfrm>
            <a:off x="9322947" y="1176186"/>
            <a:ext cx="230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latin typeface="+mj-lt"/>
              </a:rPr>
              <a:t>Object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Structures</a:t>
            </a:r>
            <a:endParaRPr lang="de-DE" dirty="0">
              <a:latin typeface="+mj-lt"/>
            </a:endParaRPr>
          </a:p>
        </p:txBody>
      </p:sp>
      <p:sp>
        <p:nvSpPr>
          <p:cNvPr id="76" name="Abgerundetes Rechteck 68">
            <a:extLst>
              <a:ext uri="{FF2B5EF4-FFF2-40B4-BE49-F238E27FC236}">
                <a16:creationId xmlns:a16="http://schemas.microsoft.com/office/drawing/2014/main" id="{367DF5A0-CD6B-18CE-BA82-7CBE7B42BF7B}"/>
              </a:ext>
            </a:extLst>
          </p:cNvPr>
          <p:cNvSpPr/>
          <p:nvPr/>
        </p:nvSpPr>
        <p:spPr>
          <a:xfrm>
            <a:off x="6621460" y="1126644"/>
            <a:ext cx="1567286" cy="12576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+mj-lt"/>
            </a:endParaRP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045DE130-316F-0093-FBA3-622830148268}"/>
              </a:ext>
            </a:extLst>
          </p:cNvPr>
          <p:cNvSpPr txBox="1"/>
          <p:nvPr/>
        </p:nvSpPr>
        <p:spPr>
          <a:xfrm>
            <a:off x="6411041" y="1137673"/>
            <a:ext cx="187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+mj-lt"/>
              </a:rPr>
              <a:t>CD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A0F16398-67DD-0F14-66AF-42950F9E5207}"/>
                  </a:ext>
                </a:extLst>
              </p:cNvPr>
              <p:cNvSpPr txBox="1"/>
              <p:nvPr/>
            </p:nvSpPr>
            <p:spPr>
              <a:xfrm>
                <a:off x="7991043" y="1400204"/>
                <a:ext cx="14165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de-DE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𝑠𝑒𝑚</m:t>
                    </m:r>
                  </m:oMath>
                </a14:m>
                <a:endParaRPr lang="de-DE" dirty="0">
                  <a:latin typeface="+mj-lt"/>
                </a:endParaRPr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A0F16398-67DD-0F14-66AF-42950F9E5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043" y="1400204"/>
                <a:ext cx="14165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2615E35B-ABE3-B80E-C613-65E2F39CEC9A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8188746" y="1755467"/>
            <a:ext cx="11892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0E2E160F-E5F9-9AB0-3663-D3B79563FDCF}"/>
              </a:ext>
            </a:extLst>
          </p:cNvPr>
          <p:cNvCxnSpPr>
            <a:cxnSpLocks/>
            <a:stCxn id="43" idx="0"/>
            <a:endCxn id="47" idx="3"/>
          </p:cNvCxnSpPr>
          <p:nvPr/>
        </p:nvCxnSpPr>
        <p:spPr>
          <a:xfrm flipH="1" flipV="1">
            <a:off x="8844189" y="3434586"/>
            <a:ext cx="3685" cy="2261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C5C0C758-4D94-A65F-24B0-C3B6E2A8B51E}"/>
              </a:ext>
            </a:extLst>
          </p:cNvPr>
          <p:cNvCxnSpPr>
            <a:stCxn id="44" idx="3"/>
            <a:endCxn id="32" idx="1"/>
          </p:cNvCxnSpPr>
          <p:nvPr/>
        </p:nvCxnSpPr>
        <p:spPr>
          <a:xfrm>
            <a:off x="8485951" y="3283828"/>
            <a:ext cx="224031" cy="32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40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719B5C0-BBCC-4A01-8B30-08F52C90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Closed-World vs Open-World 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275B11E-3366-403E-8DD3-152BAE894E81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383999" y="1235175"/>
                <a:ext cx="11502697" cy="4385455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2"/>
                    </a:solidFill>
                  </a:rPr>
                  <a:t>Closed-world</a:t>
                </a:r>
                <a:r>
                  <a:rPr lang="en-US" dirty="0"/>
                  <a:t> semantics (</a:t>
                </a:r>
                <a14:m>
                  <m:oMath xmlns:m="http://schemas.openxmlformats.org/officeDocument/2006/math">
                    <m:r>
                      <a:rPr lang="de-DE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𝒔𝒆</m:t>
                    </m:r>
                    <m:sSub>
                      <m:sSubPr>
                        <m:ctrlPr>
                          <a:rPr lang="de-DE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𝒄𝒘</m:t>
                        </m:r>
                      </m:sub>
                    </m:sSub>
                  </m:oMath>
                </a14:m>
                <a:r>
                  <a:rPr lang="en-US" dirty="0"/>
                  <a:t>): </a:t>
                </a:r>
              </a:p>
              <a:p>
                <a:pPr lvl="1"/>
                <a:r>
                  <a:rPr lang="en-US" dirty="0"/>
                  <a:t>Only explicitly modelled elements are allowed.</a:t>
                </a:r>
              </a:p>
              <a:p>
                <a:pPr lvl="1"/>
                <a:r>
                  <a:rPr lang="en-US" dirty="0"/>
                  <a:t>Does </a:t>
                </a:r>
                <a:r>
                  <a:rPr lang="en-US" dirty="0">
                    <a:solidFill>
                      <a:schemeClr val="accent6"/>
                    </a:solidFill>
                  </a:rPr>
                  <a:t>not</a:t>
                </a:r>
                <a:r>
                  <a:rPr lang="en-US" dirty="0"/>
                  <a:t> consider </a:t>
                </a:r>
                <a:r>
                  <a:rPr lang="en-US" dirty="0">
                    <a:solidFill>
                      <a:schemeClr val="accent6"/>
                    </a:solidFill>
                  </a:rPr>
                  <a:t>merging as intersection </a:t>
                </a:r>
                <a:r>
                  <a:rPr lang="en-US" dirty="0"/>
                  <a:t>of semantics.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2"/>
                    </a:solidFill>
                  </a:rPr>
                  <a:t>Open-world </a:t>
                </a:r>
                <a:r>
                  <a:rPr lang="en-US" dirty="0"/>
                  <a:t>semantics (</a:t>
                </a:r>
                <a14:m>
                  <m:oMath xmlns:m="http://schemas.openxmlformats.org/officeDocument/2006/math">
                    <m:r>
                      <a:rPr lang="de-DE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𝒔𝒆</m:t>
                    </m:r>
                    <m:sSub>
                      <m:sSubPr>
                        <m:ctrlPr>
                          <a:rPr lang="de-DE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de-DE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𝒐𝒘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=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2"/>
                    </a:solidFill>
                  </a:rPr>
                  <a:t>underspecification</a:t>
                </a:r>
              </a:p>
              <a:p>
                <a:pPr lvl="1"/>
                <a:r>
                  <a:rPr lang="en-US" dirty="0"/>
                  <a:t>If something is </a:t>
                </a:r>
                <a:r>
                  <a:rPr lang="en-US" dirty="0">
                    <a:solidFill>
                      <a:schemeClr val="tx2"/>
                    </a:solidFill>
                  </a:rPr>
                  <a:t>not</a:t>
                </a:r>
                <a:r>
                  <a:rPr lang="en-US" dirty="0"/>
                  <a:t> explicitly modelled, it is still allowed.</a:t>
                </a:r>
                <a:endParaRPr lang="en-US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en-US" dirty="0"/>
                  <a:t>Useful for </a:t>
                </a:r>
                <a:r>
                  <a:rPr lang="en-US" dirty="0">
                    <a:solidFill>
                      <a:schemeClr val="tx2"/>
                    </a:solidFill>
                  </a:rPr>
                  <a:t>model evolution analysis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chemeClr val="tx2"/>
                    </a:solidFill>
                  </a:rPr>
                  <a:t>model composition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275B11E-3366-403E-8DD3-152BAE894E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383999" y="1235175"/>
                <a:ext cx="11502697" cy="4385455"/>
              </a:xfrm>
              <a:blipFill>
                <a:blip r:embed="rId3"/>
                <a:stretch>
                  <a:fillRect l="-1166" t="-18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Verbinder: gewinkelt 29">
            <a:extLst>
              <a:ext uri="{FF2B5EF4-FFF2-40B4-BE49-F238E27FC236}">
                <a16:creationId xmlns:a16="http://schemas.microsoft.com/office/drawing/2014/main" id="{2483D759-15D8-FFB7-9EA2-02BA272CF2D8}"/>
              </a:ext>
            </a:extLst>
          </p:cNvPr>
          <p:cNvCxnSpPr>
            <a:cxnSpLocks/>
            <a:stCxn id="49" idx="1"/>
            <a:endCxn id="52" idx="0"/>
          </p:cNvCxnSpPr>
          <p:nvPr/>
        </p:nvCxnSpPr>
        <p:spPr>
          <a:xfrm rot="10800000" flipH="1">
            <a:off x="1442153" y="4340011"/>
            <a:ext cx="1219200" cy="626269"/>
          </a:xfrm>
          <a:prstGeom prst="bentConnector4">
            <a:avLst>
              <a:gd name="adj1" fmla="val -18750"/>
              <a:gd name="adj2" fmla="val 136502"/>
            </a:avLst>
          </a:prstGeom>
          <a:ln>
            <a:solidFill>
              <a:schemeClr val="tx2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" name="Group 127">
            <a:extLst>
              <a:ext uri="{FF2B5EF4-FFF2-40B4-BE49-F238E27FC236}">
                <a16:creationId xmlns:a16="http://schemas.microsoft.com/office/drawing/2014/main" id="{DF2D40A5-2B12-A148-D050-FDEF4FCCDD9C}"/>
              </a:ext>
            </a:extLst>
          </p:cNvPr>
          <p:cNvGrpSpPr>
            <a:grpSpLocks/>
          </p:cNvGrpSpPr>
          <p:nvPr/>
        </p:nvGrpSpPr>
        <p:grpSpPr bwMode="auto">
          <a:xfrm>
            <a:off x="1442153" y="4340010"/>
            <a:ext cx="2438400" cy="873125"/>
            <a:chOff x="480" y="2208"/>
            <a:chExt cx="1536" cy="550"/>
          </a:xfrm>
        </p:grpSpPr>
        <p:sp>
          <p:nvSpPr>
            <p:cNvPr id="32" name="Text Box 129">
              <a:extLst>
                <a:ext uri="{FF2B5EF4-FFF2-40B4-BE49-F238E27FC236}">
                  <a16:creationId xmlns:a16="http://schemas.microsoft.com/office/drawing/2014/main" id="{7F9E7DFC-A46D-CF15-691A-70B840B7F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2246"/>
              <a:ext cx="94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tony: Manager</a:t>
              </a:r>
            </a:p>
          </p:txBody>
        </p:sp>
        <p:sp>
          <p:nvSpPr>
            <p:cNvPr id="48" name="Rectangle 130">
              <a:extLst>
                <a:ext uri="{FF2B5EF4-FFF2-40B4-BE49-F238E27FC236}">
                  <a16:creationId xmlns:a16="http://schemas.microsoft.com/office/drawing/2014/main" id="{D744C684-12C2-7D06-8D8D-C00C639B9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496"/>
              <a:ext cx="1536" cy="2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9" name="Text Box 131">
              <a:extLst>
                <a:ext uri="{FF2B5EF4-FFF2-40B4-BE49-F238E27FC236}">
                  <a16:creationId xmlns:a16="http://schemas.microsoft.com/office/drawing/2014/main" id="{18A9A948-DF48-886D-83C0-A7E1F0E91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496"/>
              <a:ext cx="135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de-DE" sz="1600" dirty="0" err="1">
                  <a:solidFill>
                    <a:schemeClr val="tx2"/>
                  </a:solidFill>
                </a:rPr>
                <a:t>name</a:t>
              </a:r>
              <a:r>
                <a:rPr lang="de-DE" sz="1600" dirty="0">
                  <a:solidFill>
                    <a:schemeClr val="tx2"/>
                  </a:solidFill>
                </a:rPr>
                <a:t> = „Tony Smith“ </a:t>
              </a:r>
            </a:p>
          </p:txBody>
        </p:sp>
        <p:sp>
          <p:nvSpPr>
            <p:cNvPr id="52" name="Rectangle 128">
              <a:extLst>
                <a:ext uri="{FF2B5EF4-FFF2-40B4-BE49-F238E27FC236}">
                  <a16:creationId xmlns:a16="http://schemas.microsoft.com/office/drawing/2014/main" id="{A19F054C-0A73-505D-DE86-E60365193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208"/>
              <a:ext cx="1536" cy="5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3" name="Textfeld 103">
            <a:extLst>
              <a:ext uri="{FF2B5EF4-FFF2-40B4-BE49-F238E27FC236}">
                <a16:creationId xmlns:a16="http://schemas.microsoft.com/office/drawing/2014/main" id="{6EC77D26-E9A8-6B01-413E-438A1B8D0695}"/>
              </a:ext>
            </a:extLst>
          </p:cNvPr>
          <p:cNvSpPr txBox="1"/>
          <p:nvPr/>
        </p:nvSpPr>
        <p:spPr>
          <a:xfrm>
            <a:off x="305304" y="4937446"/>
            <a:ext cx="1140056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>
                <a:solidFill>
                  <a:schemeClr val="tx2"/>
                </a:solidFill>
              </a:rPr>
              <a:t>managedBy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6" name="AutoShape 40">
            <a:extLst>
              <a:ext uri="{FF2B5EF4-FFF2-40B4-BE49-F238E27FC236}">
                <a16:creationId xmlns:a16="http://schemas.microsoft.com/office/drawing/2014/main" id="{2CB15FE4-A0E7-C66A-08AA-329455D1E18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512745" y="3728058"/>
            <a:ext cx="627729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OD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10B15F9-67C2-6FE1-C753-06DEFBAD500E}"/>
              </a:ext>
            </a:extLst>
          </p:cNvPr>
          <p:cNvSpPr txBox="1"/>
          <p:nvPr/>
        </p:nvSpPr>
        <p:spPr>
          <a:xfrm>
            <a:off x="7497737" y="4332721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Employee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5B863578-5367-5710-A336-F94B6525CDEC}"/>
              </a:ext>
            </a:extLst>
          </p:cNvPr>
          <p:cNvSpPr/>
          <p:nvPr/>
        </p:nvSpPr>
        <p:spPr>
          <a:xfrm>
            <a:off x="10278594" y="4328279"/>
            <a:ext cx="1153999" cy="3429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sz="1600" dirty="0">
                <a:latin typeface="Arial" charset="0"/>
              </a:rPr>
              <a:t>Task</a:t>
            </a:r>
          </a:p>
        </p:txBody>
      </p:sp>
      <p:sp>
        <p:nvSpPr>
          <p:cNvPr id="59" name="AutoShape 40">
            <a:extLst>
              <a:ext uri="{FF2B5EF4-FFF2-40B4-BE49-F238E27FC236}">
                <a16:creationId xmlns:a16="http://schemas.microsoft.com/office/drawing/2014/main" id="{2A4CA15C-1101-CF8D-F239-44B9A41EE9A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14940" y="3689865"/>
            <a:ext cx="653060" cy="342993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60" name="Textfeld 192">
            <a:extLst>
              <a:ext uri="{FF2B5EF4-FFF2-40B4-BE49-F238E27FC236}">
                <a16:creationId xmlns:a16="http://schemas.microsoft.com/office/drawing/2014/main" id="{8B93574D-871F-B94A-00EC-01CA97434382}"/>
              </a:ext>
            </a:extLst>
          </p:cNvPr>
          <p:cNvSpPr txBox="1"/>
          <p:nvPr/>
        </p:nvSpPr>
        <p:spPr>
          <a:xfrm>
            <a:off x="10027060" y="4257130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*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54412708-2868-3F1A-6366-F01590418806}"/>
              </a:ext>
            </a:extLst>
          </p:cNvPr>
          <p:cNvSpPr txBox="1"/>
          <p:nvPr/>
        </p:nvSpPr>
        <p:spPr>
          <a:xfrm>
            <a:off x="7497737" y="5366564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Manager</a:t>
            </a:r>
          </a:p>
        </p:txBody>
      </p:sp>
      <p:sp>
        <p:nvSpPr>
          <p:cNvPr id="62" name="Textfeld 103">
            <a:extLst>
              <a:ext uri="{FF2B5EF4-FFF2-40B4-BE49-F238E27FC236}">
                <a16:creationId xmlns:a16="http://schemas.microsoft.com/office/drawing/2014/main" id="{2B67DD61-762C-4D94-A0AB-FD022C557104}"/>
              </a:ext>
            </a:extLst>
          </p:cNvPr>
          <p:cNvSpPr txBox="1"/>
          <p:nvPr/>
        </p:nvSpPr>
        <p:spPr>
          <a:xfrm>
            <a:off x="6970731" y="5074175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managedBy</a:t>
            </a:r>
            <a:endParaRPr lang="en-US" dirty="0"/>
          </a:p>
        </p:txBody>
      </p:sp>
      <p:sp>
        <p:nvSpPr>
          <p:cNvPr id="66" name="Textfeld 103">
            <a:extLst>
              <a:ext uri="{FF2B5EF4-FFF2-40B4-BE49-F238E27FC236}">
                <a16:creationId xmlns:a16="http://schemas.microsoft.com/office/drawing/2014/main" id="{5432F076-B43D-C9EF-2C3E-3A6CB33EDAD5}"/>
              </a:ext>
            </a:extLst>
          </p:cNvPr>
          <p:cNvSpPr txBox="1"/>
          <p:nvPr/>
        </p:nvSpPr>
        <p:spPr>
          <a:xfrm>
            <a:off x="9793927" y="4464710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todo</a:t>
            </a:r>
            <a:endParaRPr lang="en-US" dirty="0"/>
          </a:p>
        </p:txBody>
      </p: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D7BA3D5C-D191-EAD0-62C7-C53EB1DF17C0}"/>
              </a:ext>
            </a:extLst>
          </p:cNvPr>
          <p:cNvCxnSpPr>
            <a:cxnSpLocks/>
            <a:stCxn id="57" idx="2"/>
            <a:endCxn id="61" idx="0"/>
          </p:cNvCxnSpPr>
          <p:nvPr/>
        </p:nvCxnSpPr>
        <p:spPr>
          <a:xfrm>
            <a:off x="8083795" y="4671275"/>
            <a:ext cx="0" cy="69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BEE9BAEC-56A6-5B86-3EDA-E01D6E318A57}"/>
              </a:ext>
            </a:extLst>
          </p:cNvPr>
          <p:cNvCxnSpPr>
            <a:stCxn id="57" idx="3"/>
            <a:endCxn id="58" idx="1"/>
          </p:cNvCxnSpPr>
          <p:nvPr/>
        </p:nvCxnSpPr>
        <p:spPr>
          <a:xfrm flipV="1">
            <a:off x="8669853" y="4499777"/>
            <a:ext cx="1608741" cy="2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feld 192">
            <a:extLst>
              <a:ext uri="{FF2B5EF4-FFF2-40B4-BE49-F238E27FC236}">
                <a16:creationId xmlns:a16="http://schemas.microsoft.com/office/drawing/2014/main" id="{CB1789D4-4200-6B36-0CC4-A7B6DD15378C}"/>
              </a:ext>
            </a:extLst>
          </p:cNvPr>
          <p:cNvSpPr txBox="1"/>
          <p:nvPr/>
        </p:nvSpPr>
        <p:spPr>
          <a:xfrm>
            <a:off x="8083795" y="508101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1</a:t>
            </a:r>
          </a:p>
        </p:txBody>
      </p: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51C8356C-A1A9-EB7D-0AFF-7814AEC4169D}"/>
              </a:ext>
            </a:extLst>
          </p:cNvPr>
          <p:cNvCxnSpPr>
            <a:cxnSpLocks/>
          </p:cNvCxnSpPr>
          <p:nvPr/>
        </p:nvCxnSpPr>
        <p:spPr>
          <a:xfrm>
            <a:off x="4469007" y="5231373"/>
            <a:ext cx="2205193" cy="0"/>
          </a:xfrm>
          <a:prstGeom prst="straightConnector1">
            <a:avLst/>
          </a:prstGeom>
          <a:ln w="508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98455986-873B-0C8A-1D7E-2C4A5CE941F7}"/>
                  </a:ext>
                </a:extLst>
              </p:cNvPr>
              <p:cNvSpPr txBox="1"/>
              <p:nvPr/>
            </p:nvSpPr>
            <p:spPr>
              <a:xfrm>
                <a:off x="4700008" y="4863443"/>
                <a:ext cx="17447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𝒔𝒆</m:t>
                      </m:r>
                      <m:sSub>
                        <m:sSubPr>
                          <m:ctrlP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𝒐𝒘</m:t>
                          </m:r>
                        </m:sub>
                      </m:sSub>
                      <m:d>
                        <m:dPr>
                          <m:ctrlP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m:oMathPara>
                </a14:m>
                <a:endParaRPr lang="de-DE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98455986-873B-0C8A-1D7E-2C4A5CE94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008" y="4863443"/>
                <a:ext cx="17447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12A3EEDF-0D8D-4B9E-6E7C-BCDB97DD0169}"/>
              </a:ext>
            </a:extLst>
          </p:cNvPr>
          <p:cNvCxnSpPr>
            <a:cxnSpLocks/>
          </p:cNvCxnSpPr>
          <p:nvPr/>
        </p:nvCxnSpPr>
        <p:spPr>
          <a:xfrm>
            <a:off x="4470359" y="4446445"/>
            <a:ext cx="2205193" cy="0"/>
          </a:xfrm>
          <a:prstGeom prst="straightConnector1">
            <a:avLst/>
          </a:prstGeom>
          <a:ln w="508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A6ADFF1F-2766-E092-7655-9513D5473153}"/>
                  </a:ext>
                </a:extLst>
              </p:cNvPr>
              <p:cNvSpPr txBox="1"/>
              <p:nvPr/>
            </p:nvSpPr>
            <p:spPr>
              <a:xfrm>
                <a:off x="4600224" y="4078515"/>
                <a:ext cx="18604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de-D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𝒔𝒆</m:t>
                      </m:r>
                      <m:sSub>
                        <m:sSubPr>
                          <m:ctrlP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𝒄𝒘</m:t>
                          </m:r>
                        </m:sub>
                      </m:sSub>
                      <m:d>
                        <m:dPr>
                          <m:ctrlP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m:oMathPara>
                </a14:m>
                <a:endParaRPr lang="de-DE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A6ADFF1F-2766-E092-7655-9513D5473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224" y="4078515"/>
                <a:ext cx="18604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245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39AA9B72-B81E-4670-A1C0-F77733E308BF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384001" y="1236273"/>
                <a:ext cx="5712000" cy="4385455"/>
              </a:xfrm>
            </p:spPr>
            <p:txBody>
              <a:bodyPr/>
              <a:lstStyle/>
              <a:p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CD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A’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 is an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expansion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 of CD A </a:t>
                </a:r>
                <a:r>
                  <a:rPr lang="en-US" dirty="0" err="1">
                    <a:latin typeface="+mj-lt"/>
                    <a:cs typeface="Courier New" panose="02070309020205020404" pitchFamily="49" charset="0"/>
                  </a:rPr>
                  <a:t>iff</a:t>
                </a:r>
                <a:endParaRPr lang="en-US" dirty="0">
                  <a:latin typeface="+mj-lt"/>
                  <a:cs typeface="Courier New" panose="02070309020205020404" pitchFamily="49" charset="0"/>
                </a:endParaRPr>
              </a:p>
              <a:p>
                <a:pPr lvl="1"/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all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classes, attributes and associations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 in A are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also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 in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A’</a:t>
                </a:r>
              </a:p>
              <a:p>
                <a:pPr lvl="1"/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and all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inheritance relations 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are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preserved</a:t>
                </a:r>
              </a:p>
              <a:p>
                <a:pPr lvl="1"/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but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A’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 may contain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additional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 elements</a:t>
                </a:r>
              </a:p>
              <a:p>
                <a:pPr lvl="1"/>
                <a:endParaRPr lang="en-US" dirty="0">
                  <a:latin typeface="+mj-lt"/>
                  <a:cs typeface="Courier New" panose="02070309020205020404" pitchFamily="49" charset="0"/>
                </a:endParaRPr>
              </a:p>
              <a:p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A merge is a minimal expansion of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all parts</a:t>
                </a:r>
              </a:p>
              <a:p>
                <a:pPr lvl="1"/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i.e.: includes precisely all elements and specifications that are present in 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at least one component 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and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cs typeface="Courier New" panose="02070309020205020404" pitchFamily="49" charset="0"/>
                  </a:rPr>
                  <a:t> nothing more</a:t>
                </a:r>
              </a:p>
              <a:p>
                <a:endParaRPr lang="en-US" dirty="0">
                  <a:latin typeface="+mj-lt"/>
                  <a:cs typeface="Courier New" panose="02070309020205020404" pitchFamily="49" charset="0"/>
                </a:endParaRPr>
              </a:p>
              <a:p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Thus, </a:t>
                </a:r>
                <a:r>
                  <a:rPr lang="en-US" dirty="0">
                    <a:latin typeface="+mj-lt"/>
                    <a:ea typeface="Cambria Math" panose="02040503050406030204" pitchFamily="18" charset="0"/>
                  </a:rPr>
                  <a:t>without adding any additional information / specification</a:t>
                </a:r>
                <a:r>
                  <a:rPr lang="en-US" dirty="0">
                    <a:latin typeface="+mj-lt"/>
                    <a:ea typeface="Cambria Math" panose="02040503050406030204" pitchFamily="18" charset="0"/>
                    <a:cs typeface="Courier New" panose="02070309020205020404" pitchFamily="49" charset="0"/>
                  </a:rPr>
                  <a:t>,</a:t>
                </a:r>
                <a:r>
                  <a:rPr lang="en-US" dirty="0">
                    <a:solidFill>
                      <a:schemeClr val="tx2"/>
                    </a:solidFill>
                    <a:latin typeface="+mj-lt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we can achieve: </a:t>
                </a:r>
              </a:p>
              <a:p>
                <a:pPr marL="432000" lvl="2" indent="0">
                  <a:buNone/>
                </a:pPr>
                <a:endParaRPr lang="en-US" i="1" dirty="0">
                  <a:solidFill>
                    <a:schemeClr val="accent6"/>
                  </a:solidFill>
                  <a:latin typeface="+mj-lt"/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pPr marL="4320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</m:t>
                      </m:r>
                      <m:sSub>
                        <m:sSubPr>
                          <m:ctrlPr>
                            <a:rPr lang="de-D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𝑜𝑤</m:t>
                          </m:r>
                        </m:sub>
                      </m:sSub>
                      <m:d>
                        <m:dPr>
                          <m:ctrlPr>
                            <a:rPr lang="en-US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de-DE" sz="18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US" sz="18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</m:t>
                      </m:r>
                      <m:sSub>
                        <m:sSubPr>
                          <m:ctrlPr>
                            <a:rPr lang="de-D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err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𝑜𝑤</m:t>
                          </m:r>
                        </m:sub>
                      </m:sSub>
                      <m:d>
                        <m:dPr>
                          <m:ctrlPr>
                            <a:rPr lang="en-US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de-DE" sz="18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de-DE" sz="18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</m:t>
                      </m:r>
                      <m:sSub>
                        <m:sSubPr>
                          <m:ctrlPr>
                            <a:rPr lang="de-D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err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𝑜𝑤</m:t>
                          </m:r>
                        </m:sub>
                      </m:sSub>
                      <m:r>
                        <a:rPr lang="en-US" sz="18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8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de-DE" sz="18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32000" lvl="2" indent="0">
                  <a:buNone/>
                </a:pPr>
                <a:endParaRPr lang="en-US" sz="1800" dirty="0">
                  <a:solidFill>
                    <a:schemeClr val="tx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dirty="0">
                  <a:solidFill>
                    <a:schemeClr val="tx2"/>
                  </a:solidFill>
                  <a:latin typeface="+mj-lt"/>
                  <a:cs typeface="Courier New" panose="02070309020205020404" pitchFamily="49" charset="0"/>
                </a:endParaRPr>
              </a:p>
              <a:p>
                <a:endParaRPr lang="en-US" dirty="0">
                  <a:solidFill>
                    <a:schemeClr val="tx2"/>
                  </a:solidFill>
                  <a:latin typeface="+mj-lt"/>
                  <a:cs typeface="Courier New" panose="02070309020205020404" pitchFamily="49" charset="0"/>
                </a:endParaRPr>
              </a:p>
              <a:p>
                <a:pPr lvl="1"/>
                <a:endParaRPr lang="en-US" dirty="0">
                  <a:latin typeface="+mj-lt"/>
                  <a:cs typeface="Courier New" panose="02070309020205020404" pitchFamily="49" charset="0"/>
                </a:endParaRPr>
              </a:p>
              <a:p>
                <a:pPr lvl="1"/>
                <a:endParaRPr lang="en-US" dirty="0">
                  <a:latin typeface="+mj-lt"/>
                  <a:cs typeface="Courier New" panose="02070309020205020404" pitchFamily="49" charset="0"/>
                </a:endParaRPr>
              </a:p>
              <a:p>
                <a:pPr lvl="1"/>
                <a:endParaRPr lang="en-US" dirty="0">
                  <a:latin typeface="+mj-lt"/>
                  <a:cs typeface="Courier New" panose="02070309020205020404" pitchFamily="49" charset="0"/>
                </a:endParaRPr>
              </a:p>
              <a:p>
                <a:pPr lvl="1"/>
                <a:endParaRPr lang="en-US" dirty="0">
                  <a:latin typeface="+mj-lt"/>
                  <a:cs typeface="Courier New" panose="02070309020205020404" pitchFamily="49" charset="0"/>
                </a:endParaRPr>
              </a:p>
              <a:p>
                <a:pPr lvl="1"/>
                <a:endParaRPr lang="en-US" dirty="0"/>
              </a:p>
              <a:p>
                <a:pPr marL="216000" lvl="1" indent="0">
                  <a:buNone/>
                </a:pPr>
                <a:endParaRPr lang="en-US" dirty="0">
                  <a:latin typeface="+mj-lt"/>
                  <a:cs typeface="Courier New" panose="02070309020205020404" pitchFamily="49" charset="0"/>
                </a:endParaRPr>
              </a:p>
              <a:p>
                <a:pPr lvl="1"/>
                <a:endParaRPr lang="en-US" dirty="0">
                  <a:latin typeface="+mj-lt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39AA9B72-B81E-4670-A1C0-F77733E308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384001" y="1236273"/>
                <a:ext cx="5712000" cy="4385455"/>
              </a:xfrm>
              <a:blipFill>
                <a:blip r:embed="rId3"/>
                <a:stretch>
                  <a:fillRect l="-2348" t="-1808" r="-16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3418FFFC-9126-4BE2-B6C2-23B4D25E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A Merge of CDs is a Minimal Expansion!</a:t>
            </a:r>
            <a:endParaRPr lang="en-US" dirty="0"/>
          </a:p>
        </p:txBody>
      </p:sp>
      <p:cxnSp>
        <p:nvCxnSpPr>
          <p:cNvPr id="115" name="Gerade Verbindung 49">
            <a:extLst>
              <a:ext uri="{FF2B5EF4-FFF2-40B4-BE49-F238E27FC236}">
                <a16:creationId xmlns:a16="http://schemas.microsoft.com/office/drawing/2014/main" id="{C3661AC0-14EA-E8F6-0CFB-8F69B0BFBAB1}"/>
              </a:ext>
            </a:extLst>
          </p:cNvPr>
          <p:cNvCxnSpPr>
            <a:cxnSpLocks/>
          </p:cNvCxnSpPr>
          <p:nvPr/>
        </p:nvCxnSpPr>
        <p:spPr>
          <a:xfrm>
            <a:off x="6109307" y="1011792"/>
            <a:ext cx="0" cy="485955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EA8775A1-B7DE-75CD-EB34-9983E4E70CD0}"/>
              </a:ext>
            </a:extLst>
          </p:cNvPr>
          <p:cNvSpPr txBox="1"/>
          <p:nvPr/>
        </p:nvSpPr>
        <p:spPr>
          <a:xfrm>
            <a:off x="7548537" y="1494017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Employee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D0AAB53F-304F-E4BA-A53D-DFD0C31D9097}"/>
              </a:ext>
            </a:extLst>
          </p:cNvPr>
          <p:cNvSpPr/>
          <p:nvPr/>
        </p:nvSpPr>
        <p:spPr>
          <a:xfrm>
            <a:off x="10329394" y="1489575"/>
            <a:ext cx="1153999" cy="3429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sz="1600" dirty="0">
                <a:latin typeface="Arial" charset="0"/>
              </a:rPr>
              <a:t>Task</a:t>
            </a:r>
          </a:p>
        </p:txBody>
      </p:sp>
      <p:sp>
        <p:nvSpPr>
          <p:cNvPr id="50" name="AutoShape 40">
            <a:extLst>
              <a:ext uri="{FF2B5EF4-FFF2-40B4-BE49-F238E27FC236}">
                <a16:creationId xmlns:a16="http://schemas.microsoft.com/office/drawing/2014/main" id="{C5303C71-61F0-829E-0757-76888C37C64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325370" y="930373"/>
            <a:ext cx="653060" cy="342993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51" name="Textfeld 192">
            <a:extLst>
              <a:ext uri="{FF2B5EF4-FFF2-40B4-BE49-F238E27FC236}">
                <a16:creationId xmlns:a16="http://schemas.microsoft.com/office/drawing/2014/main" id="{F2396298-4203-C7E0-60ED-6C3F298EBF0C}"/>
              </a:ext>
            </a:extLst>
          </p:cNvPr>
          <p:cNvSpPr txBox="1"/>
          <p:nvPr/>
        </p:nvSpPr>
        <p:spPr>
          <a:xfrm>
            <a:off x="10077860" y="1418426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*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8F0DCA5-8F12-303B-6044-0937603CFA10}"/>
              </a:ext>
            </a:extLst>
          </p:cNvPr>
          <p:cNvSpPr txBox="1"/>
          <p:nvPr/>
        </p:nvSpPr>
        <p:spPr>
          <a:xfrm>
            <a:off x="7548537" y="2527860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Manager</a:t>
            </a:r>
          </a:p>
        </p:txBody>
      </p:sp>
      <p:sp>
        <p:nvSpPr>
          <p:cNvPr id="53" name="Textfeld 103">
            <a:extLst>
              <a:ext uri="{FF2B5EF4-FFF2-40B4-BE49-F238E27FC236}">
                <a16:creationId xmlns:a16="http://schemas.microsoft.com/office/drawing/2014/main" id="{A113A758-D380-5FBA-D8E8-C5F90082006D}"/>
              </a:ext>
            </a:extLst>
          </p:cNvPr>
          <p:cNvSpPr txBox="1"/>
          <p:nvPr/>
        </p:nvSpPr>
        <p:spPr>
          <a:xfrm>
            <a:off x="7021531" y="2235471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managedBy</a:t>
            </a:r>
            <a:endParaRPr lang="en-US" dirty="0"/>
          </a:p>
        </p:txBody>
      </p:sp>
      <p:sp>
        <p:nvSpPr>
          <p:cNvPr id="54" name="Textfeld 192">
            <a:extLst>
              <a:ext uri="{FF2B5EF4-FFF2-40B4-BE49-F238E27FC236}">
                <a16:creationId xmlns:a16="http://schemas.microsoft.com/office/drawing/2014/main" id="{5D358B4B-CCF5-80AD-5AF0-C73207BE1D3D}"/>
              </a:ext>
            </a:extLst>
          </p:cNvPr>
          <p:cNvSpPr txBox="1"/>
          <p:nvPr/>
        </p:nvSpPr>
        <p:spPr>
          <a:xfrm>
            <a:off x="8444452" y="4107847"/>
            <a:ext cx="453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>
                <a:solidFill>
                  <a:schemeClr val="tx2"/>
                </a:solidFill>
              </a:rPr>
              <a:t>1..*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3DDB4B40-502C-9872-A0EE-A8747445D9ED}"/>
              </a:ext>
            </a:extLst>
          </p:cNvPr>
          <p:cNvSpPr txBox="1"/>
          <p:nvPr/>
        </p:nvSpPr>
        <p:spPr>
          <a:xfrm>
            <a:off x="7271927" y="5308331"/>
            <a:ext cx="124211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Manager</a:t>
            </a:r>
          </a:p>
        </p:txBody>
      </p:sp>
      <p:sp>
        <p:nvSpPr>
          <p:cNvPr id="56" name="Textfeld 103">
            <a:extLst>
              <a:ext uri="{FF2B5EF4-FFF2-40B4-BE49-F238E27FC236}">
                <a16:creationId xmlns:a16="http://schemas.microsoft.com/office/drawing/2014/main" id="{24CC0158-9C65-1586-9E9B-AB1438633DAD}"/>
              </a:ext>
            </a:extLst>
          </p:cNvPr>
          <p:cNvSpPr txBox="1"/>
          <p:nvPr/>
        </p:nvSpPr>
        <p:spPr>
          <a:xfrm>
            <a:off x="6170227" y="5447904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managedBy</a:t>
            </a:r>
            <a:endParaRPr lang="en-US" dirty="0"/>
          </a:p>
        </p:txBody>
      </p:sp>
      <p:sp>
        <p:nvSpPr>
          <p:cNvPr id="57" name="Textfeld 192">
            <a:extLst>
              <a:ext uri="{FF2B5EF4-FFF2-40B4-BE49-F238E27FC236}">
                <a16:creationId xmlns:a16="http://schemas.microsoft.com/office/drawing/2014/main" id="{47D47743-1B19-3732-EDAC-D1AA7C60D30D}"/>
              </a:ext>
            </a:extLst>
          </p:cNvPr>
          <p:cNvSpPr txBox="1"/>
          <p:nvPr/>
        </p:nvSpPr>
        <p:spPr>
          <a:xfrm>
            <a:off x="7052772" y="520334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1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EB2DE27-CAE6-B188-5194-5F6265263DE4}"/>
              </a:ext>
            </a:extLst>
          </p:cNvPr>
          <p:cNvGrpSpPr/>
          <p:nvPr/>
        </p:nvGrpSpPr>
        <p:grpSpPr>
          <a:xfrm>
            <a:off x="7244696" y="3851935"/>
            <a:ext cx="1279819" cy="1071434"/>
            <a:chOff x="1028583" y="2857502"/>
            <a:chExt cx="2512421" cy="1665702"/>
          </a:xfrm>
        </p:grpSpPr>
        <p:sp>
          <p:nvSpPr>
            <p:cNvPr id="59" name="Rectangle 10">
              <a:extLst>
                <a:ext uri="{FF2B5EF4-FFF2-40B4-BE49-F238E27FC236}">
                  <a16:creationId xmlns:a16="http://schemas.microsoft.com/office/drawing/2014/main" id="{BF403CDE-98E0-88A0-7072-D1E5CAD70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2"/>
              <a:ext cx="2458963" cy="11130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60" name="Text Box 11">
              <a:extLst>
                <a:ext uri="{FF2B5EF4-FFF2-40B4-BE49-F238E27FC236}">
                  <a16:creationId xmlns:a16="http://schemas.microsoft.com/office/drawing/2014/main" id="{3A3FE2A3-8135-F2AA-9952-E701524D7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7621" y="2917825"/>
              <a:ext cx="1812020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Employee</a:t>
              </a:r>
            </a:p>
          </p:txBody>
        </p:sp>
        <p:sp>
          <p:nvSpPr>
            <p:cNvPr id="61" name="Rectangle 12">
              <a:extLst>
                <a:ext uri="{FF2B5EF4-FFF2-40B4-BE49-F238E27FC236}">
                  <a16:creationId xmlns:a16="http://schemas.microsoft.com/office/drawing/2014/main" id="{B062EFA8-CDBD-C872-2887-B44E33608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78883"/>
              <a:ext cx="2458964" cy="5916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62" name="Text Box 13">
              <a:extLst>
                <a:ext uri="{FF2B5EF4-FFF2-40B4-BE49-F238E27FC236}">
                  <a16:creationId xmlns:a16="http://schemas.microsoft.com/office/drawing/2014/main" id="{2F7704F2-6BDA-7E4D-35BB-11316DE71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63" name="Text Box 14">
              <a:extLst>
                <a:ext uri="{FF2B5EF4-FFF2-40B4-BE49-F238E27FC236}">
                  <a16:creationId xmlns:a16="http://schemas.microsoft.com/office/drawing/2014/main" id="{982FA616-F7EE-FF97-AE48-CFD6B3716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583" y="3386127"/>
              <a:ext cx="2512421" cy="526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chemeClr val="tx2"/>
                  </a:solidFill>
                </a:rPr>
                <a:t>String name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400D8BDD-D9A9-DC83-7E03-51F1AADF636C}"/>
              </a:ext>
            </a:extLst>
          </p:cNvPr>
          <p:cNvGrpSpPr/>
          <p:nvPr/>
        </p:nvGrpSpPr>
        <p:grpSpPr>
          <a:xfrm>
            <a:off x="10307026" y="3832885"/>
            <a:ext cx="1447832" cy="1111408"/>
            <a:chOff x="1067667" y="2857500"/>
            <a:chExt cx="2550177" cy="1665704"/>
          </a:xfrm>
        </p:grpSpPr>
        <p:sp>
          <p:nvSpPr>
            <p:cNvPr id="65" name="Rectangle 10">
              <a:extLst>
                <a:ext uri="{FF2B5EF4-FFF2-40B4-BE49-F238E27FC236}">
                  <a16:creationId xmlns:a16="http://schemas.microsoft.com/office/drawing/2014/main" id="{EC705BF9-C89B-1BCE-A31E-8577F18EC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0729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 dirty="0"/>
            </a:p>
          </p:txBody>
        </p:sp>
        <p:sp>
          <p:nvSpPr>
            <p:cNvPr id="66" name="Text Box 11">
              <a:extLst>
                <a:ext uri="{FF2B5EF4-FFF2-40B4-BE49-F238E27FC236}">
                  <a16:creationId xmlns:a16="http://schemas.microsoft.com/office/drawing/2014/main" id="{4C4B13D9-CCAC-9DEC-61D2-8FF34285D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5906" y="2917825"/>
              <a:ext cx="1115448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Task</a:t>
              </a:r>
            </a:p>
          </p:txBody>
        </p:sp>
        <p:sp>
          <p:nvSpPr>
            <p:cNvPr id="67" name="Rectangle 12">
              <a:extLst>
                <a:ext uri="{FF2B5EF4-FFF2-40B4-BE49-F238E27FC236}">
                  <a16:creationId xmlns:a16="http://schemas.microsoft.com/office/drawing/2014/main" id="{B2D32BCF-BBC2-AD3E-8EAE-9D2C422FE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78881"/>
              <a:ext cx="2438400" cy="5515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 dirty="0"/>
            </a:p>
          </p:txBody>
        </p:sp>
        <p:sp>
          <p:nvSpPr>
            <p:cNvPr id="68" name="Text Box 13">
              <a:extLst>
                <a:ext uri="{FF2B5EF4-FFF2-40B4-BE49-F238E27FC236}">
                  <a16:creationId xmlns:a16="http://schemas.microsoft.com/office/drawing/2014/main" id="{5D36539C-5575-C3D9-93E0-BF0FD146C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69" name="Text Box 14">
              <a:extLst>
                <a:ext uri="{FF2B5EF4-FFF2-40B4-BE49-F238E27FC236}">
                  <a16:creationId xmlns:a16="http://schemas.microsoft.com/office/drawing/2014/main" id="{DDC7B123-9D76-F44C-59C0-85A84EA3E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667" y="3392794"/>
              <a:ext cx="2550177" cy="507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chemeClr val="tx2"/>
                  </a:solidFill>
                </a:rPr>
                <a:t>Date deadline</a:t>
              </a:r>
            </a:p>
          </p:txBody>
        </p:sp>
      </p:grpSp>
      <p:sp>
        <p:nvSpPr>
          <p:cNvPr id="70" name="Textfeld 192">
            <a:extLst>
              <a:ext uri="{FF2B5EF4-FFF2-40B4-BE49-F238E27FC236}">
                <a16:creationId xmlns:a16="http://schemas.microsoft.com/office/drawing/2014/main" id="{B3A7CF25-47C7-97F9-EE42-31FE7927D533}"/>
              </a:ext>
            </a:extLst>
          </p:cNvPr>
          <p:cNvSpPr txBox="1"/>
          <p:nvPr/>
        </p:nvSpPr>
        <p:spPr>
          <a:xfrm>
            <a:off x="10070907" y="4113919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*</a:t>
            </a:r>
          </a:p>
        </p:txBody>
      </p:sp>
      <p:sp>
        <p:nvSpPr>
          <p:cNvPr id="71" name="Line 36">
            <a:extLst>
              <a:ext uri="{FF2B5EF4-FFF2-40B4-BE49-F238E27FC236}">
                <a16:creationId xmlns:a16="http://schemas.microsoft.com/office/drawing/2014/main" id="{9E53C42A-DE6E-FEC5-7295-E671D9DA60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90065" y="4846407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lg" len="lg"/>
          </a:ln>
        </p:spPr>
        <p:txBody>
          <a:bodyPr>
            <a:spAutoFit/>
          </a:bodyPr>
          <a:lstStyle/>
          <a:p>
            <a:endParaRPr lang="de-DE" dirty="0"/>
          </a:p>
        </p:txBody>
      </p:sp>
      <p:sp>
        <p:nvSpPr>
          <p:cNvPr id="72" name="AutoShape 37">
            <a:extLst>
              <a:ext uri="{FF2B5EF4-FFF2-40B4-BE49-F238E27FC236}">
                <a16:creationId xmlns:a16="http://schemas.microsoft.com/office/drawing/2014/main" id="{580065D5-6936-3253-A29E-4568C31EA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7665" y="4586057"/>
            <a:ext cx="304800" cy="29051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75" name="Gerade Verbindung 49">
            <a:extLst>
              <a:ext uri="{FF2B5EF4-FFF2-40B4-BE49-F238E27FC236}">
                <a16:creationId xmlns:a16="http://schemas.microsoft.com/office/drawing/2014/main" id="{949ADF8A-9676-7790-35BF-BBB85216F6C1}"/>
              </a:ext>
            </a:extLst>
          </p:cNvPr>
          <p:cNvCxnSpPr>
            <a:cxnSpLocks/>
          </p:cNvCxnSpPr>
          <p:nvPr/>
        </p:nvCxnSpPr>
        <p:spPr>
          <a:xfrm flipH="1">
            <a:off x="6156288" y="3080587"/>
            <a:ext cx="59618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feld 103">
            <a:extLst>
              <a:ext uri="{FF2B5EF4-FFF2-40B4-BE49-F238E27FC236}">
                <a16:creationId xmlns:a16="http://schemas.microsoft.com/office/drawing/2014/main" id="{9F8604FD-3E9B-9FEA-F0E8-8B73FAE74F7B}"/>
              </a:ext>
            </a:extLst>
          </p:cNvPr>
          <p:cNvSpPr txBox="1"/>
          <p:nvPr/>
        </p:nvSpPr>
        <p:spPr>
          <a:xfrm>
            <a:off x="9844727" y="1626006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todo</a:t>
            </a:r>
            <a:endParaRPr lang="en-US" dirty="0"/>
          </a:p>
        </p:txBody>
      </p:sp>
      <p:sp>
        <p:nvSpPr>
          <p:cNvPr id="77" name="Textfeld 103">
            <a:extLst>
              <a:ext uri="{FF2B5EF4-FFF2-40B4-BE49-F238E27FC236}">
                <a16:creationId xmlns:a16="http://schemas.microsoft.com/office/drawing/2014/main" id="{1E8906E5-DEAA-D109-414F-207C36D1518B}"/>
              </a:ext>
            </a:extLst>
          </p:cNvPr>
          <p:cNvSpPr txBox="1"/>
          <p:nvPr/>
        </p:nvSpPr>
        <p:spPr>
          <a:xfrm>
            <a:off x="9838987" y="4344877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todo</a:t>
            </a:r>
            <a:endParaRPr lang="en-US" dirty="0"/>
          </a:p>
        </p:txBody>
      </p:sp>
      <p:sp>
        <p:nvSpPr>
          <p:cNvPr id="78" name="AutoShape 40">
            <a:extLst>
              <a:ext uri="{FF2B5EF4-FFF2-40B4-BE49-F238E27FC236}">
                <a16:creationId xmlns:a16="http://schemas.microsoft.com/office/drawing/2014/main" id="{6A323374-7389-EC3C-E901-5FB8CDC0BEE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325370" y="3284743"/>
            <a:ext cx="653060" cy="342993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</a:t>
            </a:r>
            <a:r>
              <a:rPr lang="en-US" altLang="de-DE" sz="1600" dirty="0">
                <a:solidFill>
                  <a:schemeClr val="tx2"/>
                </a:solidFill>
              </a:rPr>
              <a:t>A’</a:t>
            </a:r>
          </a:p>
        </p:txBody>
      </p: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0DDCE04D-03FF-AE27-89D2-4DDF9021C32C}"/>
              </a:ext>
            </a:extLst>
          </p:cNvPr>
          <p:cNvCxnSpPr>
            <a:cxnSpLocks/>
            <a:stCxn id="63" idx="3"/>
            <a:endCxn id="69" idx="1"/>
          </p:cNvCxnSpPr>
          <p:nvPr/>
        </p:nvCxnSpPr>
        <p:spPr>
          <a:xfrm flipV="1">
            <a:off x="8524515" y="4359326"/>
            <a:ext cx="1782511" cy="1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Verbinder: gewinkelt 79">
            <a:extLst>
              <a:ext uri="{FF2B5EF4-FFF2-40B4-BE49-F238E27FC236}">
                <a16:creationId xmlns:a16="http://schemas.microsoft.com/office/drawing/2014/main" id="{7895876B-788C-49D6-F1D7-ABEF7C82DA57}"/>
              </a:ext>
            </a:extLst>
          </p:cNvPr>
          <p:cNvCxnSpPr>
            <a:cxnSpLocks/>
            <a:stCxn id="63" idx="1"/>
            <a:endCxn id="55" idx="1"/>
          </p:cNvCxnSpPr>
          <p:nvPr/>
        </p:nvCxnSpPr>
        <p:spPr>
          <a:xfrm rot="10800000" flipH="1" flipV="1">
            <a:off x="7244695" y="4361240"/>
            <a:ext cx="27231" cy="1116367"/>
          </a:xfrm>
          <a:prstGeom prst="bentConnector3">
            <a:avLst>
              <a:gd name="adj1" fmla="val -83948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CB5DA865-0E32-64DC-C70E-2BE8CBC8EBA3}"/>
              </a:ext>
            </a:extLst>
          </p:cNvPr>
          <p:cNvCxnSpPr>
            <a:stCxn id="48" idx="2"/>
            <a:endCxn id="52" idx="0"/>
          </p:cNvCxnSpPr>
          <p:nvPr/>
        </p:nvCxnSpPr>
        <p:spPr>
          <a:xfrm>
            <a:off x="8134595" y="1832571"/>
            <a:ext cx="0" cy="69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FA11FA1C-DF1B-50B9-FA24-CA92A9F7DDAA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 flipV="1">
            <a:off x="8720653" y="1661073"/>
            <a:ext cx="1608741" cy="2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feld 192">
            <a:extLst>
              <a:ext uri="{FF2B5EF4-FFF2-40B4-BE49-F238E27FC236}">
                <a16:creationId xmlns:a16="http://schemas.microsoft.com/office/drawing/2014/main" id="{A55D5DDF-3910-8010-DD58-ACC81E1AA4FC}"/>
              </a:ext>
            </a:extLst>
          </p:cNvPr>
          <p:cNvSpPr txBox="1"/>
          <p:nvPr/>
        </p:nvSpPr>
        <p:spPr>
          <a:xfrm>
            <a:off x="8134595" y="224231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1</a:t>
            </a:r>
          </a:p>
        </p:txBody>
      </p:sp>
      <p:sp>
        <p:nvSpPr>
          <p:cNvPr id="4" name="Text Box 1038">
            <a:extLst>
              <a:ext uri="{FF2B5EF4-FFF2-40B4-BE49-F238E27FC236}">
                <a16:creationId xmlns:a16="http://schemas.microsoft.com/office/drawing/2014/main" id="{2F86A9CA-BAF3-229A-0374-76D15CAE8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479" y="3223149"/>
            <a:ext cx="142058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de-DE" sz="1600" i="1" dirty="0">
                <a:solidFill>
                  <a:schemeClr val="tx2"/>
                </a:solidFill>
                <a:latin typeface="Comic Sans MS" pitchFamily="66" charset="0"/>
              </a:rPr>
              <a:t>A’ expands A</a:t>
            </a:r>
          </a:p>
        </p:txBody>
      </p:sp>
    </p:spTree>
    <p:extLst>
      <p:ext uri="{BB962C8B-B14F-4D97-AF65-F5344CB8AC3E}">
        <p14:creationId xmlns:p14="http://schemas.microsoft.com/office/powerpoint/2010/main" val="1965688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22AB2-116E-9A62-16B5-0FDE035E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el 2">
                <a:extLst>
                  <a:ext uri="{FF2B5EF4-FFF2-40B4-BE49-F238E27FC236}">
                    <a16:creationId xmlns:a16="http://schemas.microsoft.com/office/drawing/2014/main" id="{9F9E26F3-E252-0825-497B-0B62BC3A58B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cs typeface="Courier New" panose="02070309020205020404" pitchFamily="49" charset="0"/>
                  </a:rPr>
                  <a:t>Why can we not achieve: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𝒔𝒆</m:t>
                    </m:r>
                    <m:sSub>
                      <m:sSubPr>
                        <m:ctrlP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𝒐𝒘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𝒔𝒆</m:t>
                    </m:r>
                    <m:sSub>
                      <m:sSubPr>
                        <m:ctrlP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𝒐𝒘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de-DE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𝒔𝒆</m:t>
                    </m:r>
                    <m:sSub>
                      <m:sSubPr>
                        <m:ctrlP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de-DE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?</a:t>
                </a:r>
                <a:endParaRPr lang="en-US" dirty="0"/>
              </a:p>
            </p:txBody>
          </p:sp>
        </mc:Choice>
        <mc:Fallback>
          <p:sp>
            <p:nvSpPr>
              <p:cNvPr id="3" name="Titel 2">
                <a:extLst>
                  <a:ext uri="{FF2B5EF4-FFF2-40B4-BE49-F238E27FC236}">
                    <a16:creationId xmlns:a16="http://schemas.microsoft.com/office/drawing/2014/main" id="{9F9E26F3-E252-0825-497B-0B62BC3A58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80" b="-292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feld 132">
            <a:extLst>
              <a:ext uri="{FF2B5EF4-FFF2-40B4-BE49-F238E27FC236}">
                <a16:creationId xmlns:a16="http://schemas.microsoft.com/office/drawing/2014/main" id="{8F6EA0C9-6F8E-902C-E4DD-C634A6C732EE}"/>
              </a:ext>
            </a:extLst>
          </p:cNvPr>
          <p:cNvSpPr txBox="1"/>
          <p:nvPr/>
        </p:nvSpPr>
        <p:spPr>
          <a:xfrm>
            <a:off x="5990715" y="1715048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Employee</a:t>
            </a:r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D2EB12BB-0DAD-A69D-3C29-B9F095A99175}"/>
              </a:ext>
            </a:extLst>
          </p:cNvPr>
          <p:cNvSpPr/>
          <p:nvPr/>
        </p:nvSpPr>
        <p:spPr>
          <a:xfrm>
            <a:off x="7929605" y="1710606"/>
            <a:ext cx="1153999" cy="3429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sz="1600" dirty="0">
                <a:latin typeface="Arial" charset="0"/>
              </a:rPr>
              <a:t>Task</a:t>
            </a:r>
          </a:p>
        </p:txBody>
      </p:sp>
      <p:sp>
        <p:nvSpPr>
          <p:cNvPr id="135" name="AutoShape 40">
            <a:extLst>
              <a:ext uri="{FF2B5EF4-FFF2-40B4-BE49-F238E27FC236}">
                <a16:creationId xmlns:a16="http://schemas.microsoft.com/office/drawing/2014/main" id="{F6C1436D-AAFE-8B41-5641-C78FD828A5B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865951" y="1072192"/>
            <a:ext cx="653060" cy="342993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136" name="Textfeld 192">
            <a:extLst>
              <a:ext uri="{FF2B5EF4-FFF2-40B4-BE49-F238E27FC236}">
                <a16:creationId xmlns:a16="http://schemas.microsoft.com/office/drawing/2014/main" id="{CBB7F995-8C65-AAFB-F321-DA836C1F88C0}"/>
              </a:ext>
            </a:extLst>
          </p:cNvPr>
          <p:cNvSpPr txBox="1"/>
          <p:nvPr/>
        </p:nvSpPr>
        <p:spPr>
          <a:xfrm>
            <a:off x="7467759" y="1612025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>
                <a:solidFill>
                  <a:schemeClr val="accent6"/>
                </a:solidFill>
              </a:rPr>
              <a:t>1..*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DC591079-3FB0-E7F0-A450-1C244D0A3A03}"/>
              </a:ext>
            </a:extLst>
          </p:cNvPr>
          <p:cNvSpPr txBox="1"/>
          <p:nvPr/>
        </p:nvSpPr>
        <p:spPr>
          <a:xfrm>
            <a:off x="5990715" y="2748891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Manager</a:t>
            </a:r>
          </a:p>
        </p:txBody>
      </p:sp>
      <p:sp>
        <p:nvSpPr>
          <p:cNvPr id="138" name="Textfeld 103">
            <a:extLst>
              <a:ext uri="{FF2B5EF4-FFF2-40B4-BE49-F238E27FC236}">
                <a16:creationId xmlns:a16="http://schemas.microsoft.com/office/drawing/2014/main" id="{2BD42B72-7D7B-3B98-8CC7-BA37E7BD2C6C}"/>
              </a:ext>
            </a:extLst>
          </p:cNvPr>
          <p:cNvSpPr txBox="1"/>
          <p:nvPr/>
        </p:nvSpPr>
        <p:spPr>
          <a:xfrm>
            <a:off x="5463709" y="2456502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managedBy</a:t>
            </a:r>
            <a:endParaRPr lang="en-US" dirty="0"/>
          </a:p>
        </p:txBody>
      </p:sp>
      <p:sp>
        <p:nvSpPr>
          <p:cNvPr id="139" name="Textfeld 103">
            <a:extLst>
              <a:ext uri="{FF2B5EF4-FFF2-40B4-BE49-F238E27FC236}">
                <a16:creationId xmlns:a16="http://schemas.microsoft.com/office/drawing/2014/main" id="{142A8112-3363-0373-1D6B-51FBA88AD0A8}"/>
              </a:ext>
            </a:extLst>
          </p:cNvPr>
          <p:cNvSpPr txBox="1"/>
          <p:nvPr/>
        </p:nvSpPr>
        <p:spPr>
          <a:xfrm>
            <a:off x="7444938" y="1847037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todo</a:t>
            </a:r>
            <a:endParaRPr lang="en-US" dirty="0"/>
          </a:p>
        </p:txBody>
      </p: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E95C71AE-D4BF-821F-00DB-A43DC2BE8ABA}"/>
              </a:ext>
            </a:extLst>
          </p:cNvPr>
          <p:cNvCxnSpPr>
            <a:cxnSpLocks/>
            <a:stCxn id="133" idx="2"/>
            <a:endCxn id="137" idx="0"/>
          </p:cNvCxnSpPr>
          <p:nvPr/>
        </p:nvCxnSpPr>
        <p:spPr>
          <a:xfrm>
            <a:off x="6576773" y="2053602"/>
            <a:ext cx="0" cy="69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Gerade Verbindung mit Pfeil 140">
            <a:extLst>
              <a:ext uri="{FF2B5EF4-FFF2-40B4-BE49-F238E27FC236}">
                <a16:creationId xmlns:a16="http://schemas.microsoft.com/office/drawing/2014/main" id="{06BEE98D-BE8F-42F2-1BD7-7BE66311E825}"/>
              </a:ext>
            </a:extLst>
          </p:cNvPr>
          <p:cNvCxnSpPr>
            <a:stCxn id="133" idx="3"/>
            <a:endCxn id="134" idx="1"/>
          </p:cNvCxnSpPr>
          <p:nvPr/>
        </p:nvCxnSpPr>
        <p:spPr>
          <a:xfrm flipV="1">
            <a:off x="7162831" y="1882104"/>
            <a:ext cx="766774" cy="2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Textfeld 192">
            <a:extLst>
              <a:ext uri="{FF2B5EF4-FFF2-40B4-BE49-F238E27FC236}">
                <a16:creationId xmlns:a16="http://schemas.microsoft.com/office/drawing/2014/main" id="{FCCA2DBF-0F56-E847-A3FD-38F19C77F44D}"/>
              </a:ext>
            </a:extLst>
          </p:cNvPr>
          <p:cNvSpPr txBox="1"/>
          <p:nvPr/>
        </p:nvSpPr>
        <p:spPr>
          <a:xfrm>
            <a:off x="6576773" y="246334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1</a:t>
            </a: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23EFF46A-B3C7-2D24-7869-8D67598A993A}"/>
              </a:ext>
            </a:extLst>
          </p:cNvPr>
          <p:cNvSpPr txBox="1"/>
          <p:nvPr/>
        </p:nvSpPr>
        <p:spPr>
          <a:xfrm>
            <a:off x="5831204" y="4215279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Employee</a:t>
            </a:r>
          </a:p>
        </p:txBody>
      </p:sp>
      <p:sp>
        <p:nvSpPr>
          <p:cNvPr id="144" name="Rechteck 143">
            <a:extLst>
              <a:ext uri="{FF2B5EF4-FFF2-40B4-BE49-F238E27FC236}">
                <a16:creationId xmlns:a16="http://schemas.microsoft.com/office/drawing/2014/main" id="{33C6315D-5669-2960-5153-818C6AE82A60}"/>
              </a:ext>
            </a:extLst>
          </p:cNvPr>
          <p:cNvSpPr/>
          <p:nvPr/>
        </p:nvSpPr>
        <p:spPr>
          <a:xfrm>
            <a:off x="7770094" y="4210837"/>
            <a:ext cx="1153999" cy="3429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sz="1600" dirty="0">
                <a:latin typeface="Arial" charset="0"/>
              </a:rPr>
              <a:t>Task</a:t>
            </a:r>
          </a:p>
        </p:txBody>
      </p:sp>
      <p:sp>
        <p:nvSpPr>
          <p:cNvPr id="146" name="Textfeld 145">
            <a:extLst>
              <a:ext uri="{FF2B5EF4-FFF2-40B4-BE49-F238E27FC236}">
                <a16:creationId xmlns:a16="http://schemas.microsoft.com/office/drawing/2014/main" id="{2DF2674C-8B09-DEF2-610B-8C0572F1E0F7}"/>
              </a:ext>
            </a:extLst>
          </p:cNvPr>
          <p:cNvSpPr txBox="1"/>
          <p:nvPr/>
        </p:nvSpPr>
        <p:spPr>
          <a:xfrm>
            <a:off x="5831204" y="5249122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Manager</a:t>
            </a:r>
          </a:p>
        </p:txBody>
      </p:sp>
      <p:sp>
        <p:nvSpPr>
          <p:cNvPr id="148" name="Textfeld 103">
            <a:extLst>
              <a:ext uri="{FF2B5EF4-FFF2-40B4-BE49-F238E27FC236}">
                <a16:creationId xmlns:a16="http://schemas.microsoft.com/office/drawing/2014/main" id="{5072C303-C551-52BA-7FE4-2BC23A959F78}"/>
              </a:ext>
            </a:extLst>
          </p:cNvPr>
          <p:cNvSpPr txBox="1"/>
          <p:nvPr/>
        </p:nvSpPr>
        <p:spPr>
          <a:xfrm>
            <a:off x="7285427" y="434726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todo</a:t>
            </a:r>
            <a:endParaRPr lang="en-US" dirty="0"/>
          </a:p>
        </p:txBody>
      </p: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D7564107-9BCB-AAD8-B99F-9407335015BE}"/>
              </a:ext>
            </a:extLst>
          </p:cNvPr>
          <p:cNvCxnSpPr>
            <a:stCxn id="143" idx="3"/>
            <a:endCxn id="144" idx="1"/>
          </p:cNvCxnSpPr>
          <p:nvPr/>
        </p:nvCxnSpPr>
        <p:spPr>
          <a:xfrm flipV="1">
            <a:off x="7003320" y="4382335"/>
            <a:ext cx="766774" cy="2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AutoShape 37">
            <a:extLst>
              <a:ext uri="{FF2B5EF4-FFF2-40B4-BE49-F238E27FC236}">
                <a16:creationId xmlns:a16="http://schemas.microsoft.com/office/drawing/2014/main" id="{F2EFBF67-FE8D-6CA8-B3D2-F8746429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862" y="4582319"/>
            <a:ext cx="304800" cy="290513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accent6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155" name="Gerader Verbinder 154">
            <a:extLst>
              <a:ext uri="{FF2B5EF4-FFF2-40B4-BE49-F238E27FC236}">
                <a16:creationId xmlns:a16="http://schemas.microsoft.com/office/drawing/2014/main" id="{E5D0A572-FED8-D4AA-43A4-B48CBAC44324}"/>
              </a:ext>
            </a:extLst>
          </p:cNvPr>
          <p:cNvCxnSpPr>
            <a:cxnSpLocks/>
            <a:stCxn id="153" idx="3"/>
            <a:endCxn id="146" idx="0"/>
          </p:cNvCxnSpPr>
          <p:nvPr/>
        </p:nvCxnSpPr>
        <p:spPr>
          <a:xfrm>
            <a:off x="6417262" y="4872832"/>
            <a:ext cx="0" cy="37629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AutoShape 40">
            <a:extLst>
              <a:ext uri="{FF2B5EF4-FFF2-40B4-BE49-F238E27FC236}">
                <a16:creationId xmlns:a16="http://schemas.microsoft.com/office/drawing/2014/main" id="{90C9F969-059C-7F88-342D-BFDF727C9E2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597563" y="3572422"/>
            <a:ext cx="653060" cy="342993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B</a:t>
            </a:r>
          </a:p>
        </p:txBody>
      </p:sp>
      <p:sp>
        <p:nvSpPr>
          <p:cNvPr id="177" name="Textfeld 176">
            <a:extLst>
              <a:ext uri="{FF2B5EF4-FFF2-40B4-BE49-F238E27FC236}">
                <a16:creationId xmlns:a16="http://schemas.microsoft.com/office/drawing/2014/main" id="{C9C564DB-714E-3DDD-71E6-E05BEF85A83A}"/>
              </a:ext>
            </a:extLst>
          </p:cNvPr>
          <p:cNvSpPr txBox="1"/>
          <p:nvPr/>
        </p:nvSpPr>
        <p:spPr>
          <a:xfrm>
            <a:off x="1446340" y="3403145"/>
            <a:ext cx="149131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u="sng" dirty="0" err="1"/>
              <a:t>tony:Manager</a:t>
            </a:r>
            <a:endParaRPr lang="de-DE" sz="1600" u="sng" dirty="0"/>
          </a:p>
        </p:txBody>
      </p:sp>
      <p:sp>
        <p:nvSpPr>
          <p:cNvPr id="178" name="AutoShape 40">
            <a:extLst>
              <a:ext uri="{FF2B5EF4-FFF2-40B4-BE49-F238E27FC236}">
                <a16:creationId xmlns:a16="http://schemas.microsoft.com/office/drawing/2014/main" id="{E55BC555-F897-2D28-98B8-0F7F762DAF4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623794" y="2849293"/>
            <a:ext cx="627729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OD</a:t>
            </a:r>
          </a:p>
        </p:txBody>
      </p:sp>
      <p:cxnSp>
        <p:nvCxnSpPr>
          <p:cNvPr id="179" name="Gerade Verbindung 49">
            <a:extLst>
              <a:ext uri="{FF2B5EF4-FFF2-40B4-BE49-F238E27FC236}">
                <a16:creationId xmlns:a16="http://schemas.microsoft.com/office/drawing/2014/main" id="{7E2EA76B-190F-0225-4E9F-93A61F46D449}"/>
              </a:ext>
            </a:extLst>
          </p:cNvPr>
          <p:cNvCxnSpPr>
            <a:cxnSpLocks/>
          </p:cNvCxnSpPr>
          <p:nvPr/>
        </p:nvCxnSpPr>
        <p:spPr>
          <a:xfrm flipH="1">
            <a:off x="4773203" y="3473779"/>
            <a:ext cx="596187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Gerade Verbindung mit Pfeil 179">
            <a:extLst>
              <a:ext uri="{FF2B5EF4-FFF2-40B4-BE49-F238E27FC236}">
                <a16:creationId xmlns:a16="http://schemas.microsoft.com/office/drawing/2014/main" id="{FE4FDE68-583B-8879-B326-54E1C275E9A6}"/>
              </a:ext>
            </a:extLst>
          </p:cNvPr>
          <p:cNvCxnSpPr>
            <a:cxnSpLocks/>
          </p:cNvCxnSpPr>
          <p:nvPr/>
        </p:nvCxnSpPr>
        <p:spPr>
          <a:xfrm rot="1655341">
            <a:off x="3126150" y="4224741"/>
            <a:ext cx="2205193" cy="0"/>
          </a:xfrm>
          <a:prstGeom prst="straightConnector1">
            <a:avLst/>
          </a:prstGeom>
          <a:ln w="508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Textfeld 180">
                <a:extLst>
                  <a:ext uri="{FF2B5EF4-FFF2-40B4-BE49-F238E27FC236}">
                    <a16:creationId xmlns:a16="http://schemas.microsoft.com/office/drawing/2014/main" id="{177B6C65-98E6-EBF8-17CA-C9637E552BC7}"/>
                  </a:ext>
                </a:extLst>
              </p:cNvPr>
              <p:cNvSpPr txBox="1"/>
              <p:nvPr/>
            </p:nvSpPr>
            <p:spPr>
              <a:xfrm rot="1655341">
                <a:off x="3357151" y="3856811"/>
                <a:ext cx="17447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𝒔𝒆</m:t>
                      </m:r>
                      <m:sSub>
                        <m:sSubPr>
                          <m:ctrlP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𝒐𝒘</m:t>
                          </m:r>
                        </m:sub>
                      </m:sSub>
                      <m:d>
                        <m:dPr>
                          <m:ctrlP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lang="de-DE" b="1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181" name="Textfeld 180">
                <a:extLst>
                  <a:ext uri="{FF2B5EF4-FFF2-40B4-BE49-F238E27FC236}">
                    <a16:creationId xmlns:a16="http://schemas.microsoft.com/office/drawing/2014/main" id="{177B6C65-98E6-EBF8-17CA-C9637E552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55341">
                <a:off x="3357151" y="3856811"/>
                <a:ext cx="17447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6" name="Gerade Verbindung mit Pfeil 185">
            <a:extLst>
              <a:ext uri="{FF2B5EF4-FFF2-40B4-BE49-F238E27FC236}">
                <a16:creationId xmlns:a16="http://schemas.microsoft.com/office/drawing/2014/main" id="{4D5FFEF7-4958-5283-961A-24C18741CF31}"/>
              </a:ext>
            </a:extLst>
          </p:cNvPr>
          <p:cNvCxnSpPr>
            <a:cxnSpLocks/>
          </p:cNvCxnSpPr>
          <p:nvPr/>
        </p:nvCxnSpPr>
        <p:spPr>
          <a:xfrm rot="20496128">
            <a:off x="3195167" y="3090333"/>
            <a:ext cx="2205193" cy="0"/>
          </a:xfrm>
          <a:prstGeom prst="straightConnector1">
            <a:avLst/>
          </a:prstGeom>
          <a:ln w="508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AC248CA3-6493-28FA-B367-3A8EB917D75C}"/>
                  </a:ext>
                </a:extLst>
              </p:cNvPr>
              <p:cNvSpPr txBox="1"/>
              <p:nvPr/>
            </p:nvSpPr>
            <p:spPr>
              <a:xfrm rot="20496128">
                <a:off x="3426168" y="2722403"/>
                <a:ext cx="17447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𝒔𝒆</m:t>
                      </m:r>
                      <m:sSub>
                        <m:sSubPr>
                          <m:ctrlP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𝒐𝒘</m:t>
                          </m:r>
                        </m:sub>
                      </m:sSub>
                      <m:d>
                        <m:dPr>
                          <m:ctrlP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m:oMathPara>
                </a14:m>
                <a:endParaRPr lang="de-DE" b="1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AC248CA3-6493-28FA-B367-3A8EB917D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96128">
                <a:off x="3426168" y="2722403"/>
                <a:ext cx="17447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325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7913-C314-2212-F451-B7EF348C8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el 2">
                <a:extLst>
                  <a:ext uri="{FF2B5EF4-FFF2-40B4-BE49-F238E27FC236}">
                    <a16:creationId xmlns:a16="http://schemas.microsoft.com/office/drawing/2014/main" id="{F4AC5F47-4DE2-4CF5-8E35-AD2B425805C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Why can we not achieve: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𝒔𝒆</m:t>
                    </m:r>
                    <m:sSub>
                      <m:sSubPr>
                        <m:ctrlP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de-DE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𝒐𝒘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de-DE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de-DE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𝒔𝒆</m:t>
                    </m:r>
                    <m:sSub>
                      <m:sSubPr>
                        <m:ctrlP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err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de-DE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𝒐𝒘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de-DE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de-DE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𝒔𝒆</m:t>
                    </m:r>
                    <m:sSub>
                      <m:sSubPr>
                        <m:ctrlPr>
                          <a:rPr lang="de-D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err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de-DE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𝒐𝒘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de-DE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?</a:t>
                </a:r>
                <a:endParaRPr lang="en-US" dirty="0"/>
              </a:p>
            </p:txBody>
          </p:sp>
        </mc:Choice>
        <mc:Fallback>
          <p:sp>
            <p:nvSpPr>
              <p:cNvPr id="3" name="Titel 2">
                <a:extLst>
                  <a:ext uri="{FF2B5EF4-FFF2-40B4-BE49-F238E27FC236}">
                    <a16:creationId xmlns:a16="http://schemas.microsoft.com/office/drawing/2014/main" id="{F4AC5F47-4DE2-4CF5-8E35-AD2B425805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80" b="-292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Textfeld 176">
            <a:extLst>
              <a:ext uri="{FF2B5EF4-FFF2-40B4-BE49-F238E27FC236}">
                <a16:creationId xmlns:a16="http://schemas.microsoft.com/office/drawing/2014/main" id="{8C4515EE-9B95-A0E3-4F2B-53BAA74F4679}"/>
              </a:ext>
            </a:extLst>
          </p:cNvPr>
          <p:cNvSpPr txBox="1"/>
          <p:nvPr/>
        </p:nvSpPr>
        <p:spPr>
          <a:xfrm>
            <a:off x="1446340" y="3403145"/>
            <a:ext cx="149131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u="sng" dirty="0" err="1"/>
              <a:t>tony:Manager</a:t>
            </a:r>
            <a:endParaRPr lang="de-DE" sz="1600" u="sng" dirty="0"/>
          </a:p>
        </p:txBody>
      </p:sp>
      <p:sp>
        <p:nvSpPr>
          <p:cNvPr id="178" name="AutoShape 40">
            <a:extLst>
              <a:ext uri="{FF2B5EF4-FFF2-40B4-BE49-F238E27FC236}">
                <a16:creationId xmlns:a16="http://schemas.microsoft.com/office/drawing/2014/main" id="{C9779143-1C91-42F3-D927-45310AE7264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623794" y="2849293"/>
            <a:ext cx="627729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OD</a:t>
            </a: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07528378-6847-51F5-F9E2-67CC6A750BA1}"/>
              </a:ext>
            </a:extLst>
          </p:cNvPr>
          <p:cNvCxnSpPr>
            <a:cxnSpLocks/>
          </p:cNvCxnSpPr>
          <p:nvPr/>
        </p:nvCxnSpPr>
        <p:spPr>
          <a:xfrm>
            <a:off x="3363935" y="3586409"/>
            <a:ext cx="2205193" cy="0"/>
          </a:xfrm>
          <a:prstGeom prst="straightConnector1">
            <a:avLst/>
          </a:prstGeom>
          <a:ln w="508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EFE65811-A34B-8B38-5773-7659857EC5E7}"/>
              </a:ext>
            </a:extLst>
          </p:cNvPr>
          <p:cNvSpPr txBox="1"/>
          <p:nvPr/>
        </p:nvSpPr>
        <p:spPr>
          <a:xfrm>
            <a:off x="6740523" y="2987037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Employee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B56C1BF-30EF-05B0-83B6-48292E04BA94}"/>
              </a:ext>
            </a:extLst>
          </p:cNvPr>
          <p:cNvSpPr/>
          <p:nvPr/>
        </p:nvSpPr>
        <p:spPr>
          <a:xfrm>
            <a:off x="8679413" y="2982595"/>
            <a:ext cx="1153999" cy="3429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sz="1600" dirty="0">
                <a:latin typeface="Arial" charset="0"/>
              </a:rPr>
              <a:t>Task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AutoShape 40">
                <a:extLst>
                  <a:ext uri="{FF2B5EF4-FFF2-40B4-BE49-F238E27FC236}">
                    <a16:creationId xmlns:a16="http://schemas.microsoft.com/office/drawing/2014/main" id="{9805F805-3D57-632F-1A4D-6EBA00645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9445752" y="2344179"/>
                <a:ext cx="1280160" cy="342993"/>
              </a:xfrm>
              <a:prstGeom prst="foldedCorner">
                <a:avLst>
                  <a:gd name="adj" fmla="val 27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 wrap="none" anchor="ctr" anchorCtr="1"/>
              <a:lstStyle/>
              <a:p>
                <a:pPr eaLnBrk="0" hangingPunct="0">
                  <a:lnSpc>
                    <a:spcPct val="70000"/>
                  </a:lnSpc>
                </a:pPr>
                <a:r>
                  <a:rPr lang="en-US" altLang="de-DE" sz="1600" dirty="0"/>
                  <a:t>CD </a:t>
                </a:r>
                <a14:m>
                  <m:oMath xmlns:m="http://schemas.openxmlformats.org/officeDocument/2006/math">
                    <m:r>
                      <a:rPr lang="de-DE" altLang="de-DE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altLang="de-DE" sz="1600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de-DE" altLang="de-DE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de-DE" sz="1600" dirty="0"/>
                  <a:t> </a:t>
                </a:r>
              </a:p>
            </p:txBody>
          </p:sp>
        </mc:Choice>
        <mc:Fallback>
          <p:sp>
            <p:nvSpPr>
              <p:cNvPr id="7" name="AutoShape 40">
                <a:extLst>
                  <a:ext uri="{FF2B5EF4-FFF2-40B4-BE49-F238E27FC236}">
                    <a16:creationId xmlns:a16="http://schemas.microsoft.com/office/drawing/2014/main" id="{9805F805-3D57-632F-1A4D-6EBA00645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V="1">
                <a:off x="9445752" y="2344179"/>
                <a:ext cx="1280160" cy="342993"/>
              </a:xfrm>
              <a:prstGeom prst="foldedCorner">
                <a:avLst>
                  <a:gd name="adj" fmla="val 27606"/>
                </a:avLst>
              </a:prstGeom>
              <a:blipFill>
                <a:blip r:embed="rId4"/>
                <a:stretch>
                  <a:fillRect b="-24138"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192">
            <a:extLst>
              <a:ext uri="{FF2B5EF4-FFF2-40B4-BE49-F238E27FC236}">
                <a16:creationId xmlns:a16="http://schemas.microsoft.com/office/drawing/2014/main" id="{2383D17F-524D-FB3A-FC57-5636A401FDD4}"/>
              </a:ext>
            </a:extLst>
          </p:cNvPr>
          <p:cNvSpPr txBox="1"/>
          <p:nvPr/>
        </p:nvSpPr>
        <p:spPr>
          <a:xfrm>
            <a:off x="8217567" y="288401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>
                <a:solidFill>
                  <a:schemeClr val="accent6"/>
                </a:solidFill>
              </a:rPr>
              <a:t>1..*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D68FDD0-304F-9E17-8EB8-6393788D7E62}"/>
              </a:ext>
            </a:extLst>
          </p:cNvPr>
          <p:cNvSpPr txBox="1"/>
          <p:nvPr/>
        </p:nvSpPr>
        <p:spPr>
          <a:xfrm>
            <a:off x="6740523" y="4020880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Manager</a:t>
            </a:r>
          </a:p>
        </p:txBody>
      </p:sp>
      <p:sp>
        <p:nvSpPr>
          <p:cNvPr id="10" name="Textfeld 103">
            <a:extLst>
              <a:ext uri="{FF2B5EF4-FFF2-40B4-BE49-F238E27FC236}">
                <a16:creationId xmlns:a16="http://schemas.microsoft.com/office/drawing/2014/main" id="{953F7B68-0C1D-BBD6-73A4-3521B6F255AB}"/>
              </a:ext>
            </a:extLst>
          </p:cNvPr>
          <p:cNvSpPr txBox="1"/>
          <p:nvPr/>
        </p:nvSpPr>
        <p:spPr>
          <a:xfrm>
            <a:off x="5354276" y="3866991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managedBy</a:t>
            </a:r>
            <a:endParaRPr lang="en-US" dirty="0"/>
          </a:p>
        </p:txBody>
      </p:sp>
      <p:sp>
        <p:nvSpPr>
          <p:cNvPr id="11" name="Textfeld 103">
            <a:extLst>
              <a:ext uri="{FF2B5EF4-FFF2-40B4-BE49-F238E27FC236}">
                <a16:creationId xmlns:a16="http://schemas.microsoft.com/office/drawing/2014/main" id="{E195A980-7A28-E47D-B4BC-678084513CC9}"/>
              </a:ext>
            </a:extLst>
          </p:cNvPr>
          <p:cNvSpPr txBox="1"/>
          <p:nvPr/>
        </p:nvSpPr>
        <p:spPr>
          <a:xfrm>
            <a:off x="8194746" y="3119026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 dirty="0" err="1"/>
              <a:t>todo</a:t>
            </a:r>
            <a:endParaRPr lang="en-US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95AB58B-9528-916B-8E5A-EFA9D515A04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7912639" y="3154093"/>
            <a:ext cx="766774" cy="2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feld 192">
            <a:extLst>
              <a:ext uri="{FF2B5EF4-FFF2-40B4-BE49-F238E27FC236}">
                <a16:creationId xmlns:a16="http://schemas.microsoft.com/office/drawing/2014/main" id="{B26659FC-C7C7-4905-137C-0C2A4DBFD426}"/>
              </a:ext>
            </a:extLst>
          </p:cNvPr>
          <p:cNvSpPr txBox="1"/>
          <p:nvPr/>
        </p:nvSpPr>
        <p:spPr>
          <a:xfrm>
            <a:off x="6456471" y="3882380"/>
            <a:ext cx="284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1</a:t>
            </a:r>
          </a:p>
        </p:txBody>
      </p: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E25F4257-B6ED-875B-85BC-F43D25FCA503}"/>
              </a:ext>
            </a:extLst>
          </p:cNvPr>
          <p:cNvCxnSpPr>
            <a:stCxn id="5" idx="1"/>
            <a:endCxn id="9" idx="1"/>
          </p:cNvCxnSpPr>
          <p:nvPr/>
        </p:nvCxnSpPr>
        <p:spPr>
          <a:xfrm rot="10800000" flipV="1">
            <a:off x="6740523" y="3156313"/>
            <a:ext cx="12700" cy="1033843"/>
          </a:xfrm>
          <a:prstGeom prst="bentConnector3">
            <a:avLst>
              <a:gd name="adj1" fmla="val 223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utoShape 37">
            <a:extLst>
              <a:ext uri="{FF2B5EF4-FFF2-40B4-BE49-F238E27FC236}">
                <a16:creationId xmlns:a16="http://schemas.microsoft.com/office/drawing/2014/main" id="{93BC630E-BBB3-EB89-E4A5-CEC31D4D3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1701" y="3343878"/>
            <a:ext cx="304800" cy="290513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accent6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2F632F98-991D-442C-78D0-AC2B60741057}"/>
              </a:ext>
            </a:extLst>
          </p:cNvPr>
          <p:cNvCxnSpPr>
            <a:cxnSpLocks/>
            <a:stCxn id="18" idx="3"/>
            <a:endCxn id="9" idx="0"/>
          </p:cNvCxnSpPr>
          <p:nvPr/>
        </p:nvCxnSpPr>
        <p:spPr>
          <a:xfrm>
            <a:off x="7324101" y="3634391"/>
            <a:ext cx="2480" cy="38648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3280411-C93D-2D32-C04A-855CD0323796}"/>
                  </a:ext>
                </a:extLst>
              </p:cNvPr>
              <p:cNvSpPr txBox="1"/>
              <p:nvPr/>
            </p:nvSpPr>
            <p:spPr>
              <a:xfrm>
                <a:off x="3422326" y="3218479"/>
                <a:ext cx="1931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de-D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𝒔𝒆</m:t>
                      </m:r>
                      <m:sSub>
                        <m:sSubPr>
                          <m:ctrlP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𝒄𝒘</m:t>
                          </m:r>
                        </m:sub>
                      </m:sSub>
                      <m:d>
                        <m:dPr>
                          <m:ctrlP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de-D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lang="de-DE" b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3280411-C93D-2D32-C04A-855CD0323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326" y="3218479"/>
                <a:ext cx="193195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819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9AA9B72-B81E-4670-A1C0-F77733E308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4000" y="1236273"/>
            <a:ext cx="11483999" cy="438545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dirty="0">
                <a:latin typeface="+mj-lt"/>
                <a:cs typeface="Courier New" panose="02070309020205020404" pitchFamily="49" charset="0"/>
              </a:rPr>
              <a:t>First,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identify</a:t>
            </a:r>
            <a:r>
              <a:rPr lang="de-DE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matching</a:t>
            </a:r>
            <a:r>
              <a:rPr lang="de-DE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elements.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Match classes by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name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Match attributes by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class and name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Match association by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classes, association name, and role-names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.</a:t>
            </a:r>
            <a:endParaRPr lang="de-DE" dirty="0">
              <a:latin typeface="+mj-lt"/>
              <a:cs typeface="Courier New" panose="02070309020205020404" pitchFamily="49" charset="0"/>
            </a:endParaRPr>
          </a:p>
          <a:p>
            <a:pPr marL="558900" lvl="1" indent="-342900">
              <a:buFont typeface="+mj-lt"/>
              <a:buAutoNum type="arabicPeriod"/>
            </a:pPr>
            <a:endParaRPr lang="en-US" dirty="0">
              <a:solidFill>
                <a:schemeClr val="tx2"/>
              </a:solidFill>
              <a:latin typeface="+mj-lt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Next,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merge matching elements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if possible and add them to a fresh CD.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Merge attributes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iff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types are compatible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Merge classes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iff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attributes and inheritance can be merged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Merge associations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iff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match is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unambiguous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and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cardinalities are compatible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+mj-lt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Finally, all unmatched elements from the input-CDs are added, as well.</a:t>
            </a:r>
          </a:p>
          <a:p>
            <a:pPr lvl="1"/>
            <a:endParaRPr lang="en-US" dirty="0">
              <a:solidFill>
                <a:schemeClr val="tx2"/>
              </a:solidFill>
              <a:latin typeface="+mj-lt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2"/>
              </a:solidFill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pPr marL="216000" lvl="1" indent="0">
              <a:buNone/>
            </a:pPr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418FFFC-9126-4BE2-B6C2-23B4D25E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How is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CDMerge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implemented?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77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09850E6-3207-404A-B76F-A048B571DA9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Class may occur in both diagrams</a:t>
            </a:r>
          </a:p>
          <a:p>
            <a:r>
              <a:rPr lang="en-US" dirty="0"/>
              <a:t>Attributes are collected together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88A851C-92EE-4463-8508-278E69EC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Merging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611D775-6496-4DDA-8153-D6C50B8BF537}"/>
              </a:ext>
            </a:extLst>
          </p:cNvPr>
          <p:cNvGrpSpPr/>
          <p:nvPr/>
        </p:nvGrpSpPr>
        <p:grpSpPr>
          <a:xfrm>
            <a:off x="1271464" y="2421613"/>
            <a:ext cx="1529888" cy="1561608"/>
            <a:chOff x="1082040" y="2857500"/>
            <a:chExt cx="2438400" cy="1694519"/>
          </a:xfrm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F4C570D9-4A10-442D-8A9C-87D34C524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890E79A1-E593-4CF8-954A-94E46E14E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9086" y="2917825"/>
              <a:ext cx="1329078" cy="367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Person</a:t>
              </a:r>
            </a:p>
          </p:txBody>
        </p:sp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9B0B950B-DF37-47E3-96D2-833E2E452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14700"/>
              <a:ext cx="2438400" cy="1051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F2599346-840E-4914-8D6A-B5E8320E5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294432" cy="367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9" name="Text Box 14">
              <a:extLst>
                <a:ext uri="{FF2B5EF4-FFF2-40B4-BE49-F238E27FC236}">
                  <a16:creationId xmlns:a16="http://schemas.microsoft.com/office/drawing/2014/main" id="{840C6DD8-9E6A-427F-B7B9-E162E81A9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14700"/>
              <a:ext cx="2057233" cy="901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name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email</a:t>
              </a:r>
            </a:p>
            <a:p>
              <a:pPr eaLnBrk="1" hangingPunct="1"/>
              <a:r>
                <a:rPr lang="en-US" altLang="en-US" sz="1600" dirty="0"/>
                <a:t>int birthdate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F4053047-C107-47F3-BCF0-6224B4150320}"/>
              </a:ext>
            </a:extLst>
          </p:cNvPr>
          <p:cNvGrpSpPr/>
          <p:nvPr/>
        </p:nvGrpSpPr>
        <p:grpSpPr>
          <a:xfrm>
            <a:off x="5331056" y="2420888"/>
            <a:ext cx="1529888" cy="1561608"/>
            <a:chOff x="1082040" y="2857500"/>
            <a:chExt cx="2438400" cy="16945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B372794-A86A-4688-B29A-2F3AB15C3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3DFAE671-17DA-4F30-86CC-3C7AF8F71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9086" y="2917825"/>
              <a:ext cx="1329078" cy="367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Person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1A14D4-F273-43E5-AEC7-2EAA9EA72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14700"/>
              <a:ext cx="2438400" cy="10560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EE182B95-B875-48C2-9232-FFF108351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294432" cy="367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9BC34D62-B4D5-4C42-B305-F4545A0AC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14700"/>
              <a:ext cx="2057233" cy="634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en-US" sz="1600" dirty="0"/>
                <a:t>String name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int id</a:t>
              </a: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25B94E49-C28C-4D0A-992D-CFCE21883F41}"/>
              </a:ext>
            </a:extLst>
          </p:cNvPr>
          <p:cNvSpPr txBox="1"/>
          <p:nvPr/>
        </p:nvSpPr>
        <p:spPr>
          <a:xfrm>
            <a:off x="4031049" y="2875135"/>
            <a:ext cx="740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r>
              <a:rPr lang="de-DE" sz="2000" b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CD</a:t>
            </a:r>
            <a:endParaRPr lang="de-DE" sz="2800" b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610529E-0238-4658-93D5-BC900A9139C8}"/>
              </a:ext>
            </a:extLst>
          </p:cNvPr>
          <p:cNvSpPr/>
          <p:nvPr/>
        </p:nvSpPr>
        <p:spPr>
          <a:xfrm>
            <a:off x="7717002" y="2914330"/>
            <a:ext cx="394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>
                <a:latin typeface="+mj-lt"/>
                <a:ea typeface="Cambria Math"/>
              </a:rPr>
              <a:t>=</a:t>
            </a:r>
            <a:endParaRPr lang="de-DE" sz="2800" b="1" dirty="0">
              <a:latin typeface="+mj-lt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95D30E-A280-485A-807F-BEC5906DD12A}"/>
              </a:ext>
            </a:extLst>
          </p:cNvPr>
          <p:cNvGrpSpPr/>
          <p:nvPr/>
        </p:nvGrpSpPr>
        <p:grpSpPr>
          <a:xfrm>
            <a:off x="8759174" y="2435891"/>
            <a:ext cx="1529889" cy="1602740"/>
            <a:chOff x="1082040" y="2857498"/>
            <a:chExt cx="2438400" cy="1685700"/>
          </a:xfrm>
        </p:grpSpPr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A4E6321B-147A-454C-BAEE-4197FB929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498"/>
              <a:ext cx="2438400" cy="15641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20" name="Text Box 11">
              <a:extLst>
                <a:ext uri="{FF2B5EF4-FFF2-40B4-BE49-F238E27FC236}">
                  <a16:creationId xmlns:a16="http://schemas.microsoft.com/office/drawing/2014/main" id="{5CED0F28-E828-4398-967B-114B42CDE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9087" y="2917825"/>
              <a:ext cx="1329077" cy="358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Person</a:t>
              </a:r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EF3F279C-931A-4E35-95AE-2E0C8D3C2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14699"/>
              <a:ext cx="2438400" cy="110698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22" name="Text Box 13">
              <a:extLst>
                <a:ext uri="{FF2B5EF4-FFF2-40B4-BE49-F238E27FC236}">
                  <a16:creationId xmlns:a16="http://schemas.microsoft.com/office/drawing/2014/main" id="{F035C4FC-53C9-4133-9DA9-716A20155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294432" cy="358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23" name="Text Box 14">
              <a:extLst>
                <a:ext uri="{FF2B5EF4-FFF2-40B4-BE49-F238E27FC236}">
                  <a16:creationId xmlns:a16="http://schemas.microsoft.com/office/drawing/2014/main" id="{2203CC19-B8DB-4B4E-9FE9-688858058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14700"/>
              <a:ext cx="2057231" cy="1132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name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email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int birthdate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int id</a:t>
              </a:r>
            </a:p>
          </p:txBody>
        </p:sp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53818A0A-FA38-4F22-94B3-CDEE4EE1E91E}"/>
              </a:ext>
            </a:extLst>
          </p:cNvPr>
          <p:cNvSpPr/>
          <p:nvPr/>
        </p:nvSpPr>
        <p:spPr>
          <a:xfrm>
            <a:off x="10779070" y="4418943"/>
            <a:ext cx="518091" cy="369332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OK</a:t>
            </a:r>
          </a:p>
        </p:txBody>
      </p:sp>
      <p:sp>
        <p:nvSpPr>
          <p:cNvPr id="32" name="AutoShape 40">
            <a:extLst>
              <a:ext uri="{FF2B5EF4-FFF2-40B4-BE49-F238E27FC236}">
                <a16:creationId xmlns:a16="http://schemas.microsoft.com/office/drawing/2014/main" id="{44EC9150-E662-4E22-A0DB-66215DDC197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936825" y="2420888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33" name="AutoShape 40">
            <a:extLst>
              <a:ext uri="{FF2B5EF4-FFF2-40B4-BE49-F238E27FC236}">
                <a16:creationId xmlns:a16="http://schemas.microsoft.com/office/drawing/2014/main" id="{0C04FF10-931A-4B50-9C21-D9FE9C0EDCF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000397" y="2420888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B</a:t>
            </a:r>
          </a:p>
        </p:txBody>
      </p:sp>
      <p:sp>
        <p:nvSpPr>
          <p:cNvPr id="34" name="AutoShape 40">
            <a:extLst>
              <a:ext uri="{FF2B5EF4-FFF2-40B4-BE49-F238E27FC236}">
                <a16:creationId xmlns:a16="http://schemas.microsoft.com/office/drawing/2014/main" id="{A645EE34-1BC9-4103-8A88-9EE197A917C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428516" y="2416344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C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D8A22178-80FD-4659-B66A-89E3C00A2A5F}"/>
              </a:ext>
            </a:extLst>
          </p:cNvPr>
          <p:cNvGrpSpPr/>
          <p:nvPr/>
        </p:nvGrpSpPr>
        <p:grpSpPr>
          <a:xfrm>
            <a:off x="7105933" y="4378701"/>
            <a:ext cx="2836624" cy="1081945"/>
            <a:chOff x="2760710" y="5186416"/>
            <a:chExt cx="3372588" cy="1204353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11C7C29A-606C-4804-BA90-56B378FC081E}"/>
                </a:ext>
              </a:extLst>
            </p:cNvPr>
            <p:cNvSpPr/>
            <p:nvPr/>
          </p:nvSpPr>
          <p:spPr>
            <a:xfrm>
              <a:off x="2760710" y="5214955"/>
              <a:ext cx="2056747" cy="1175814"/>
            </a:xfrm>
            <a:prstGeom prst="ellipse">
              <a:avLst/>
            </a:prstGeom>
            <a:solidFill>
              <a:srgbClr val="CCFF99">
                <a:alpha val="34118"/>
              </a:srgbClr>
            </a:solidFill>
            <a:ln w="952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latin typeface="+mj-lt"/>
              </a:endParaRP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9D10E6FD-2279-43E9-8A7A-F4AAE935ED2B}"/>
                </a:ext>
              </a:extLst>
            </p:cNvPr>
            <p:cNvSpPr txBox="1"/>
            <p:nvPr/>
          </p:nvSpPr>
          <p:spPr>
            <a:xfrm>
              <a:off x="3228290" y="5292143"/>
              <a:ext cx="905675" cy="342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sem</a:t>
              </a:r>
              <a:r>
                <a:rPr lang="en-US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(A)</a:t>
              </a: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1A9F545A-12D0-4F32-B27C-6ECBAC430069}"/>
                </a:ext>
              </a:extLst>
            </p:cNvPr>
            <p:cNvSpPr/>
            <p:nvPr/>
          </p:nvSpPr>
          <p:spPr>
            <a:xfrm>
              <a:off x="4076551" y="5186416"/>
              <a:ext cx="2056747" cy="1175814"/>
            </a:xfrm>
            <a:prstGeom prst="ellipse">
              <a:avLst/>
            </a:prstGeom>
            <a:solidFill>
              <a:srgbClr val="FFCCFF">
                <a:alpha val="34118"/>
              </a:srgbClr>
            </a:solidFill>
            <a:ln w="952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latin typeface="+mj-lt"/>
              </a:endParaRP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18CF4BD9-DD19-4FFF-B91D-99CCB129FB5C}"/>
                </a:ext>
              </a:extLst>
            </p:cNvPr>
            <p:cNvSpPr txBox="1"/>
            <p:nvPr/>
          </p:nvSpPr>
          <p:spPr>
            <a:xfrm>
              <a:off x="4806620" y="5269403"/>
              <a:ext cx="905675" cy="342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sem</a:t>
              </a:r>
              <a:r>
                <a:rPr lang="en-US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(B)</a:t>
              </a:r>
            </a:p>
          </p:txBody>
        </p:sp>
      </p:grpSp>
      <p:sp>
        <p:nvSpPr>
          <p:cNvPr id="42" name="Freihandform: Form 41">
            <a:extLst>
              <a:ext uri="{FF2B5EF4-FFF2-40B4-BE49-F238E27FC236}">
                <a16:creationId xmlns:a16="http://schemas.microsoft.com/office/drawing/2014/main" id="{0CBEF0D0-5166-4626-B1BE-C0C0D05A090A}"/>
              </a:ext>
            </a:extLst>
          </p:cNvPr>
          <p:cNvSpPr/>
          <p:nvPr/>
        </p:nvSpPr>
        <p:spPr>
          <a:xfrm>
            <a:off x="8549640" y="3931920"/>
            <a:ext cx="525050" cy="777240"/>
          </a:xfrm>
          <a:custGeom>
            <a:avLst/>
            <a:gdLst>
              <a:gd name="connsiteX0" fmla="*/ 335280 w 525050"/>
              <a:gd name="connsiteY0" fmla="*/ 0 h 777240"/>
              <a:gd name="connsiteX1" fmla="*/ 510540 w 525050"/>
              <a:gd name="connsiteY1" fmla="*/ 266700 h 777240"/>
              <a:gd name="connsiteX2" fmla="*/ 0 w 525050"/>
              <a:gd name="connsiteY2" fmla="*/ 77724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5050" h="777240">
                <a:moveTo>
                  <a:pt x="335280" y="0"/>
                </a:moveTo>
                <a:cubicBezTo>
                  <a:pt x="450850" y="68580"/>
                  <a:pt x="566420" y="137160"/>
                  <a:pt x="510540" y="266700"/>
                </a:cubicBezTo>
                <a:cubicBezTo>
                  <a:pt x="454660" y="396240"/>
                  <a:pt x="227330" y="586740"/>
                  <a:pt x="0" y="777240"/>
                </a:cubicBezTo>
              </a:path>
            </a:pathLst>
          </a:custGeom>
          <a:noFill/>
          <a:ln w="9525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3A7D50A-1ADA-438E-9E63-30091405F2D5}"/>
              </a:ext>
            </a:extLst>
          </p:cNvPr>
          <p:cNvSpPr txBox="1"/>
          <p:nvPr/>
        </p:nvSpPr>
        <p:spPr>
          <a:xfrm>
            <a:off x="8963729" y="3988012"/>
            <a:ext cx="663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600" i="1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 fits </a:t>
            </a:r>
          </a:p>
        </p:txBody>
      </p:sp>
    </p:spTree>
    <p:extLst>
      <p:ext uri="{BB962C8B-B14F-4D97-AF65-F5344CB8AC3E}">
        <p14:creationId xmlns:p14="http://schemas.microsoft.com/office/powerpoint/2010/main" val="356753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4" grpId="0" animBg="1"/>
      <p:bldP spid="42" grpId="0" animBg="1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1F1AAD2-5A2D-470C-8489-F180DE3F6C2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Class may occur in both diagrams</a:t>
            </a:r>
          </a:p>
          <a:p>
            <a:r>
              <a:rPr lang="en-US" dirty="0"/>
              <a:t>Attributes are collected together</a:t>
            </a:r>
          </a:p>
          <a:p>
            <a:pPr lvl="1"/>
            <a:r>
              <a:rPr lang="en-US" dirty="0"/>
              <a:t>If types conflict: </a:t>
            </a:r>
            <a:r>
              <a:rPr lang="en-US" dirty="0">
                <a:solidFill>
                  <a:schemeClr val="accent6"/>
                </a:solidFill>
              </a:rPr>
              <a:t>merge error </a:t>
            </a:r>
            <a:r>
              <a:rPr lang="en-US" dirty="0"/>
              <a:t>(as failure)</a:t>
            </a:r>
          </a:p>
          <a:p>
            <a:pPr lvl="1"/>
            <a:r>
              <a:rPr lang="en-US" dirty="0"/>
              <a:t>No “smart” repairs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87B15BD-3D2A-409E-9E27-40E8B132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Merging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4752E21-AAAF-4110-9A19-2843E57C267D}"/>
              </a:ext>
            </a:extLst>
          </p:cNvPr>
          <p:cNvGrpSpPr/>
          <p:nvPr/>
        </p:nvGrpSpPr>
        <p:grpSpPr>
          <a:xfrm>
            <a:off x="1271464" y="2421613"/>
            <a:ext cx="1529888" cy="1561608"/>
            <a:chOff x="1082040" y="2857500"/>
            <a:chExt cx="2438400" cy="1694519"/>
          </a:xfrm>
        </p:grpSpPr>
        <p:sp>
          <p:nvSpPr>
            <p:cNvPr id="7" name="Rectangle 10">
              <a:extLst>
                <a:ext uri="{FF2B5EF4-FFF2-40B4-BE49-F238E27FC236}">
                  <a16:creationId xmlns:a16="http://schemas.microsoft.com/office/drawing/2014/main" id="{5792D3CD-B279-4BDE-AAAA-A04C6A493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E45B95B8-E9CD-43BD-84D0-1869A84BF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9086" y="2917825"/>
              <a:ext cx="1329078" cy="367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Person</a:t>
              </a:r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7566DB53-0F7B-442F-964B-8A57B5276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14700"/>
              <a:ext cx="2438400" cy="1051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3124D817-997D-4396-BC8B-1C5A426EF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294432" cy="367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id="{74F610FB-EE68-49BD-93A8-3C8911126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14700"/>
              <a:ext cx="2057233" cy="901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name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email</a:t>
              </a:r>
            </a:p>
            <a:p>
              <a:pPr eaLnBrk="1" hangingPunct="1"/>
              <a:r>
                <a:rPr lang="en-US" altLang="en-US" sz="1600" dirty="0">
                  <a:solidFill>
                    <a:srgbClr val="C00000"/>
                  </a:solidFill>
                </a:rPr>
                <a:t>int birthdate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F1DBA3CF-D7AF-4812-803C-CC9C1AF63B3A}"/>
              </a:ext>
            </a:extLst>
          </p:cNvPr>
          <p:cNvGrpSpPr/>
          <p:nvPr/>
        </p:nvGrpSpPr>
        <p:grpSpPr>
          <a:xfrm>
            <a:off x="5331056" y="2420888"/>
            <a:ext cx="1529888" cy="1561608"/>
            <a:chOff x="1082040" y="2857500"/>
            <a:chExt cx="2438400" cy="1694519"/>
          </a:xfrm>
        </p:grpSpPr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17EF558E-A793-4543-BF1C-2294E6E0F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23591A1F-50E4-473F-B633-D4F7098F0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9086" y="2917825"/>
              <a:ext cx="1329078" cy="367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Person</a:t>
              </a:r>
            </a:p>
          </p:txBody>
        </p:sp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3E9282D1-C3FF-43AA-A7C9-1CA638EF7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14700"/>
              <a:ext cx="2438400" cy="10560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8" name="Text Box 13">
              <a:extLst>
                <a:ext uri="{FF2B5EF4-FFF2-40B4-BE49-F238E27FC236}">
                  <a16:creationId xmlns:a16="http://schemas.microsoft.com/office/drawing/2014/main" id="{70596EEC-5565-4153-9D3F-F26300895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294432" cy="367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id="{F5308086-EDF3-4842-98DA-6DC59BFEF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14700"/>
              <a:ext cx="2348495" cy="901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en-US" sz="1600" dirty="0"/>
                <a:t>String name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int id</a:t>
              </a:r>
            </a:p>
            <a:p>
              <a:pPr eaLnBrk="1" hangingPunct="1"/>
              <a:r>
                <a:rPr lang="en-US" altLang="en-US" sz="1600" dirty="0">
                  <a:solidFill>
                    <a:schemeClr val="accent6"/>
                  </a:solidFill>
                </a:rPr>
                <a:t>Date birthdate</a:t>
              </a:r>
            </a:p>
          </p:txBody>
        </p: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72D7FEF2-19C5-4174-9A51-C967F9BD2E75}"/>
              </a:ext>
            </a:extLst>
          </p:cNvPr>
          <p:cNvSpPr txBox="1"/>
          <p:nvPr/>
        </p:nvSpPr>
        <p:spPr>
          <a:xfrm>
            <a:off x="4031049" y="2875135"/>
            <a:ext cx="740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r>
              <a:rPr lang="de-DE" sz="2000" b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CD</a:t>
            </a:r>
            <a:endParaRPr lang="de-DE" sz="2800" b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6F4DC76-4DB0-4D8E-90A7-8344D5CCDD9E}"/>
              </a:ext>
            </a:extLst>
          </p:cNvPr>
          <p:cNvSpPr/>
          <p:nvPr/>
        </p:nvSpPr>
        <p:spPr>
          <a:xfrm>
            <a:off x="7717005" y="2914331"/>
            <a:ext cx="394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>
                <a:latin typeface="+mj-lt"/>
                <a:ea typeface="Cambria Math"/>
              </a:rPr>
              <a:t>=</a:t>
            </a:r>
            <a:endParaRPr lang="de-DE" sz="2800" b="1" dirty="0">
              <a:latin typeface="+mj-lt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883F87A-0A5F-4173-9732-D3BD511AAAF4}"/>
              </a:ext>
            </a:extLst>
          </p:cNvPr>
          <p:cNvGrpSpPr/>
          <p:nvPr/>
        </p:nvGrpSpPr>
        <p:grpSpPr>
          <a:xfrm>
            <a:off x="8759174" y="2435891"/>
            <a:ext cx="1529889" cy="1758140"/>
            <a:chOff x="1082040" y="2857498"/>
            <a:chExt cx="2438400" cy="1849144"/>
          </a:xfrm>
        </p:grpSpPr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2EFC5443-7C0E-4A97-B34F-63097819A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498"/>
              <a:ext cx="2438400" cy="18191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27" name="Text Box 11">
              <a:extLst>
                <a:ext uri="{FF2B5EF4-FFF2-40B4-BE49-F238E27FC236}">
                  <a16:creationId xmlns:a16="http://schemas.microsoft.com/office/drawing/2014/main" id="{1015638B-4754-44A1-AF19-5B2D141E1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9087" y="2917825"/>
              <a:ext cx="1329077" cy="358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Person</a:t>
              </a:r>
            </a:p>
          </p:txBody>
        </p:sp>
        <p:sp>
          <p:nvSpPr>
            <p:cNvPr id="28" name="Rectangle 12">
              <a:extLst>
                <a:ext uri="{FF2B5EF4-FFF2-40B4-BE49-F238E27FC236}">
                  <a16:creationId xmlns:a16="http://schemas.microsoft.com/office/drawing/2014/main" id="{38B10E35-D8B9-427F-9E6C-AF37CCB7B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14699"/>
              <a:ext cx="2438400" cy="13619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29" name="Text Box 13">
              <a:extLst>
                <a:ext uri="{FF2B5EF4-FFF2-40B4-BE49-F238E27FC236}">
                  <a16:creationId xmlns:a16="http://schemas.microsoft.com/office/drawing/2014/main" id="{91A658C6-22D1-4154-A134-5664E8877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294432" cy="358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30" name="Text Box 14">
              <a:extLst>
                <a:ext uri="{FF2B5EF4-FFF2-40B4-BE49-F238E27FC236}">
                  <a16:creationId xmlns:a16="http://schemas.microsoft.com/office/drawing/2014/main" id="{08A298D4-D2DD-4395-8307-0E86EBCB2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14700"/>
              <a:ext cx="2348493" cy="13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name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email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C00000"/>
                  </a:solidFill>
                </a:rPr>
                <a:t>int birthdate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C00000"/>
                  </a:solidFill>
                </a:rPr>
                <a:t>Date birthdate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int id</a:t>
              </a:r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416C791E-6D62-4746-B0A7-A1A4C7B5E68C}"/>
              </a:ext>
            </a:extLst>
          </p:cNvPr>
          <p:cNvSpPr/>
          <p:nvPr/>
        </p:nvSpPr>
        <p:spPr>
          <a:xfrm>
            <a:off x="10689302" y="4442899"/>
            <a:ext cx="697627" cy="369332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Error</a:t>
            </a:r>
          </a:p>
        </p:txBody>
      </p:sp>
      <p:sp>
        <p:nvSpPr>
          <p:cNvPr id="46" name="AutoShape 40">
            <a:extLst>
              <a:ext uri="{FF2B5EF4-FFF2-40B4-BE49-F238E27FC236}">
                <a16:creationId xmlns:a16="http://schemas.microsoft.com/office/drawing/2014/main" id="{4E59F49E-3393-481F-B679-AE7EEE15E30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936825" y="2420888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47" name="AutoShape 40">
            <a:extLst>
              <a:ext uri="{FF2B5EF4-FFF2-40B4-BE49-F238E27FC236}">
                <a16:creationId xmlns:a16="http://schemas.microsoft.com/office/drawing/2014/main" id="{FFCA2630-4751-4989-9AC0-517FC9F1096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000397" y="2420888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B</a:t>
            </a:r>
          </a:p>
        </p:txBody>
      </p:sp>
      <p:sp>
        <p:nvSpPr>
          <p:cNvPr id="48" name="AutoShape 40">
            <a:extLst>
              <a:ext uri="{FF2B5EF4-FFF2-40B4-BE49-F238E27FC236}">
                <a16:creationId xmlns:a16="http://schemas.microsoft.com/office/drawing/2014/main" id="{2D576BBD-548A-4D5A-9187-105FC647F5E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428516" y="2416344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C</a:t>
            </a:r>
          </a:p>
        </p:txBody>
      </p:sp>
    </p:spTree>
    <p:extLst>
      <p:ext uri="{BB962C8B-B14F-4D97-AF65-F5344CB8AC3E}">
        <p14:creationId xmlns:p14="http://schemas.microsoft.com/office/powerpoint/2010/main" val="324920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DA111FA-7FC4-41A3-89DE-0D1298F7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Inheritance Merging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01B283C-557B-4AE5-A1EE-E195E7759961}"/>
              </a:ext>
            </a:extLst>
          </p:cNvPr>
          <p:cNvSpPr txBox="1"/>
          <p:nvPr/>
        </p:nvSpPr>
        <p:spPr>
          <a:xfrm>
            <a:off x="4031049" y="1966088"/>
            <a:ext cx="740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r>
              <a:rPr lang="de-DE" sz="2000" b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CD</a:t>
            </a:r>
            <a:endParaRPr lang="de-DE" sz="2800" b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8375CF1-ECE6-4299-9DEB-5C0271424F57}"/>
              </a:ext>
            </a:extLst>
          </p:cNvPr>
          <p:cNvSpPr/>
          <p:nvPr/>
        </p:nvSpPr>
        <p:spPr>
          <a:xfrm>
            <a:off x="7658637" y="2015009"/>
            <a:ext cx="394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>
                <a:latin typeface="+mj-lt"/>
                <a:ea typeface="Cambria Math"/>
              </a:rPr>
              <a:t>=</a:t>
            </a:r>
            <a:endParaRPr lang="de-DE" sz="2800" b="1" dirty="0">
              <a:latin typeface="+mj-lt"/>
            </a:endParaRPr>
          </a:p>
        </p:txBody>
      </p:sp>
      <p:sp>
        <p:nvSpPr>
          <p:cNvPr id="24" name="AutoShape 40">
            <a:extLst>
              <a:ext uri="{FF2B5EF4-FFF2-40B4-BE49-F238E27FC236}">
                <a16:creationId xmlns:a16="http://schemas.microsoft.com/office/drawing/2014/main" id="{B6D165B6-217A-4B2D-AF49-C83F143469B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936825" y="1511841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25" name="AutoShape 40">
            <a:extLst>
              <a:ext uri="{FF2B5EF4-FFF2-40B4-BE49-F238E27FC236}">
                <a16:creationId xmlns:a16="http://schemas.microsoft.com/office/drawing/2014/main" id="{1CE5CD50-B000-456B-84BE-97BE778A41E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000397" y="1511841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B</a:t>
            </a:r>
          </a:p>
        </p:txBody>
      </p:sp>
      <p:sp>
        <p:nvSpPr>
          <p:cNvPr id="26" name="AutoShape 40">
            <a:extLst>
              <a:ext uri="{FF2B5EF4-FFF2-40B4-BE49-F238E27FC236}">
                <a16:creationId xmlns:a16="http://schemas.microsoft.com/office/drawing/2014/main" id="{608BEAFB-DB9A-4445-A73A-AEAE91CD86C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428516" y="1507297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C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73A75DB-905A-4030-8DCA-1691B1E6145C}"/>
              </a:ext>
            </a:extLst>
          </p:cNvPr>
          <p:cNvGrpSpPr/>
          <p:nvPr/>
        </p:nvGrpSpPr>
        <p:grpSpPr>
          <a:xfrm>
            <a:off x="1271464" y="1512567"/>
            <a:ext cx="1529888" cy="792000"/>
            <a:chOff x="1271464" y="1152527"/>
            <a:chExt cx="1529888" cy="792000"/>
          </a:xfrm>
        </p:grpSpPr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B660970A-80FD-461D-A545-0DA6AC1ECCD9}"/>
                </a:ext>
              </a:extLst>
            </p:cNvPr>
            <p:cNvGrpSpPr/>
            <p:nvPr/>
          </p:nvGrpSpPr>
          <p:grpSpPr>
            <a:xfrm>
              <a:off x="1271464" y="1152527"/>
              <a:ext cx="1529888" cy="792000"/>
              <a:chOff x="1082040" y="2857500"/>
              <a:chExt cx="2438400" cy="859408"/>
            </a:xfrm>
          </p:grpSpPr>
          <p:sp>
            <p:nvSpPr>
              <p:cNvPr id="5" name="Rectangle 10">
                <a:extLst>
                  <a:ext uri="{FF2B5EF4-FFF2-40B4-BE49-F238E27FC236}">
                    <a16:creationId xmlns:a16="http://schemas.microsoft.com/office/drawing/2014/main" id="{F0413849-C108-4D37-8161-38DDFCA33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2857500"/>
                <a:ext cx="2438400" cy="859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6" name="Text Box 11">
                <a:extLst>
                  <a:ext uri="{FF2B5EF4-FFF2-40B4-BE49-F238E27FC236}">
                    <a16:creationId xmlns:a16="http://schemas.microsoft.com/office/drawing/2014/main" id="{26347627-4013-4A16-85AE-E92C2C7C55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9086" y="2917825"/>
                <a:ext cx="1329078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de-DE" sz="1600" dirty="0"/>
                  <a:t>Person</a:t>
                </a:r>
              </a:p>
            </p:txBody>
          </p:sp>
          <p:sp>
            <p:nvSpPr>
              <p:cNvPr id="9" name="Text Box 14">
                <a:extLst>
                  <a:ext uri="{FF2B5EF4-FFF2-40B4-BE49-F238E27FC236}">
                    <a16:creationId xmlns:a16="http://schemas.microsoft.com/office/drawing/2014/main" id="{C94B6B52-5AB3-4DBC-9324-0B46EEC7A3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3314700"/>
                <a:ext cx="2057233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/>
                  <a:t>String name</a:t>
                </a:r>
              </a:p>
            </p:txBody>
          </p:sp>
        </p:grp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8C51A884-8A0C-4FA7-8E36-931D4BFECE33}"/>
                </a:ext>
              </a:extLst>
            </p:cNvPr>
            <p:cNvCxnSpPr>
              <a:stCxn id="5" idx="1"/>
              <a:endCxn id="5" idx="3"/>
            </p:cNvCxnSpPr>
            <p:nvPr/>
          </p:nvCxnSpPr>
          <p:spPr>
            <a:xfrm>
              <a:off x="1271464" y="1548527"/>
              <a:ext cx="1529888" cy="0"/>
            </a:xfrm>
            <a:prstGeom prst="line">
              <a:avLst/>
            </a:prstGeom>
            <a:ln w="9525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EED674CA-1B44-4F89-81FD-41ADF667DB7A}"/>
              </a:ext>
            </a:extLst>
          </p:cNvPr>
          <p:cNvGrpSpPr/>
          <p:nvPr/>
        </p:nvGrpSpPr>
        <p:grpSpPr>
          <a:xfrm>
            <a:off x="5331056" y="1510714"/>
            <a:ext cx="1529888" cy="792000"/>
            <a:chOff x="1271464" y="1152527"/>
            <a:chExt cx="1529888" cy="792000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C8652DEE-F4B2-4440-B1F7-214C77B5561C}"/>
                </a:ext>
              </a:extLst>
            </p:cNvPr>
            <p:cNvGrpSpPr/>
            <p:nvPr/>
          </p:nvGrpSpPr>
          <p:grpSpPr>
            <a:xfrm>
              <a:off x="1271464" y="1152527"/>
              <a:ext cx="1529888" cy="792000"/>
              <a:chOff x="1082040" y="2857500"/>
              <a:chExt cx="2438400" cy="859408"/>
            </a:xfrm>
          </p:grpSpPr>
          <p:sp>
            <p:nvSpPr>
              <p:cNvPr id="33" name="Rectangle 10">
                <a:extLst>
                  <a:ext uri="{FF2B5EF4-FFF2-40B4-BE49-F238E27FC236}">
                    <a16:creationId xmlns:a16="http://schemas.microsoft.com/office/drawing/2014/main" id="{49682E6E-8271-4180-87AB-EF6FBFACC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2857500"/>
                <a:ext cx="2438400" cy="859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34" name="Text Box 11">
                <a:extLst>
                  <a:ext uri="{FF2B5EF4-FFF2-40B4-BE49-F238E27FC236}">
                    <a16:creationId xmlns:a16="http://schemas.microsoft.com/office/drawing/2014/main" id="{CAC10280-E7D2-43DD-BC97-19845C3735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9086" y="2917825"/>
                <a:ext cx="1329078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de-DE" sz="1600" dirty="0"/>
                  <a:t>Person</a:t>
                </a:r>
              </a:p>
            </p:txBody>
          </p:sp>
          <p:sp>
            <p:nvSpPr>
              <p:cNvPr id="35" name="Text Box 14">
                <a:extLst>
                  <a:ext uri="{FF2B5EF4-FFF2-40B4-BE49-F238E27FC236}">
                    <a16:creationId xmlns:a16="http://schemas.microsoft.com/office/drawing/2014/main" id="{CA879386-6DDF-479E-AA57-07F65F104C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3314700"/>
                <a:ext cx="2057233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/>
                  <a:t>String name</a:t>
                </a:r>
              </a:p>
            </p:txBody>
          </p:sp>
        </p:grp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58F9A527-7AAB-43AD-83A8-B4E9F1E86E31}"/>
                </a:ext>
              </a:extLst>
            </p:cNvPr>
            <p:cNvCxnSpPr>
              <a:stCxn id="33" idx="1"/>
              <a:endCxn id="33" idx="3"/>
            </p:cNvCxnSpPr>
            <p:nvPr/>
          </p:nvCxnSpPr>
          <p:spPr>
            <a:xfrm>
              <a:off x="1271464" y="1548527"/>
              <a:ext cx="1529888" cy="0"/>
            </a:xfrm>
            <a:prstGeom prst="line">
              <a:avLst/>
            </a:prstGeom>
            <a:ln w="9525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9CB0E433-ACEA-4CD3-9578-13DFBAA5911A}"/>
              </a:ext>
            </a:extLst>
          </p:cNvPr>
          <p:cNvGrpSpPr/>
          <p:nvPr/>
        </p:nvGrpSpPr>
        <p:grpSpPr>
          <a:xfrm>
            <a:off x="8759175" y="1508861"/>
            <a:ext cx="1529888" cy="792000"/>
            <a:chOff x="1271464" y="1152527"/>
            <a:chExt cx="1529888" cy="792000"/>
          </a:xfrm>
        </p:grpSpPr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1B2EAA94-09D9-4479-9BC4-216E742CE39F}"/>
                </a:ext>
              </a:extLst>
            </p:cNvPr>
            <p:cNvGrpSpPr/>
            <p:nvPr/>
          </p:nvGrpSpPr>
          <p:grpSpPr>
            <a:xfrm>
              <a:off x="1271464" y="1152527"/>
              <a:ext cx="1529888" cy="792000"/>
              <a:chOff x="1082040" y="2857500"/>
              <a:chExt cx="2438400" cy="859408"/>
            </a:xfrm>
          </p:grpSpPr>
          <p:sp>
            <p:nvSpPr>
              <p:cNvPr id="39" name="Rectangle 10">
                <a:extLst>
                  <a:ext uri="{FF2B5EF4-FFF2-40B4-BE49-F238E27FC236}">
                    <a16:creationId xmlns:a16="http://schemas.microsoft.com/office/drawing/2014/main" id="{86CCE937-2C9D-41C3-819E-9F3E54727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2857500"/>
                <a:ext cx="2438400" cy="859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40" name="Text Box 11">
                <a:extLst>
                  <a:ext uri="{FF2B5EF4-FFF2-40B4-BE49-F238E27FC236}">
                    <a16:creationId xmlns:a16="http://schemas.microsoft.com/office/drawing/2014/main" id="{66695692-331A-4202-81C8-5D98FE24D8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9086" y="2917825"/>
                <a:ext cx="1329078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de-DE" sz="1600" dirty="0"/>
                  <a:t>Person</a:t>
                </a:r>
              </a:p>
            </p:txBody>
          </p:sp>
          <p:sp>
            <p:nvSpPr>
              <p:cNvPr id="41" name="Text Box 14">
                <a:extLst>
                  <a:ext uri="{FF2B5EF4-FFF2-40B4-BE49-F238E27FC236}">
                    <a16:creationId xmlns:a16="http://schemas.microsoft.com/office/drawing/2014/main" id="{FD7FAFD8-D133-4ADE-8094-47E1716B1D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3314700"/>
                <a:ext cx="2057233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/>
                  <a:t>String name</a:t>
                </a:r>
              </a:p>
            </p:txBody>
          </p:sp>
        </p:grp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07F03C2D-8E90-43A3-9AF9-98EC87320C7D}"/>
                </a:ext>
              </a:extLst>
            </p:cNvPr>
            <p:cNvCxnSpPr>
              <a:stCxn id="39" idx="1"/>
              <a:endCxn id="39" idx="3"/>
            </p:cNvCxnSpPr>
            <p:nvPr/>
          </p:nvCxnSpPr>
          <p:spPr>
            <a:xfrm>
              <a:off x="1271464" y="1548527"/>
              <a:ext cx="1529888" cy="0"/>
            </a:xfrm>
            <a:prstGeom prst="line">
              <a:avLst/>
            </a:prstGeom>
            <a:ln w="9525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78F62BF-873A-4CE8-9F3D-2ED056E7FEAF}"/>
              </a:ext>
            </a:extLst>
          </p:cNvPr>
          <p:cNvGrpSpPr/>
          <p:nvPr/>
        </p:nvGrpSpPr>
        <p:grpSpPr>
          <a:xfrm>
            <a:off x="1271464" y="2852935"/>
            <a:ext cx="1529888" cy="1008112"/>
            <a:chOff x="1271464" y="2492895"/>
            <a:chExt cx="1529888" cy="1008112"/>
          </a:xfrm>
        </p:grpSpPr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A32F3A42-6CCF-4CDC-9771-E285F808B3A3}"/>
                </a:ext>
              </a:extLst>
            </p:cNvPr>
            <p:cNvGrpSpPr/>
            <p:nvPr/>
          </p:nvGrpSpPr>
          <p:grpSpPr>
            <a:xfrm>
              <a:off x="1271464" y="2492895"/>
              <a:ext cx="1529888" cy="1008112"/>
              <a:chOff x="1082040" y="2857500"/>
              <a:chExt cx="2438400" cy="1093914"/>
            </a:xfrm>
          </p:grpSpPr>
          <p:sp>
            <p:nvSpPr>
              <p:cNvPr id="57" name="Rectangle 10">
                <a:extLst>
                  <a:ext uri="{FF2B5EF4-FFF2-40B4-BE49-F238E27FC236}">
                    <a16:creationId xmlns:a16="http://schemas.microsoft.com/office/drawing/2014/main" id="{8B0A5F1D-A466-464A-A0E0-A15AF6887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2857500"/>
                <a:ext cx="2438400" cy="10939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58" name="Text Box 11">
                <a:extLst>
                  <a:ext uri="{FF2B5EF4-FFF2-40B4-BE49-F238E27FC236}">
                    <a16:creationId xmlns:a16="http://schemas.microsoft.com/office/drawing/2014/main" id="{501212CB-FC07-4691-9982-EBF388DAD5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0859" y="2917825"/>
                <a:ext cx="1745531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de-DE" sz="1600" dirty="0"/>
                  <a:t>Employee</a:t>
                </a:r>
              </a:p>
            </p:txBody>
          </p:sp>
          <p:sp>
            <p:nvSpPr>
              <p:cNvPr id="59" name="Text Box 14">
                <a:extLst>
                  <a:ext uri="{FF2B5EF4-FFF2-40B4-BE49-F238E27FC236}">
                    <a16:creationId xmlns:a16="http://schemas.microsoft.com/office/drawing/2014/main" id="{34CFD5D6-F891-41AE-B77B-28AD8DBAC0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3314700"/>
                <a:ext cx="2236078" cy="634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/>
                  <a:t>double salary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/>
                  <a:t>int </a:t>
                </a:r>
                <a:r>
                  <a:rPr lang="en-US" altLang="en-US" sz="1600" dirty="0" err="1"/>
                  <a:t>empNo</a:t>
                </a:r>
                <a:endParaRPr lang="en-US" altLang="en-US" sz="1600" dirty="0"/>
              </a:p>
            </p:txBody>
          </p:sp>
        </p:grp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4DE6695C-2A7C-4F49-8C7C-BEC6320E8B7A}"/>
                </a:ext>
              </a:extLst>
            </p:cNvPr>
            <p:cNvCxnSpPr>
              <a:cxnSpLocks/>
            </p:cNvCxnSpPr>
            <p:nvPr/>
          </p:nvCxnSpPr>
          <p:spPr>
            <a:xfrm>
              <a:off x="1271464" y="2887043"/>
              <a:ext cx="1529888" cy="0"/>
            </a:xfrm>
            <a:prstGeom prst="line">
              <a:avLst/>
            </a:prstGeom>
            <a:ln w="9525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C8564587-C3C5-44BF-B867-DE47671DB7A1}"/>
              </a:ext>
            </a:extLst>
          </p:cNvPr>
          <p:cNvCxnSpPr>
            <a:stCxn id="5" idx="2"/>
            <a:endCxn id="57" idx="0"/>
          </p:cNvCxnSpPr>
          <p:nvPr/>
        </p:nvCxnSpPr>
        <p:spPr>
          <a:xfrm>
            <a:off x="2036408" y="2304567"/>
            <a:ext cx="0" cy="548369"/>
          </a:xfrm>
          <a:prstGeom prst="line">
            <a:avLst/>
          </a:prstGeom>
          <a:ln w="9525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AutoShape 25">
            <a:extLst>
              <a:ext uri="{FF2B5EF4-FFF2-40B4-BE49-F238E27FC236}">
                <a16:creationId xmlns:a16="http://schemas.microsoft.com/office/drawing/2014/main" id="{C3B648A0-6FF9-4F30-B89D-E7F2369BD8D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16833" y="2306890"/>
            <a:ext cx="239928" cy="181241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/>
          </a:p>
        </p:txBody>
      </p: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7110EEAA-C413-49A5-B752-B52A09C0F3FC}"/>
              </a:ext>
            </a:extLst>
          </p:cNvPr>
          <p:cNvGrpSpPr/>
          <p:nvPr/>
        </p:nvGrpSpPr>
        <p:grpSpPr>
          <a:xfrm>
            <a:off x="5331056" y="2856255"/>
            <a:ext cx="1529888" cy="1008112"/>
            <a:chOff x="1271464" y="2492895"/>
            <a:chExt cx="1529888" cy="1008112"/>
          </a:xfrm>
        </p:grpSpPr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6E23F876-F131-48C1-9DEF-2689A489F447}"/>
                </a:ext>
              </a:extLst>
            </p:cNvPr>
            <p:cNvGrpSpPr/>
            <p:nvPr/>
          </p:nvGrpSpPr>
          <p:grpSpPr>
            <a:xfrm>
              <a:off x="1271464" y="2492895"/>
              <a:ext cx="1529888" cy="1008112"/>
              <a:chOff x="1082040" y="2857500"/>
              <a:chExt cx="2438400" cy="1093914"/>
            </a:xfrm>
          </p:grpSpPr>
          <p:sp>
            <p:nvSpPr>
              <p:cNvPr id="72" name="Rectangle 10">
                <a:extLst>
                  <a:ext uri="{FF2B5EF4-FFF2-40B4-BE49-F238E27FC236}">
                    <a16:creationId xmlns:a16="http://schemas.microsoft.com/office/drawing/2014/main" id="{AF76C2EC-5440-4469-BCD1-194EF5FCD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2857500"/>
                <a:ext cx="2438400" cy="10939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73" name="Text Box 11">
                <a:extLst>
                  <a:ext uri="{FF2B5EF4-FFF2-40B4-BE49-F238E27FC236}">
                    <a16:creationId xmlns:a16="http://schemas.microsoft.com/office/drawing/2014/main" id="{F18571CF-7FFF-4B1F-9A10-312930EF42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0859" y="2917825"/>
                <a:ext cx="1745531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de-DE" sz="1600" dirty="0"/>
                  <a:t>Professor</a:t>
                </a:r>
              </a:p>
            </p:txBody>
          </p:sp>
          <p:sp>
            <p:nvSpPr>
              <p:cNvPr id="74" name="Text Box 14">
                <a:extLst>
                  <a:ext uri="{FF2B5EF4-FFF2-40B4-BE49-F238E27FC236}">
                    <a16:creationId xmlns:a16="http://schemas.microsoft.com/office/drawing/2014/main" id="{FC9F878E-EEA4-4583-8DDE-8A94ED89E7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3314700"/>
                <a:ext cx="2146657" cy="634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/>
                  <a:t>int </a:t>
                </a:r>
                <a:r>
                  <a:rPr lang="en-US" altLang="en-US" sz="1600" dirty="0" err="1"/>
                  <a:t>empNo</a:t>
                </a:r>
                <a:endParaRPr lang="en-US" altLang="en-US" sz="1600" dirty="0"/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/>
                  <a:t>String phone</a:t>
                </a:r>
              </a:p>
            </p:txBody>
          </p:sp>
        </p:grpSp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3E48EBB0-F428-4F0A-B379-AF140036D1BF}"/>
                </a:ext>
              </a:extLst>
            </p:cNvPr>
            <p:cNvCxnSpPr>
              <a:cxnSpLocks/>
            </p:cNvCxnSpPr>
            <p:nvPr/>
          </p:nvCxnSpPr>
          <p:spPr>
            <a:xfrm>
              <a:off x="1271464" y="2887043"/>
              <a:ext cx="1529888" cy="0"/>
            </a:xfrm>
            <a:prstGeom prst="line">
              <a:avLst/>
            </a:prstGeom>
            <a:ln w="9525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D23A5A76-F189-4A52-B286-08D0E64D1FFF}"/>
              </a:ext>
            </a:extLst>
          </p:cNvPr>
          <p:cNvCxnSpPr>
            <a:endCxn id="72" idx="0"/>
          </p:cNvCxnSpPr>
          <p:nvPr/>
        </p:nvCxnSpPr>
        <p:spPr>
          <a:xfrm>
            <a:off x="6096000" y="2307887"/>
            <a:ext cx="0" cy="548369"/>
          </a:xfrm>
          <a:prstGeom prst="line">
            <a:avLst/>
          </a:prstGeom>
          <a:ln w="9525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AutoShape 25">
            <a:extLst>
              <a:ext uri="{FF2B5EF4-FFF2-40B4-BE49-F238E27FC236}">
                <a16:creationId xmlns:a16="http://schemas.microsoft.com/office/drawing/2014/main" id="{2931C45B-792B-4FBB-BBED-95DCAC9E08B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76425" y="2310210"/>
            <a:ext cx="239928" cy="181241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/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AF6930AF-A1C1-4D8A-8BB5-EDB1D48AFF2B}"/>
              </a:ext>
            </a:extLst>
          </p:cNvPr>
          <p:cNvGrpSpPr/>
          <p:nvPr/>
        </p:nvGrpSpPr>
        <p:grpSpPr>
          <a:xfrm>
            <a:off x="8759175" y="2852935"/>
            <a:ext cx="1529888" cy="1008112"/>
            <a:chOff x="1271464" y="2492895"/>
            <a:chExt cx="1529888" cy="1008112"/>
          </a:xfrm>
        </p:grpSpPr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393A2BDC-6867-4942-8541-9D6331FCF3BF}"/>
                </a:ext>
              </a:extLst>
            </p:cNvPr>
            <p:cNvGrpSpPr/>
            <p:nvPr/>
          </p:nvGrpSpPr>
          <p:grpSpPr>
            <a:xfrm>
              <a:off x="1271464" y="2492895"/>
              <a:ext cx="1529888" cy="1008112"/>
              <a:chOff x="1082040" y="2857500"/>
              <a:chExt cx="2438400" cy="1093914"/>
            </a:xfrm>
          </p:grpSpPr>
          <p:sp>
            <p:nvSpPr>
              <p:cNvPr id="80" name="Rectangle 10">
                <a:extLst>
                  <a:ext uri="{FF2B5EF4-FFF2-40B4-BE49-F238E27FC236}">
                    <a16:creationId xmlns:a16="http://schemas.microsoft.com/office/drawing/2014/main" id="{9287413C-9A8E-4F9F-A51D-169D5B855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2857500"/>
                <a:ext cx="2438400" cy="109391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81" name="Text Box 11">
                <a:extLst>
                  <a:ext uri="{FF2B5EF4-FFF2-40B4-BE49-F238E27FC236}">
                    <a16:creationId xmlns:a16="http://schemas.microsoft.com/office/drawing/2014/main" id="{CF8B488B-DE82-4645-93FD-98F2714651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0859" y="2917825"/>
                <a:ext cx="1745531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de-DE" sz="1600" dirty="0"/>
                  <a:t>Employee</a:t>
                </a:r>
              </a:p>
            </p:txBody>
          </p:sp>
          <p:sp>
            <p:nvSpPr>
              <p:cNvPr id="82" name="Text Box 14">
                <a:extLst>
                  <a:ext uri="{FF2B5EF4-FFF2-40B4-BE49-F238E27FC236}">
                    <a16:creationId xmlns:a16="http://schemas.microsoft.com/office/drawing/2014/main" id="{7FFCA406-AC4B-4550-8340-63A3B2E87A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3314700"/>
                <a:ext cx="2236078" cy="634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/>
                  <a:t>double salary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/>
                  <a:t>int </a:t>
                </a:r>
                <a:r>
                  <a:rPr lang="en-US" altLang="en-US" sz="1600" dirty="0" err="1"/>
                  <a:t>empNo</a:t>
                </a:r>
                <a:endParaRPr lang="en-US" altLang="en-US" sz="1600" dirty="0"/>
              </a:p>
            </p:txBody>
          </p:sp>
        </p:grp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747482C-7936-4CFD-8803-39FE4E419759}"/>
                </a:ext>
              </a:extLst>
            </p:cNvPr>
            <p:cNvCxnSpPr>
              <a:cxnSpLocks/>
            </p:cNvCxnSpPr>
            <p:nvPr/>
          </p:nvCxnSpPr>
          <p:spPr>
            <a:xfrm>
              <a:off x="1271464" y="2887043"/>
              <a:ext cx="1529888" cy="0"/>
            </a:xfrm>
            <a:prstGeom prst="line">
              <a:avLst/>
            </a:prstGeom>
            <a:ln w="9525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BB81233C-DCA6-48CC-AAB7-7E1EF419C4B4}"/>
              </a:ext>
            </a:extLst>
          </p:cNvPr>
          <p:cNvCxnSpPr>
            <a:endCxn id="80" idx="0"/>
          </p:cNvCxnSpPr>
          <p:nvPr/>
        </p:nvCxnSpPr>
        <p:spPr>
          <a:xfrm>
            <a:off x="9524119" y="2304567"/>
            <a:ext cx="0" cy="548369"/>
          </a:xfrm>
          <a:prstGeom prst="line">
            <a:avLst/>
          </a:prstGeom>
          <a:ln w="9525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AutoShape 25">
            <a:extLst>
              <a:ext uri="{FF2B5EF4-FFF2-40B4-BE49-F238E27FC236}">
                <a16:creationId xmlns:a16="http://schemas.microsoft.com/office/drawing/2014/main" id="{AF6292CA-CAB4-45A4-A230-39D853DABAC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404544" y="2306890"/>
            <a:ext cx="239928" cy="181241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/>
          </a:p>
        </p:txBody>
      </p: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7A47605E-A453-4C49-9037-7C9FE97FC70F}"/>
              </a:ext>
            </a:extLst>
          </p:cNvPr>
          <p:cNvGrpSpPr/>
          <p:nvPr/>
        </p:nvGrpSpPr>
        <p:grpSpPr>
          <a:xfrm>
            <a:off x="1267390" y="4408083"/>
            <a:ext cx="1529888" cy="791999"/>
            <a:chOff x="1271464" y="2492896"/>
            <a:chExt cx="1529888" cy="791999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FEB6CC9C-FFF9-4865-9B67-AD5F2634F779}"/>
                </a:ext>
              </a:extLst>
            </p:cNvPr>
            <p:cNvGrpSpPr/>
            <p:nvPr/>
          </p:nvGrpSpPr>
          <p:grpSpPr>
            <a:xfrm>
              <a:off x="1271464" y="2492896"/>
              <a:ext cx="1529888" cy="791999"/>
              <a:chOff x="1082040" y="2857500"/>
              <a:chExt cx="2438400" cy="859407"/>
            </a:xfrm>
          </p:grpSpPr>
          <p:sp>
            <p:nvSpPr>
              <p:cNvPr id="88" name="Rectangle 10">
                <a:extLst>
                  <a:ext uri="{FF2B5EF4-FFF2-40B4-BE49-F238E27FC236}">
                    <a16:creationId xmlns:a16="http://schemas.microsoft.com/office/drawing/2014/main" id="{3BE83477-C4E8-4B4C-9EA2-0F7E0D21F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2857500"/>
                <a:ext cx="2438400" cy="85940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89" name="Text Box 11">
                <a:extLst>
                  <a:ext uri="{FF2B5EF4-FFF2-40B4-BE49-F238E27FC236}">
                    <a16:creationId xmlns:a16="http://schemas.microsoft.com/office/drawing/2014/main" id="{F45763F0-1661-41CC-955F-6BC33768B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0859" y="2917825"/>
                <a:ext cx="1745531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de-DE" sz="1600" dirty="0"/>
                  <a:t>Professor</a:t>
                </a:r>
              </a:p>
            </p:txBody>
          </p:sp>
          <p:sp>
            <p:nvSpPr>
              <p:cNvPr id="90" name="Text Box 14">
                <a:extLst>
                  <a:ext uri="{FF2B5EF4-FFF2-40B4-BE49-F238E27FC236}">
                    <a16:creationId xmlns:a16="http://schemas.microsoft.com/office/drawing/2014/main" id="{9F06F2FC-124A-472D-8642-22DD99BE0F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3314700"/>
                <a:ext cx="2353605" cy="3339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dirty="0" err="1"/>
                  <a:t>boolean</a:t>
                </a:r>
                <a:r>
                  <a:rPr lang="en-US" altLang="en-US" sz="1400" dirty="0"/>
                  <a:t> tenured</a:t>
                </a:r>
              </a:p>
            </p:txBody>
          </p:sp>
        </p:grp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DF841722-C72D-4D76-99D7-07A60FF96ED7}"/>
                </a:ext>
              </a:extLst>
            </p:cNvPr>
            <p:cNvCxnSpPr>
              <a:cxnSpLocks/>
            </p:cNvCxnSpPr>
            <p:nvPr/>
          </p:nvCxnSpPr>
          <p:spPr>
            <a:xfrm>
              <a:off x="1271464" y="2887043"/>
              <a:ext cx="1529888" cy="0"/>
            </a:xfrm>
            <a:prstGeom prst="line">
              <a:avLst/>
            </a:prstGeom>
            <a:ln w="9525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83CA8B42-BC74-4CA1-9777-D8B0D7B7FA01}"/>
              </a:ext>
            </a:extLst>
          </p:cNvPr>
          <p:cNvCxnSpPr>
            <a:endCxn id="88" idx="0"/>
          </p:cNvCxnSpPr>
          <p:nvPr/>
        </p:nvCxnSpPr>
        <p:spPr>
          <a:xfrm>
            <a:off x="2032334" y="3859714"/>
            <a:ext cx="0" cy="548368"/>
          </a:xfrm>
          <a:prstGeom prst="line">
            <a:avLst/>
          </a:prstGeom>
          <a:ln w="9525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AutoShape 25">
            <a:extLst>
              <a:ext uri="{FF2B5EF4-FFF2-40B4-BE49-F238E27FC236}">
                <a16:creationId xmlns:a16="http://schemas.microsoft.com/office/drawing/2014/main" id="{E353D1EC-C0BF-4F37-9D1A-E16AA9F8A88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12759" y="3862037"/>
            <a:ext cx="239928" cy="181241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/>
          </a:p>
        </p:txBody>
      </p: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5F145BC0-B5A9-40F3-A58A-C8741BF1FBC2}"/>
              </a:ext>
            </a:extLst>
          </p:cNvPr>
          <p:cNvGrpSpPr/>
          <p:nvPr/>
        </p:nvGrpSpPr>
        <p:grpSpPr>
          <a:xfrm>
            <a:off x="8759175" y="4424771"/>
            <a:ext cx="1529888" cy="944560"/>
            <a:chOff x="1271464" y="2492898"/>
            <a:chExt cx="1529888" cy="944560"/>
          </a:xfrm>
        </p:grpSpPr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5EA4AF0C-0746-4DD7-B400-394D33D06EDD}"/>
                </a:ext>
              </a:extLst>
            </p:cNvPr>
            <p:cNvGrpSpPr/>
            <p:nvPr/>
          </p:nvGrpSpPr>
          <p:grpSpPr>
            <a:xfrm>
              <a:off x="1271464" y="2492898"/>
              <a:ext cx="1529888" cy="944560"/>
              <a:chOff x="1082040" y="2857500"/>
              <a:chExt cx="2438400" cy="1024952"/>
            </a:xfrm>
          </p:grpSpPr>
          <p:sp>
            <p:nvSpPr>
              <p:cNvPr id="97" name="Rectangle 10">
                <a:extLst>
                  <a:ext uri="{FF2B5EF4-FFF2-40B4-BE49-F238E27FC236}">
                    <a16:creationId xmlns:a16="http://schemas.microsoft.com/office/drawing/2014/main" id="{B8BD483F-FF8F-43DB-876D-2B3F8AAB7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2857500"/>
                <a:ext cx="2438400" cy="10249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98" name="Text Box 11">
                <a:extLst>
                  <a:ext uri="{FF2B5EF4-FFF2-40B4-BE49-F238E27FC236}">
                    <a16:creationId xmlns:a16="http://schemas.microsoft.com/office/drawing/2014/main" id="{A0F42790-B55A-4EC7-9AFD-D6CD917BFE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0859" y="2917825"/>
                <a:ext cx="1745531" cy="367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de-DE" sz="1600" dirty="0"/>
                  <a:t>Professor</a:t>
                </a:r>
              </a:p>
            </p:txBody>
          </p:sp>
          <p:sp>
            <p:nvSpPr>
              <p:cNvPr id="99" name="Text Box 14">
                <a:extLst>
                  <a:ext uri="{FF2B5EF4-FFF2-40B4-BE49-F238E27FC236}">
                    <a16:creationId xmlns:a16="http://schemas.microsoft.com/office/drawing/2014/main" id="{79630FD2-4DBC-4794-8B4F-D669CFB83A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3314700"/>
                <a:ext cx="2353604" cy="567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dirty="0" err="1"/>
                  <a:t>boolean</a:t>
                </a:r>
                <a:r>
                  <a:rPr lang="en-US" altLang="en-US" sz="1400" dirty="0"/>
                  <a:t> tenured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dirty="0"/>
                  <a:t>String phone</a:t>
                </a:r>
              </a:p>
            </p:txBody>
          </p:sp>
        </p:grpSp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09A01FA5-ECF8-4FE7-AA6A-60455F1125A6}"/>
                </a:ext>
              </a:extLst>
            </p:cNvPr>
            <p:cNvCxnSpPr>
              <a:cxnSpLocks/>
            </p:cNvCxnSpPr>
            <p:nvPr/>
          </p:nvCxnSpPr>
          <p:spPr>
            <a:xfrm>
              <a:off x="1271464" y="2887043"/>
              <a:ext cx="1529888" cy="0"/>
            </a:xfrm>
            <a:prstGeom prst="line">
              <a:avLst/>
            </a:prstGeom>
            <a:ln w="9525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84E072F4-2D99-47C5-BF8F-9672DD4553F7}"/>
              </a:ext>
            </a:extLst>
          </p:cNvPr>
          <p:cNvCxnSpPr>
            <a:endCxn id="97" idx="0"/>
          </p:cNvCxnSpPr>
          <p:nvPr/>
        </p:nvCxnSpPr>
        <p:spPr>
          <a:xfrm>
            <a:off x="9524119" y="3876400"/>
            <a:ext cx="0" cy="548371"/>
          </a:xfrm>
          <a:prstGeom prst="line">
            <a:avLst/>
          </a:prstGeom>
          <a:ln w="9525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AutoShape 25">
            <a:extLst>
              <a:ext uri="{FF2B5EF4-FFF2-40B4-BE49-F238E27FC236}">
                <a16:creationId xmlns:a16="http://schemas.microsoft.com/office/drawing/2014/main" id="{57A39142-E201-44D3-8F8F-E7C73FE30F8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404544" y="3878723"/>
            <a:ext cx="239928" cy="181241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/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1A5F45A2-172F-4EC0-AD84-ED275F78B757}"/>
              </a:ext>
            </a:extLst>
          </p:cNvPr>
          <p:cNvSpPr/>
          <p:nvPr/>
        </p:nvSpPr>
        <p:spPr>
          <a:xfrm>
            <a:off x="10779070" y="5052939"/>
            <a:ext cx="518091" cy="369332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OK</a:t>
            </a:r>
          </a:p>
        </p:txBody>
      </p:sp>
      <p:sp>
        <p:nvSpPr>
          <p:cNvPr id="107" name="Freihandform: Form 106">
            <a:extLst>
              <a:ext uri="{FF2B5EF4-FFF2-40B4-BE49-F238E27FC236}">
                <a16:creationId xmlns:a16="http://schemas.microsoft.com/office/drawing/2014/main" id="{B7B19C85-E86A-4EAE-AABF-9BBFE8F33B41}"/>
              </a:ext>
            </a:extLst>
          </p:cNvPr>
          <p:cNvSpPr/>
          <p:nvPr/>
        </p:nvSpPr>
        <p:spPr>
          <a:xfrm>
            <a:off x="6434667" y="3320439"/>
            <a:ext cx="2404533" cy="325872"/>
          </a:xfrm>
          <a:custGeom>
            <a:avLst/>
            <a:gdLst>
              <a:gd name="connsiteX0" fmla="*/ 0 w 2404533"/>
              <a:gd name="connsiteY0" fmla="*/ 111383 h 325872"/>
              <a:gd name="connsiteX1" fmla="*/ 891822 w 2404533"/>
              <a:gd name="connsiteY1" fmla="*/ 9783 h 325872"/>
              <a:gd name="connsiteX2" fmla="*/ 2404533 w 2404533"/>
              <a:gd name="connsiteY2" fmla="*/ 325872 h 325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4533" h="325872">
                <a:moveTo>
                  <a:pt x="0" y="111383"/>
                </a:moveTo>
                <a:cubicBezTo>
                  <a:pt x="245533" y="42709"/>
                  <a:pt x="491067" y="-25965"/>
                  <a:pt x="891822" y="9783"/>
                </a:cubicBezTo>
                <a:cubicBezTo>
                  <a:pt x="1292578" y="45531"/>
                  <a:pt x="1848555" y="185701"/>
                  <a:pt x="2404533" y="325872"/>
                </a:cubicBezTo>
              </a:path>
            </a:pathLst>
          </a:custGeom>
          <a:noFill/>
          <a:ln w="9525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A5CDB75A-E45C-499D-99FA-23A5314D9E0C}"/>
              </a:ext>
            </a:extLst>
          </p:cNvPr>
          <p:cNvSpPr txBox="1"/>
          <p:nvPr/>
        </p:nvSpPr>
        <p:spPr>
          <a:xfrm>
            <a:off x="6896754" y="2735664"/>
            <a:ext cx="17684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600" i="1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attribute pull-up</a:t>
            </a:r>
          </a:p>
          <a:p>
            <a:r>
              <a:rPr lang="en-US" dirty="0">
                <a:solidFill>
                  <a:schemeClr val="tx2"/>
                </a:solidFill>
              </a:rPr>
              <a:t>to superclass</a:t>
            </a:r>
          </a:p>
        </p:txBody>
      </p:sp>
      <p:sp>
        <p:nvSpPr>
          <p:cNvPr id="110" name="Freihandform: Form 109">
            <a:extLst>
              <a:ext uri="{FF2B5EF4-FFF2-40B4-BE49-F238E27FC236}">
                <a16:creationId xmlns:a16="http://schemas.microsoft.com/office/drawing/2014/main" id="{05450B96-9F9F-4787-8B62-AF6610D02EE8}"/>
              </a:ext>
            </a:extLst>
          </p:cNvPr>
          <p:cNvSpPr/>
          <p:nvPr/>
        </p:nvSpPr>
        <p:spPr>
          <a:xfrm>
            <a:off x="4357511" y="2661142"/>
            <a:ext cx="1693333" cy="1922147"/>
          </a:xfrm>
          <a:custGeom>
            <a:avLst/>
            <a:gdLst>
              <a:gd name="connsiteX0" fmla="*/ 0 w 1693333"/>
              <a:gd name="connsiteY0" fmla="*/ 1922147 h 1922147"/>
              <a:gd name="connsiteX1" fmla="*/ 338667 w 1693333"/>
              <a:gd name="connsiteY1" fmla="*/ 251391 h 1922147"/>
              <a:gd name="connsiteX2" fmla="*/ 1693333 w 1693333"/>
              <a:gd name="connsiteY2" fmla="*/ 36902 h 1922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3333" h="1922147">
                <a:moveTo>
                  <a:pt x="0" y="1922147"/>
                </a:moveTo>
                <a:cubicBezTo>
                  <a:pt x="28222" y="1243872"/>
                  <a:pt x="56445" y="565598"/>
                  <a:pt x="338667" y="251391"/>
                </a:cubicBezTo>
                <a:cubicBezTo>
                  <a:pt x="620889" y="-62816"/>
                  <a:pt x="1157111" y="-12957"/>
                  <a:pt x="1693333" y="36902"/>
                </a:cubicBezTo>
              </a:path>
            </a:pathLst>
          </a:custGeom>
          <a:noFill/>
          <a:ln w="9525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reihandform: Form 110">
            <a:extLst>
              <a:ext uri="{FF2B5EF4-FFF2-40B4-BE49-F238E27FC236}">
                <a16:creationId xmlns:a16="http://schemas.microsoft.com/office/drawing/2014/main" id="{C6B91BE9-A35F-43B4-89B3-B9AF184E2DF2}"/>
              </a:ext>
            </a:extLst>
          </p:cNvPr>
          <p:cNvSpPr/>
          <p:nvPr/>
        </p:nvSpPr>
        <p:spPr>
          <a:xfrm>
            <a:off x="1998133" y="4114607"/>
            <a:ext cx="2043289" cy="479971"/>
          </a:xfrm>
          <a:custGeom>
            <a:avLst/>
            <a:gdLst>
              <a:gd name="connsiteX0" fmla="*/ 2043289 w 2043289"/>
              <a:gd name="connsiteY0" fmla="*/ 479971 h 479971"/>
              <a:gd name="connsiteX1" fmla="*/ 1061156 w 2043289"/>
              <a:gd name="connsiteY1" fmla="*/ 28415 h 479971"/>
              <a:gd name="connsiteX2" fmla="*/ 0 w 2043289"/>
              <a:gd name="connsiteY2" fmla="*/ 84860 h 4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3289" h="479971">
                <a:moveTo>
                  <a:pt x="2043289" y="479971"/>
                </a:moveTo>
                <a:cubicBezTo>
                  <a:pt x="1722496" y="287119"/>
                  <a:pt x="1401704" y="94267"/>
                  <a:pt x="1061156" y="28415"/>
                </a:cubicBezTo>
                <a:cubicBezTo>
                  <a:pt x="720608" y="-37437"/>
                  <a:pt x="360304" y="23711"/>
                  <a:pt x="0" y="84860"/>
                </a:cubicBezTo>
              </a:path>
            </a:pathLst>
          </a:custGeom>
          <a:noFill/>
          <a:ln w="9525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3E38CEDB-79E6-49A5-93F4-518B55955F81}"/>
              </a:ext>
            </a:extLst>
          </p:cNvPr>
          <p:cNvSpPr txBox="1"/>
          <p:nvPr/>
        </p:nvSpPr>
        <p:spPr>
          <a:xfrm>
            <a:off x="3538142" y="4597563"/>
            <a:ext cx="33586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2"/>
                </a:solidFill>
                <a:latin typeface="Comic Sans MS" panose="030F0702030302020204" pitchFamily="66" charset="0"/>
              </a:rPr>
              <a:t>Semantics of Inheritance Arrow:</a:t>
            </a:r>
          </a:p>
          <a:p>
            <a:r>
              <a:rPr lang="en-US" sz="1600" i="1" dirty="0">
                <a:solidFill>
                  <a:schemeClr val="tx2"/>
                </a:solidFill>
                <a:latin typeface="Comic Sans MS" panose="030F0702030302020204" pitchFamily="66" charset="0"/>
              </a:rPr>
              <a:t>Professor is subclass of Person, </a:t>
            </a:r>
          </a:p>
          <a:p>
            <a:r>
              <a:rPr lang="en-US" sz="1600" i="1" dirty="0">
                <a:solidFill>
                  <a:schemeClr val="tx2"/>
                </a:solidFill>
                <a:latin typeface="Comic Sans MS" panose="030F0702030302020204" pitchFamily="66" charset="0"/>
              </a:rPr>
              <a:t>not necessarily </a:t>
            </a:r>
            <a:r>
              <a:rPr lang="en-US" sz="1600" i="1" u="sng" dirty="0">
                <a:solidFill>
                  <a:schemeClr val="tx2"/>
                </a:solidFill>
                <a:latin typeface="Comic Sans MS" panose="030F0702030302020204" pitchFamily="66" charset="0"/>
              </a:rPr>
              <a:t>direct</a:t>
            </a:r>
            <a:r>
              <a:rPr lang="en-US" sz="1600" i="1" dirty="0">
                <a:solidFill>
                  <a:schemeClr val="tx2"/>
                </a:solidFill>
                <a:latin typeface="Comic Sans MS" panose="030F0702030302020204" pitchFamily="66" charset="0"/>
              </a:rPr>
              <a:t> subclass</a:t>
            </a:r>
          </a:p>
        </p:txBody>
      </p:sp>
    </p:spTree>
    <p:extLst>
      <p:ext uri="{BB962C8B-B14F-4D97-AF65-F5344CB8AC3E}">
        <p14:creationId xmlns:p14="http://schemas.microsoft.com/office/powerpoint/2010/main" val="85679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84" grpId="0" animBg="1"/>
      <p:bldP spid="101" grpId="0" animBg="1"/>
      <p:bldP spid="103" grpId="0" animBg="1"/>
      <p:bldP spid="107" grpId="0" animBg="1"/>
      <p:bldP spid="10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C687B83-CE6C-4E64-8162-FB72D1CC125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No circular inheritance hierarchy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F98BD7C-EAC2-49F3-BEDB-FB13E3BE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Conflicts in Inheritance Merging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06F3E758-6D8F-4793-85F8-4A1587E26CC2}"/>
              </a:ext>
            </a:extLst>
          </p:cNvPr>
          <p:cNvSpPr txBox="1"/>
          <p:nvPr/>
        </p:nvSpPr>
        <p:spPr>
          <a:xfrm>
            <a:off x="3741059" y="2760453"/>
            <a:ext cx="740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r>
              <a:rPr lang="de-DE" sz="2000" b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CD</a:t>
            </a:r>
            <a:endParaRPr lang="de-DE" sz="2800" b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A5316E2C-99BB-4017-992E-85FDABE9A774}"/>
              </a:ext>
            </a:extLst>
          </p:cNvPr>
          <p:cNvSpPr/>
          <p:nvPr/>
        </p:nvSpPr>
        <p:spPr>
          <a:xfrm>
            <a:off x="7585774" y="2817941"/>
            <a:ext cx="394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+mj-lt"/>
                <a:ea typeface="Cambria Math"/>
              </a:rPr>
              <a:t>=</a:t>
            </a:r>
            <a:endParaRPr lang="en-US" sz="2800" b="1" baseline="-25000" dirty="0">
              <a:latin typeface="+mj-lt"/>
            </a:endParaRPr>
          </a:p>
        </p:txBody>
      </p:sp>
      <p:sp>
        <p:nvSpPr>
          <p:cNvPr id="87" name="AutoShape 40">
            <a:extLst>
              <a:ext uri="{FF2B5EF4-FFF2-40B4-BE49-F238E27FC236}">
                <a16:creationId xmlns:a16="http://schemas.microsoft.com/office/drawing/2014/main" id="{8501696A-7AE7-402C-881F-99249C27276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235892" y="1939273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88" name="AutoShape 40">
            <a:extLst>
              <a:ext uri="{FF2B5EF4-FFF2-40B4-BE49-F238E27FC236}">
                <a16:creationId xmlns:a16="http://schemas.microsoft.com/office/drawing/2014/main" id="{63B0A1FD-25BE-45F2-B992-35F09D0FE15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66000" y="1939584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B</a:t>
            </a:r>
          </a:p>
        </p:txBody>
      </p:sp>
      <p:sp>
        <p:nvSpPr>
          <p:cNvPr id="89" name="AutoShape 40">
            <a:extLst>
              <a:ext uri="{FF2B5EF4-FFF2-40B4-BE49-F238E27FC236}">
                <a16:creationId xmlns:a16="http://schemas.microsoft.com/office/drawing/2014/main" id="{4FD332B1-C337-4984-86F6-3B1522AB83C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920324" y="1939584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C</a:t>
            </a:r>
          </a:p>
        </p:txBody>
      </p:sp>
      <p:sp>
        <p:nvSpPr>
          <p:cNvPr id="90" name="Rectangle 83">
            <a:extLst>
              <a:ext uri="{FF2B5EF4-FFF2-40B4-BE49-F238E27FC236}">
                <a16:creationId xmlns:a16="http://schemas.microsoft.com/office/drawing/2014/main" id="{FF50740F-B2A4-463F-8B39-E7F792BB5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6000" y="2368693"/>
            <a:ext cx="2340000" cy="412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Professor</a:t>
            </a:r>
          </a:p>
        </p:txBody>
      </p:sp>
      <p:sp>
        <p:nvSpPr>
          <p:cNvPr id="91" name="Rectangle 83">
            <a:extLst>
              <a:ext uri="{FF2B5EF4-FFF2-40B4-BE49-F238E27FC236}">
                <a16:creationId xmlns:a16="http://schemas.microsoft.com/office/drawing/2014/main" id="{D493E997-BA8F-4458-A3F6-8FBAE526A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6000" y="3278158"/>
            <a:ext cx="2340000" cy="412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Lecturer</a:t>
            </a:r>
          </a:p>
        </p:txBody>
      </p: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3D3B3395-02E0-4779-A263-2466883E303A}"/>
              </a:ext>
            </a:extLst>
          </p:cNvPr>
          <p:cNvCxnSpPr>
            <a:stCxn id="91" idx="0"/>
            <a:endCxn id="90" idx="2"/>
          </p:cNvCxnSpPr>
          <p:nvPr/>
        </p:nvCxnSpPr>
        <p:spPr>
          <a:xfrm flipV="1">
            <a:off x="6096000" y="2781443"/>
            <a:ext cx="0" cy="496715"/>
          </a:xfrm>
          <a:prstGeom prst="line">
            <a:avLst/>
          </a:prstGeom>
          <a:ln w="9525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AutoShape 25">
            <a:extLst>
              <a:ext uri="{FF2B5EF4-FFF2-40B4-BE49-F238E27FC236}">
                <a16:creationId xmlns:a16="http://schemas.microsoft.com/office/drawing/2014/main" id="{1B2FEBA7-87A2-4B1E-8EF8-2D2CC528721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74091" y="2792870"/>
            <a:ext cx="243817" cy="215504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/>
          </a:p>
        </p:txBody>
      </p:sp>
      <p:sp>
        <p:nvSpPr>
          <p:cNvPr id="94" name="Rectangle 83">
            <a:extLst>
              <a:ext uri="{FF2B5EF4-FFF2-40B4-BE49-F238E27FC236}">
                <a16:creationId xmlns:a16="http://schemas.microsoft.com/office/drawing/2014/main" id="{B6F4052C-9C6C-4ED7-9237-B52435F8D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168" y="3278158"/>
            <a:ext cx="2340000" cy="412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Lecturer</a:t>
            </a:r>
          </a:p>
        </p:txBody>
      </p: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500B3BE1-55CB-43C5-A8AC-BAEC7D56D108}"/>
              </a:ext>
            </a:extLst>
          </p:cNvPr>
          <p:cNvGrpSpPr/>
          <p:nvPr/>
        </p:nvGrpSpPr>
        <p:grpSpPr>
          <a:xfrm>
            <a:off x="9889656" y="2788678"/>
            <a:ext cx="243817" cy="496714"/>
            <a:chOff x="9596599" y="2781444"/>
            <a:chExt cx="243817" cy="496714"/>
          </a:xfrm>
        </p:grpSpPr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502B79B7-A385-43CE-8710-5827ABD56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8508" y="2781444"/>
              <a:ext cx="0" cy="496714"/>
            </a:xfrm>
            <a:prstGeom prst="line">
              <a:avLst/>
            </a:prstGeom>
            <a:ln w="9525">
              <a:solidFill>
                <a:schemeClr val="accent6"/>
              </a:solidFill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AutoShape 25">
              <a:extLst>
                <a:ext uri="{FF2B5EF4-FFF2-40B4-BE49-F238E27FC236}">
                  <a16:creationId xmlns:a16="http://schemas.microsoft.com/office/drawing/2014/main" id="{70342F1A-DA3A-4389-BA81-6F9CDF56CF3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596599" y="2792870"/>
              <a:ext cx="243817" cy="21550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accent6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</p:grpSp>
      <p:sp>
        <p:nvSpPr>
          <p:cNvPr id="98" name="Rectangle 83">
            <a:extLst>
              <a:ext uri="{FF2B5EF4-FFF2-40B4-BE49-F238E27FC236}">
                <a16:creationId xmlns:a16="http://schemas.microsoft.com/office/drawing/2014/main" id="{3D2D97E4-3AC9-4269-AF3C-BBC93945E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27" y="2368693"/>
            <a:ext cx="2340000" cy="412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Lecturer</a:t>
            </a:r>
          </a:p>
        </p:txBody>
      </p:sp>
      <p:sp>
        <p:nvSpPr>
          <p:cNvPr id="99" name="Rectangle 83">
            <a:extLst>
              <a:ext uri="{FF2B5EF4-FFF2-40B4-BE49-F238E27FC236}">
                <a16:creationId xmlns:a16="http://schemas.microsoft.com/office/drawing/2014/main" id="{DB66ED1D-D3A5-4E22-88FC-7D34752BA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27" y="3278158"/>
            <a:ext cx="2340000" cy="412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Professor</a:t>
            </a:r>
          </a:p>
        </p:txBody>
      </p: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8EC87560-9A29-450F-B2BF-23376A893139}"/>
              </a:ext>
            </a:extLst>
          </p:cNvPr>
          <p:cNvCxnSpPr>
            <a:stCxn id="99" idx="0"/>
            <a:endCxn id="98" idx="2"/>
          </p:cNvCxnSpPr>
          <p:nvPr/>
        </p:nvCxnSpPr>
        <p:spPr>
          <a:xfrm flipV="1">
            <a:off x="2058527" y="2781443"/>
            <a:ext cx="0" cy="496715"/>
          </a:xfrm>
          <a:prstGeom prst="line">
            <a:avLst/>
          </a:prstGeom>
          <a:ln w="9525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AutoShape 25">
            <a:extLst>
              <a:ext uri="{FF2B5EF4-FFF2-40B4-BE49-F238E27FC236}">
                <a16:creationId xmlns:a16="http://schemas.microsoft.com/office/drawing/2014/main" id="{A6AA95E0-F340-4168-A469-4C8DF35150A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36618" y="2784847"/>
            <a:ext cx="243817" cy="215504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/>
          </a:p>
        </p:txBody>
      </p: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A680807B-5737-49FF-9EED-32FF929EFF2A}"/>
              </a:ext>
            </a:extLst>
          </p:cNvPr>
          <p:cNvCxnSpPr>
            <a:cxnSpLocks/>
          </p:cNvCxnSpPr>
          <p:nvPr/>
        </p:nvCxnSpPr>
        <p:spPr>
          <a:xfrm flipV="1">
            <a:off x="8172542" y="2351799"/>
            <a:ext cx="2519085" cy="1564363"/>
          </a:xfrm>
          <a:prstGeom prst="line">
            <a:avLst/>
          </a:prstGeom>
          <a:ln w="9525">
            <a:solidFill>
              <a:schemeClr val="accent6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hteck 105">
            <a:extLst>
              <a:ext uri="{FF2B5EF4-FFF2-40B4-BE49-F238E27FC236}">
                <a16:creationId xmlns:a16="http://schemas.microsoft.com/office/drawing/2014/main" id="{39575F1A-6D04-4E91-BE14-9BEC3E17E5A8}"/>
              </a:ext>
            </a:extLst>
          </p:cNvPr>
          <p:cNvSpPr/>
          <p:nvPr/>
        </p:nvSpPr>
        <p:spPr>
          <a:xfrm>
            <a:off x="10920324" y="3748390"/>
            <a:ext cx="697627" cy="369332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Error</a:t>
            </a:r>
          </a:p>
        </p:txBody>
      </p:sp>
      <p:sp>
        <p:nvSpPr>
          <p:cNvPr id="109" name="Rectangle 83">
            <a:extLst>
              <a:ext uri="{FF2B5EF4-FFF2-40B4-BE49-F238E27FC236}">
                <a16:creationId xmlns:a16="http://schemas.microsoft.com/office/drawing/2014/main" id="{F251406E-5C97-4F77-BC73-4194098B4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168" y="2375928"/>
            <a:ext cx="2339997" cy="412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Professor</a:t>
            </a:r>
          </a:p>
        </p:txBody>
      </p: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6CFBE9A1-51B2-482C-99F6-260A53A66123}"/>
              </a:ext>
            </a:extLst>
          </p:cNvPr>
          <p:cNvGrpSpPr/>
          <p:nvPr/>
        </p:nvGrpSpPr>
        <p:grpSpPr>
          <a:xfrm flipV="1">
            <a:off x="8604532" y="2789179"/>
            <a:ext cx="243817" cy="481241"/>
            <a:chOff x="9596599" y="2781443"/>
            <a:chExt cx="243817" cy="481241"/>
          </a:xfrm>
        </p:grpSpPr>
        <p:cxnSp>
          <p:nvCxnSpPr>
            <p:cNvPr id="111" name="Gerader Verbinder 110">
              <a:extLst>
                <a:ext uri="{FF2B5EF4-FFF2-40B4-BE49-F238E27FC236}">
                  <a16:creationId xmlns:a16="http://schemas.microsoft.com/office/drawing/2014/main" id="{BCF27486-5EA1-45C7-AD0C-7EC1D589B4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8508" y="2781443"/>
              <a:ext cx="0" cy="481241"/>
            </a:xfrm>
            <a:prstGeom prst="line">
              <a:avLst/>
            </a:prstGeom>
            <a:ln w="9525">
              <a:solidFill>
                <a:schemeClr val="accent6"/>
              </a:solidFill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AutoShape 25">
              <a:extLst>
                <a:ext uri="{FF2B5EF4-FFF2-40B4-BE49-F238E27FC236}">
                  <a16:creationId xmlns:a16="http://schemas.microsoft.com/office/drawing/2014/main" id="{7DB62302-1C4B-4D4C-A26F-249115DA038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596599" y="2792870"/>
              <a:ext cx="243817" cy="21550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accent6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418035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9" grpId="0" animBg="1"/>
      <p:bldP spid="94" grpId="0" animBg="1"/>
      <p:bldP spid="106" grpId="0" animBg="1"/>
      <p:bldP spid="10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C26912B-C064-4C63-AC73-2D7736F28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Association Merging</a:t>
            </a:r>
          </a:p>
        </p:txBody>
      </p:sp>
      <p:sp>
        <p:nvSpPr>
          <p:cNvPr id="4" name="AutoShape 40">
            <a:extLst>
              <a:ext uri="{FF2B5EF4-FFF2-40B4-BE49-F238E27FC236}">
                <a16:creationId xmlns:a16="http://schemas.microsoft.com/office/drawing/2014/main" id="{0E8C7605-E8AE-4694-BF86-7C994210E2B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69130" y="1056529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5" name="AutoShape 40">
            <a:extLst>
              <a:ext uri="{FF2B5EF4-FFF2-40B4-BE49-F238E27FC236}">
                <a16:creationId xmlns:a16="http://schemas.microsoft.com/office/drawing/2014/main" id="{E947106B-2D6F-4093-8B7E-3B3B07C18F4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69130" y="2639163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B</a:t>
            </a:r>
          </a:p>
        </p:txBody>
      </p:sp>
      <p:sp>
        <p:nvSpPr>
          <p:cNvPr id="6" name="AutoShape 40">
            <a:extLst>
              <a:ext uri="{FF2B5EF4-FFF2-40B4-BE49-F238E27FC236}">
                <a16:creationId xmlns:a16="http://schemas.microsoft.com/office/drawing/2014/main" id="{23A3C42C-5831-4E5A-89BF-619AC36F4F9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69130" y="4440939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C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22B750B-7870-4CE5-9EE4-C5A5E3C14F90}"/>
              </a:ext>
            </a:extLst>
          </p:cNvPr>
          <p:cNvGrpSpPr/>
          <p:nvPr/>
        </p:nvGrpSpPr>
        <p:grpSpPr>
          <a:xfrm>
            <a:off x="2886996" y="1169305"/>
            <a:ext cx="1473753" cy="1210277"/>
            <a:chOff x="1082040" y="2857500"/>
            <a:chExt cx="2438400" cy="1842580"/>
          </a:xfrm>
        </p:grpSpPr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07F7D930-A2A9-453A-AD84-CDAC926F9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103CA9D0-E2EF-4F02-821E-836AF4DBB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3780" y="2917825"/>
              <a:ext cx="137970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/>
                <a:t>Person</a:t>
              </a: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BA502927-8805-43F1-A69E-5B86EE837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74037"/>
              <a:ext cx="2438400" cy="9918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C5675CBD-7F41-4944-960C-24B2CF7BE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305647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7139B9DA-8A5B-4DA5-BDAF-6DDDBF8D3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14699"/>
              <a:ext cx="213559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String name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0D9A460-B0AE-4080-AADC-A28D36FDF119}"/>
              </a:ext>
            </a:extLst>
          </p:cNvPr>
          <p:cNvGrpSpPr/>
          <p:nvPr/>
        </p:nvGrpSpPr>
        <p:grpSpPr>
          <a:xfrm>
            <a:off x="7783540" y="1169306"/>
            <a:ext cx="1473753" cy="1210277"/>
            <a:chOff x="1082040" y="2857500"/>
            <a:chExt cx="2438400" cy="1842580"/>
          </a:xfrm>
        </p:grpSpPr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821C9ED4-A042-4447-B264-52042E466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E90663A2-945C-46AF-9DEB-2F2E3335E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012" y="2917825"/>
              <a:ext cx="1589230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/>
                <a:t>Contract</a:t>
              </a:r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78ADDE23-AD5F-4645-A8C2-C47AEA016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74035"/>
              <a:ext cx="2438400" cy="9919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04A1C65B-70A6-4E98-8C31-CF6FAE67E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305647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5900937A-DA5E-4973-A9DA-62E98815D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14699"/>
              <a:ext cx="1663491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int salary</a:t>
              </a:r>
            </a:p>
          </p:txBody>
        </p:sp>
      </p:grpSp>
      <p:cxnSp>
        <p:nvCxnSpPr>
          <p:cNvPr id="19" name="Gerade Verbindung 15">
            <a:extLst>
              <a:ext uri="{FF2B5EF4-FFF2-40B4-BE49-F238E27FC236}">
                <a16:creationId xmlns:a16="http://schemas.microsoft.com/office/drawing/2014/main" id="{97955D54-7FD3-486E-896A-4EE96280B54E}"/>
              </a:ext>
            </a:extLst>
          </p:cNvPr>
          <p:cNvCxnSpPr>
            <a:stCxn id="8" idx="3"/>
            <a:endCxn id="14" idx="1"/>
          </p:cNvCxnSpPr>
          <p:nvPr/>
        </p:nvCxnSpPr>
        <p:spPr>
          <a:xfrm>
            <a:off x="4360749" y="1664704"/>
            <a:ext cx="3422791" cy="1"/>
          </a:xfrm>
          <a:prstGeom prst="line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B6ECB6BA-E31F-47B3-82F3-AC794E5E9AF0}"/>
              </a:ext>
            </a:extLst>
          </p:cNvPr>
          <p:cNvGrpSpPr/>
          <p:nvPr/>
        </p:nvGrpSpPr>
        <p:grpSpPr>
          <a:xfrm>
            <a:off x="2900226" y="2791563"/>
            <a:ext cx="1473753" cy="1210278"/>
            <a:chOff x="1082040" y="2857498"/>
            <a:chExt cx="2438400" cy="1842582"/>
          </a:xfrm>
        </p:grpSpPr>
        <p:sp>
          <p:nvSpPr>
            <p:cNvPr id="21" name="Rectangle 10">
              <a:extLst>
                <a:ext uri="{FF2B5EF4-FFF2-40B4-BE49-F238E27FC236}">
                  <a16:creationId xmlns:a16="http://schemas.microsoft.com/office/drawing/2014/main" id="{7C2B4F35-F9B5-4E08-90C6-6CBFDF04B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498"/>
              <a:ext cx="2438400" cy="15220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617015A3-5CAA-4B55-B680-BE341FFDC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3773" y="2917825"/>
              <a:ext cx="137970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/>
                <a:t>Person</a:t>
              </a:r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01B15D71-2041-41E5-A6A8-7DC12EA08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28289"/>
              <a:ext cx="2438400" cy="1051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24" name="Text Box 13">
              <a:extLst>
                <a:ext uri="{FF2B5EF4-FFF2-40B4-BE49-F238E27FC236}">
                  <a16:creationId xmlns:a16="http://schemas.microsoft.com/office/drawing/2014/main" id="{89473327-F07C-4E03-B1FE-D93613B3D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305647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25" name="Text Box 14">
              <a:extLst>
                <a:ext uri="{FF2B5EF4-FFF2-40B4-BE49-F238E27FC236}">
                  <a16:creationId xmlns:a16="http://schemas.microsoft.com/office/drawing/2014/main" id="{2217ABF8-B6CD-4F53-B40E-0FF56F456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14700"/>
              <a:ext cx="213559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String name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E57A700-6049-4715-A699-0D96694BDD00}"/>
              </a:ext>
            </a:extLst>
          </p:cNvPr>
          <p:cNvGrpSpPr/>
          <p:nvPr/>
        </p:nvGrpSpPr>
        <p:grpSpPr>
          <a:xfrm>
            <a:off x="7817895" y="2800491"/>
            <a:ext cx="1473753" cy="1210277"/>
            <a:chOff x="1082040" y="2857500"/>
            <a:chExt cx="2438400" cy="1842580"/>
          </a:xfrm>
        </p:grpSpPr>
        <p:sp>
          <p:nvSpPr>
            <p:cNvPr id="27" name="Rectangle 10">
              <a:extLst>
                <a:ext uri="{FF2B5EF4-FFF2-40B4-BE49-F238E27FC236}">
                  <a16:creationId xmlns:a16="http://schemas.microsoft.com/office/drawing/2014/main" id="{3D7BF381-7C2E-411F-886E-DE49CF354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90A2C12A-6925-40F3-B8C4-66B36B6D7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012" y="2917825"/>
              <a:ext cx="1589230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/>
                <a:t>Contract</a:t>
              </a:r>
            </a:p>
          </p:txBody>
        </p: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4FB7129F-AF6D-42F5-83F7-B5E6FD0C0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14699"/>
              <a:ext cx="2438400" cy="1051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30" name="Text Box 13">
              <a:extLst>
                <a:ext uri="{FF2B5EF4-FFF2-40B4-BE49-F238E27FC236}">
                  <a16:creationId xmlns:a16="http://schemas.microsoft.com/office/drawing/2014/main" id="{2CC2F3F0-5750-4BE7-95AC-42AC473F62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305647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31" name="Text Box 14">
              <a:extLst>
                <a:ext uri="{FF2B5EF4-FFF2-40B4-BE49-F238E27FC236}">
                  <a16:creationId xmlns:a16="http://schemas.microsoft.com/office/drawing/2014/main" id="{CF211781-7477-4118-8A8C-A56F02360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14699"/>
              <a:ext cx="1663491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int salary</a:t>
              </a:r>
            </a:p>
          </p:txBody>
        </p:sp>
      </p:grpSp>
      <p:cxnSp>
        <p:nvCxnSpPr>
          <p:cNvPr id="32" name="Gerade Verbindung 28">
            <a:extLst>
              <a:ext uri="{FF2B5EF4-FFF2-40B4-BE49-F238E27FC236}">
                <a16:creationId xmlns:a16="http://schemas.microsoft.com/office/drawing/2014/main" id="{89BC61DD-37A7-40EA-A13B-71C41157BB61}"/>
              </a:ext>
            </a:extLst>
          </p:cNvPr>
          <p:cNvCxnSpPr/>
          <p:nvPr/>
        </p:nvCxnSpPr>
        <p:spPr>
          <a:xfrm flipV="1">
            <a:off x="4373979" y="3196617"/>
            <a:ext cx="3443916" cy="0"/>
          </a:xfrm>
          <a:prstGeom prst="line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C66A2CD5-060B-4169-A4C4-BCC410E1CE65}"/>
              </a:ext>
            </a:extLst>
          </p:cNvPr>
          <p:cNvSpPr txBox="1"/>
          <p:nvPr/>
        </p:nvSpPr>
        <p:spPr>
          <a:xfrm>
            <a:off x="7533143" y="288038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 b="1"/>
            </a:lvl1pPr>
          </a:lstStyle>
          <a:p>
            <a:r>
              <a:rPr lang="en-US"/>
              <a:t>1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0BFCACB-F33A-4268-A575-2D7CD6B21F77}"/>
              </a:ext>
            </a:extLst>
          </p:cNvPr>
          <p:cNvSpPr txBox="1"/>
          <p:nvPr/>
        </p:nvSpPr>
        <p:spPr>
          <a:xfrm>
            <a:off x="4365187" y="1396132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</a:lstStyle>
          <a:p>
            <a:r>
              <a:rPr lang="en-US"/>
              <a:t>*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C41234F-19BF-4FEC-882E-180180F66E39}"/>
              </a:ext>
            </a:extLst>
          </p:cNvPr>
          <p:cNvSpPr txBox="1"/>
          <p:nvPr/>
        </p:nvSpPr>
        <p:spPr>
          <a:xfrm>
            <a:off x="5316523" y="1323921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employment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4AFEB09-B7AA-4CC5-AEFE-16C8E09F81A0}"/>
              </a:ext>
            </a:extLst>
          </p:cNvPr>
          <p:cNvSpPr txBox="1"/>
          <p:nvPr/>
        </p:nvSpPr>
        <p:spPr>
          <a:xfrm>
            <a:off x="4318672" y="3227297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contractor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BDC2106A-910F-4D1C-A551-D61BE9165508}"/>
              </a:ext>
            </a:extLst>
          </p:cNvPr>
          <p:cNvSpPr txBox="1"/>
          <p:nvPr/>
        </p:nvSpPr>
        <p:spPr>
          <a:xfrm>
            <a:off x="6302075" y="1693253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workContract</a:t>
            </a:r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D5B4A78D-08BE-4092-AFC4-D48F33B1E233}"/>
              </a:ext>
            </a:extLst>
          </p:cNvPr>
          <p:cNvGrpSpPr/>
          <p:nvPr/>
        </p:nvGrpSpPr>
        <p:grpSpPr>
          <a:xfrm>
            <a:off x="2886995" y="4594595"/>
            <a:ext cx="6408713" cy="1210278"/>
            <a:chOff x="827584" y="5071204"/>
            <a:chExt cx="6408713" cy="1210278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309B1FCB-1571-4B3D-A24E-FF585C97B3A5}"/>
                </a:ext>
              </a:extLst>
            </p:cNvPr>
            <p:cNvGrpSpPr/>
            <p:nvPr/>
          </p:nvGrpSpPr>
          <p:grpSpPr>
            <a:xfrm>
              <a:off x="827584" y="5071205"/>
              <a:ext cx="1473753" cy="1210277"/>
              <a:chOff x="1082040" y="2857500"/>
              <a:chExt cx="2438400" cy="1842580"/>
            </a:xfrm>
          </p:grpSpPr>
          <p:sp>
            <p:nvSpPr>
              <p:cNvPr id="54" name="Rectangle 10">
                <a:extLst>
                  <a:ext uri="{FF2B5EF4-FFF2-40B4-BE49-F238E27FC236}">
                    <a16:creationId xmlns:a16="http://schemas.microsoft.com/office/drawing/2014/main" id="{1EA79C67-7FB1-4665-BCD4-A95BC1AFF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2857500"/>
                <a:ext cx="2438400" cy="15084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55" name="Text Box 11">
                <a:extLst>
                  <a:ext uri="{FF2B5EF4-FFF2-40B4-BE49-F238E27FC236}">
                    <a16:creationId xmlns:a16="http://schemas.microsoft.com/office/drawing/2014/main" id="{492655CD-F259-450C-8AF8-B8CF45FCC3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3773" y="2917825"/>
                <a:ext cx="1379702" cy="5154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de-DE" sz="1600"/>
                  <a:t>Person</a:t>
                </a:r>
              </a:p>
            </p:txBody>
          </p:sp>
          <p:sp>
            <p:nvSpPr>
              <p:cNvPr id="56" name="Rectangle 12">
                <a:extLst>
                  <a:ext uri="{FF2B5EF4-FFF2-40B4-BE49-F238E27FC236}">
                    <a16:creationId xmlns:a16="http://schemas.microsoft.com/office/drawing/2014/main" id="{CF49F5FA-17FA-451E-89B8-4984882C5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3392041"/>
                <a:ext cx="2438400" cy="9738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57" name="Text Box 13">
                <a:extLst>
                  <a:ext uri="{FF2B5EF4-FFF2-40B4-BE49-F238E27FC236}">
                    <a16:creationId xmlns:a16="http://schemas.microsoft.com/office/drawing/2014/main" id="{EEDAFAC3-7A5D-4DFC-8477-99F52765C9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4184650"/>
                <a:ext cx="305647" cy="5154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58" name="Text Box 14">
                <a:extLst>
                  <a:ext uri="{FF2B5EF4-FFF2-40B4-BE49-F238E27FC236}">
                    <a16:creationId xmlns:a16="http://schemas.microsoft.com/office/drawing/2014/main" id="{A2C07EBA-4225-4B73-97EF-D5CE5A4461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3314699"/>
                <a:ext cx="2135592" cy="5154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/>
                  <a:t>String name</a:t>
                </a:r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6F6B4F7C-5503-4223-BA51-F2F4EFB67DA2}"/>
                </a:ext>
              </a:extLst>
            </p:cNvPr>
            <p:cNvGrpSpPr/>
            <p:nvPr/>
          </p:nvGrpSpPr>
          <p:grpSpPr>
            <a:xfrm>
              <a:off x="5762544" y="5071204"/>
              <a:ext cx="1473753" cy="980878"/>
              <a:chOff x="1082040" y="2857500"/>
              <a:chExt cx="2438400" cy="1493334"/>
            </a:xfrm>
          </p:grpSpPr>
          <p:sp>
            <p:nvSpPr>
              <p:cNvPr id="49" name="Rectangle 10">
                <a:extLst>
                  <a:ext uri="{FF2B5EF4-FFF2-40B4-BE49-F238E27FC236}">
                    <a16:creationId xmlns:a16="http://schemas.microsoft.com/office/drawing/2014/main" id="{163CEBC5-85CA-41AE-9D8E-FAD07F4D2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2857500"/>
                <a:ext cx="2438400" cy="14933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50" name="Text Box 11">
                <a:extLst>
                  <a:ext uri="{FF2B5EF4-FFF2-40B4-BE49-F238E27FC236}">
                    <a16:creationId xmlns:a16="http://schemas.microsoft.com/office/drawing/2014/main" id="{1243FD70-6CD1-49BC-BC94-982646FB2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9012" y="2917825"/>
                <a:ext cx="1589230" cy="5154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de-DE" sz="1600"/>
                  <a:t>Contract</a:t>
                </a:r>
              </a:p>
            </p:txBody>
          </p:sp>
          <p:sp>
            <p:nvSpPr>
              <p:cNvPr id="51" name="Rectangle 12">
                <a:extLst>
                  <a:ext uri="{FF2B5EF4-FFF2-40B4-BE49-F238E27FC236}">
                    <a16:creationId xmlns:a16="http://schemas.microsoft.com/office/drawing/2014/main" id="{6920437C-DAD2-415C-B178-5023D4DF1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40" y="3392040"/>
                <a:ext cx="2438400" cy="9587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/>
              </a:p>
            </p:txBody>
          </p:sp>
          <p:sp>
            <p:nvSpPr>
              <p:cNvPr id="53" name="Text Box 14">
                <a:extLst>
                  <a:ext uri="{FF2B5EF4-FFF2-40B4-BE49-F238E27FC236}">
                    <a16:creationId xmlns:a16="http://schemas.microsoft.com/office/drawing/2014/main" id="{16726DD6-2ED4-472A-A873-2F5E3581A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040" y="3314699"/>
                <a:ext cx="1663491" cy="5154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/>
                  <a:t>int salary</a:t>
                </a:r>
              </a:p>
            </p:txBody>
          </p:sp>
        </p:grpSp>
        <p:cxnSp>
          <p:nvCxnSpPr>
            <p:cNvPr id="41" name="Gerade Verbindung 47">
              <a:extLst>
                <a:ext uri="{FF2B5EF4-FFF2-40B4-BE49-F238E27FC236}">
                  <a16:creationId xmlns:a16="http://schemas.microsoft.com/office/drawing/2014/main" id="{EA3ADA02-E6E0-40F8-97F0-DD17FDA2D512}"/>
                </a:ext>
              </a:extLst>
            </p:cNvPr>
            <p:cNvCxnSpPr/>
            <p:nvPr/>
          </p:nvCxnSpPr>
          <p:spPr>
            <a:xfrm>
              <a:off x="2301337" y="5499284"/>
              <a:ext cx="3461207" cy="1"/>
            </a:xfrm>
            <a:prstGeom prst="line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854C5CE0-75A6-40EB-BE9C-CE700FB2EE3B}"/>
                </a:ext>
              </a:extLst>
            </p:cNvPr>
            <p:cNvSpPr txBox="1"/>
            <p:nvPr/>
          </p:nvSpPr>
          <p:spPr>
            <a:xfrm>
              <a:off x="5477792" y="515723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de-DE"/>
              </a:defPPr>
              <a:lvl1pPr>
                <a:defRPr sz="1400" b="1"/>
              </a:lvl1pPr>
            </a:lstStyle>
            <a:p>
              <a:r>
                <a:rPr lang="en-US"/>
                <a:t>1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8E665C78-D2C9-4928-8645-496144EF3A66}"/>
                </a:ext>
              </a:extLst>
            </p:cNvPr>
            <p:cNvSpPr txBox="1"/>
            <p:nvPr/>
          </p:nvSpPr>
          <p:spPr>
            <a:xfrm>
              <a:off x="2314568" y="523167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*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18D3208D-7830-49E3-A087-248A396ADBD6}"/>
                </a:ext>
              </a:extLst>
            </p:cNvPr>
            <p:cNvSpPr txBox="1"/>
            <p:nvPr/>
          </p:nvSpPr>
          <p:spPr>
            <a:xfrm>
              <a:off x="3282331" y="5119526"/>
              <a:ext cx="1441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employment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FF6779FF-AD1F-4BED-A6F1-9C0D69B8DB77}"/>
                </a:ext>
              </a:extLst>
            </p:cNvPr>
            <p:cNvSpPr txBox="1"/>
            <p:nvPr/>
          </p:nvSpPr>
          <p:spPr>
            <a:xfrm>
              <a:off x="2236524" y="5594193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contractor</a:t>
              </a: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774793FD-410E-4E7E-9B26-3E2E0E88C3B9}"/>
                </a:ext>
              </a:extLst>
            </p:cNvPr>
            <p:cNvSpPr txBox="1"/>
            <p:nvPr/>
          </p:nvSpPr>
          <p:spPr>
            <a:xfrm>
              <a:off x="4242665" y="5611588"/>
              <a:ext cx="1544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workContract</a:t>
              </a:r>
              <a:endParaRPr lang="en-US" dirty="0"/>
            </a:p>
          </p:txBody>
        </p:sp>
      </p:grpSp>
      <p:sp>
        <p:nvSpPr>
          <p:cNvPr id="59" name="Textfeld 58">
            <a:extLst>
              <a:ext uri="{FF2B5EF4-FFF2-40B4-BE49-F238E27FC236}">
                <a16:creationId xmlns:a16="http://schemas.microsoft.com/office/drawing/2014/main" id="{4DB28176-A584-4932-8DFE-B623F039AF3E}"/>
              </a:ext>
            </a:extLst>
          </p:cNvPr>
          <p:cNvSpPr txBox="1"/>
          <p:nvPr/>
        </p:nvSpPr>
        <p:spPr>
          <a:xfrm>
            <a:off x="5704643" y="2268910"/>
            <a:ext cx="740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r>
              <a:rPr lang="en-US" sz="2000" b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CD</a:t>
            </a:r>
            <a:endParaRPr lang="en-US" sz="2800" b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0" name="Gerade Verbindung 57">
            <a:extLst>
              <a:ext uri="{FF2B5EF4-FFF2-40B4-BE49-F238E27FC236}">
                <a16:creationId xmlns:a16="http://schemas.microsoft.com/office/drawing/2014/main" id="{06034C61-E37F-4C7B-96B4-0DDB53EDDBEA}"/>
              </a:ext>
            </a:extLst>
          </p:cNvPr>
          <p:cNvCxnSpPr/>
          <p:nvPr/>
        </p:nvCxnSpPr>
        <p:spPr>
          <a:xfrm>
            <a:off x="2886996" y="2525619"/>
            <a:ext cx="274280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58">
            <a:extLst>
              <a:ext uri="{FF2B5EF4-FFF2-40B4-BE49-F238E27FC236}">
                <a16:creationId xmlns:a16="http://schemas.microsoft.com/office/drawing/2014/main" id="{1FAFFBD6-F934-4EA8-9533-FCD46C56E5EE}"/>
              </a:ext>
            </a:extLst>
          </p:cNvPr>
          <p:cNvCxnSpPr/>
          <p:nvPr/>
        </p:nvCxnSpPr>
        <p:spPr>
          <a:xfrm>
            <a:off x="6558143" y="2530520"/>
            <a:ext cx="274280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AB7E2F37-01EF-4F8A-8D82-65F1E69AC3DF}"/>
              </a:ext>
            </a:extLst>
          </p:cNvPr>
          <p:cNvSpPr txBox="1"/>
          <p:nvPr/>
        </p:nvSpPr>
        <p:spPr>
          <a:xfrm>
            <a:off x="5876257" y="4003913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+mj-lt"/>
                <a:ea typeface="Cambria Math"/>
              </a:rPr>
              <a:t>=</a:t>
            </a:r>
            <a:endParaRPr lang="en-US" sz="2800" b="1" baseline="-25000" dirty="0">
              <a:latin typeface="+mj-lt"/>
            </a:endParaRPr>
          </a:p>
        </p:txBody>
      </p:sp>
      <p:cxnSp>
        <p:nvCxnSpPr>
          <p:cNvPr id="63" name="Gerade Verbindung 60">
            <a:extLst>
              <a:ext uri="{FF2B5EF4-FFF2-40B4-BE49-F238E27FC236}">
                <a16:creationId xmlns:a16="http://schemas.microsoft.com/office/drawing/2014/main" id="{6E5DF5E6-E3DC-41DA-B91D-6D25D45E8787}"/>
              </a:ext>
            </a:extLst>
          </p:cNvPr>
          <p:cNvCxnSpPr/>
          <p:nvPr/>
        </p:nvCxnSpPr>
        <p:spPr>
          <a:xfrm>
            <a:off x="2900354" y="4260622"/>
            <a:ext cx="274280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1">
            <a:extLst>
              <a:ext uri="{FF2B5EF4-FFF2-40B4-BE49-F238E27FC236}">
                <a16:creationId xmlns:a16="http://schemas.microsoft.com/office/drawing/2014/main" id="{22AA1FB4-6E69-4845-8D25-8F23148D4C0B}"/>
              </a:ext>
            </a:extLst>
          </p:cNvPr>
          <p:cNvCxnSpPr/>
          <p:nvPr/>
        </p:nvCxnSpPr>
        <p:spPr>
          <a:xfrm>
            <a:off x="6562203" y="4260622"/>
            <a:ext cx="274280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409301C1-D242-4A80-91CD-BDF927CEE5D4}"/>
              </a:ext>
            </a:extLst>
          </p:cNvPr>
          <p:cNvSpPr txBox="1"/>
          <p:nvPr/>
        </p:nvSpPr>
        <p:spPr>
          <a:xfrm>
            <a:off x="6327051" y="3213507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workContract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7DE1650D-17E3-46C3-B4D0-69F6AEE6EB85}"/>
              </a:ext>
            </a:extLst>
          </p:cNvPr>
          <p:cNvSpPr/>
          <p:nvPr/>
        </p:nvSpPr>
        <p:spPr>
          <a:xfrm>
            <a:off x="10789204" y="5322459"/>
            <a:ext cx="518091" cy="369332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06771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47B002C-AE27-4674-822D-21E43EC8800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No ambiguous matching of associations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BA0A9A5-ACC0-49D3-9B7B-4809FC69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Ambiguous Matching of Association</a:t>
            </a:r>
          </a:p>
        </p:txBody>
      </p: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E7D97F5B-AC7D-4FE8-97E4-C7ECDD418B8D}"/>
              </a:ext>
            </a:extLst>
          </p:cNvPr>
          <p:cNvGrpSpPr/>
          <p:nvPr/>
        </p:nvGrpSpPr>
        <p:grpSpPr>
          <a:xfrm>
            <a:off x="2574129" y="2249932"/>
            <a:ext cx="1473753" cy="1094098"/>
            <a:chOff x="1082040" y="2857500"/>
            <a:chExt cx="2438400" cy="1665704"/>
          </a:xfrm>
        </p:grpSpPr>
        <p:sp>
          <p:nvSpPr>
            <p:cNvPr id="113" name="Rectangle 10">
              <a:extLst>
                <a:ext uri="{FF2B5EF4-FFF2-40B4-BE49-F238E27FC236}">
                  <a16:creationId xmlns:a16="http://schemas.microsoft.com/office/drawing/2014/main" id="{FF90B184-15BE-4799-8FF6-73389441F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14" name="Text Box 11">
              <a:extLst>
                <a:ext uri="{FF2B5EF4-FFF2-40B4-BE49-F238E27FC236}">
                  <a16:creationId xmlns:a16="http://schemas.microsoft.com/office/drawing/2014/main" id="{D2C77B77-33A8-49DC-B0CA-74C530E1A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3780" y="2917825"/>
              <a:ext cx="137970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Person</a:t>
              </a:r>
            </a:p>
          </p:txBody>
        </p:sp>
        <p:sp>
          <p:nvSpPr>
            <p:cNvPr id="115" name="Rectangle 12">
              <a:extLst>
                <a:ext uri="{FF2B5EF4-FFF2-40B4-BE49-F238E27FC236}">
                  <a16:creationId xmlns:a16="http://schemas.microsoft.com/office/drawing/2014/main" id="{42D38F82-491C-425E-B09A-10D1CF45D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78881"/>
              <a:ext cx="2438400" cy="9870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16" name="Text Box 13">
              <a:extLst>
                <a:ext uri="{FF2B5EF4-FFF2-40B4-BE49-F238E27FC236}">
                  <a16:creationId xmlns:a16="http://schemas.microsoft.com/office/drawing/2014/main" id="{38926903-BE84-4F70-B480-634E579D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117" name="Text Box 14">
              <a:extLst>
                <a:ext uri="{FF2B5EF4-FFF2-40B4-BE49-F238E27FC236}">
                  <a16:creationId xmlns:a16="http://schemas.microsoft.com/office/drawing/2014/main" id="{20E8C42E-38F4-4FFA-A1DB-759308C73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37028"/>
              <a:ext cx="213559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name</a:t>
              </a:r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5B99B66D-270C-4454-8837-910C5F82A302}"/>
              </a:ext>
            </a:extLst>
          </p:cNvPr>
          <p:cNvGrpSpPr/>
          <p:nvPr/>
        </p:nvGrpSpPr>
        <p:grpSpPr>
          <a:xfrm>
            <a:off x="7470673" y="2249933"/>
            <a:ext cx="1473753" cy="1094098"/>
            <a:chOff x="1082040" y="2857500"/>
            <a:chExt cx="2438400" cy="1665704"/>
          </a:xfrm>
        </p:grpSpPr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1CD1387B-1596-4E3C-95FE-D0840ACE2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09" name="Text Box 11">
              <a:extLst>
                <a:ext uri="{FF2B5EF4-FFF2-40B4-BE49-F238E27FC236}">
                  <a16:creationId xmlns:a16="http://schemas.microsoft.com/office/drawing/2014/main" id="{C2C06075-22D2-4978-922E-9F45226BF9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3366" y="2917825"/>
              <a:ext cx="96052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Contract</a:t>
              </a:r>
            </a:p>
          </p:txBody>
        </p:sp>
        <p:sp>
          <p:nvSpPr>
            <p:cNvPr id="110" name="Rectangle 12">
              <a:extLst>
                <a:ext uri="{FF2B5EF4-FFF2-40B4-BE49-F238E27FC236}">
                  <a16:creationId xmlns:a16="http://schemas.microsoft.com/office/drawing/2014/main" id="{3277FB0C-B418-4F4B-AFB6-AE046A799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90895"/>
              <a:ext cx="2438400" cy="9750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11" name="Text Box 13">
              <a:extLst>
                <a:ext uri="{FF2B5EF4-FFF2-40B4-BE49-F238E27FC236}">
                  <a16:creationId xmlns:a16="http://schemas.microsoft.com/office/drawing/2014/main" id="{CF7D1F6B-75F2-4374-9F69-20BC01A81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112" name="Text Box 14">
              <a:extLst>
                <a:ext uri="{FF2B5EF4-FFF2-40B4-BE49-F238E27FC236}">
                  <a16:creationId xmlns:a16="http://schemas.microsoft.com/office/drawing/2014/main" id="{B8279111-EED1-4068-BE7B-F92D00DAF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69737"/>
              <a:ext cx="1663491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int salary</a:t>
              </a:r>
            </a:p>
          </p:txBody>
        </p:sp>
      </p:grpSp>
      <p:cxnSp>
        <p:nvCxnSpPr>
          <p:cNvPr id="83" name="Gerade Verbindung 51">
            <a:extLst>
              <a:ext uri="{FF2B5EF4-FFF2-40B4-BE49-F238E27FC236}">
                <a16:creationId xmlns:a16="http://schemas.microsoft.com/office/drawing/2014/main" id="{D8C36C3A-F0C7-4032-80E4-FE369B1D8D99}"/>
              </a:ext>
            </a:extLst>
          </p:cNvPr>
          <p:cNvCxnSpPr>
            <a:stCxn id="113" idx="3"/>
            <a:endCxn id="108" idx="1"/>
          </p:cNvCxnSpPr>
          <p:nvPr/>
        </p:nvCxnSpPr>
        <p:spPr>
          <a:xfrm>
            <a:off x="4047882" y="2745331"/>
            <a:ext cx="3422791" cy="1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feld 83">
            <a:extLst>
              <a:ext uri="{FF2B5EF4-FFF2-40B4-BE49-F238E27FC236}">
                <a16:creationId xmlns:a16="http://schemas.microsoft.com/office/drawing/2014/main" id="{EA95474A-7975-4177-BC75-B09174D5E877}"/>
              </a:ext>
            </a:extLst>
          </p:cNvPr>
          <p:cNvSpPr txBox="1"/>
          <p:nvPr/>
        </p:nvSpPr>
        <p:spPr>
          <a:xfrm>
            <a:off x="4043528" y="2441591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09C5D804-499D-4C0D-BDBE-297BDE047F92}"/>
              </a:ext>
            </a:extLst>
          </p:cNvPr>
          <p:cNvSpPr txBox="1"/>
          <p:nvPr/>
        </p:nvSpPr>
        <p:spPr>
          <a:xfrm>
            <a:off x="6080648" y="2750512"/>
            <a:ext cx="1393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workContract</a:t>
            </a:r>
            <a:endParaRPr lang="en-US" sz="1600" dirty="0"/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1196F2C5-360E-4358-BD09-D0EAD263C728}"/>
              </a:ext>
            </a:extLst>
          </p:cNvPr>
          <p:cNvSpPr txBox="1"/>
          <p:nvPr/>
        </p:nvSpPr>
        <p:spPr>
          <a:xfrm>
            <a:off x="7005218" y="239987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 b="1"/>
            </a:lvl1pPr>
          </a:lstStyle>
          <a:p>
            <a:r>
              <a:rPr lang="de-DE" dirty="0"/>
              <a:t>0..1</a:t>
            </a:r>
          </a:p>
        </p:txBody>
      </p: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293DE79A-33D6-4CC4-A2BC-E51B6A9151A6}"/>
              </a:ext>
            </a:extLst>
          </p:cNvPr>
          <p:cNvGrpSpPr/>
          <p:nvPr/>
        </p:nvGrpSpPr>
        <p:grpSpPr>
          <a:xfrm>
            <a:off x="2585994" y="4209010"/>
            <a:ext cx="1473753" cy="1094099"/>
            <a:chOff x="1082040" y="2857498"/>
            <a:chExt cx="2438400" cy="1665706"/>
          </a:xfrm>
        </p:grpSpPr>
        <p:sp>
          <p:nvSpPr>
            <p:cNvPr id="103" name="Rectangle 10">
              <a:extLst>
                <a:ext uri="{FF2B5EF4-FFF2-40B4-BE49-F238E27FC236}">
                  <a16:creationId xmlns:a16="http://schemas.microsoft.com/office/drawing/2014/main" id="{C6E33525-F230-40E6-8F3D-834EC9575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498"/>
              <a:ext cx="2438400" cy="14964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04" name="Text Box 11">
              <a:extLst>
                <a:ext uri="{FF2B5EF4-FFF2-40B4-BE49-F238E27FC236}">
                  <a16:creationId xmlns:a16="http://schemas.microsoft.com/office/drawing/2014/main" id="{6AB1B27F-8BF2-4D10-A805-19ADC1761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3780" y="2917825"/>
              <a:ext cx="137970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Person</a:t>
              </a:r>
            </a:p>
          </p:txBody>
        </p:sp>
        <p:sp>
          <p:nvSpPr>
            <p:cNvPr id="105" name="Rectangle 12">
              <a:extLst>
                <a:ext uri="{FF2B5EF4-FFF2-40B4-BE49-F238E27FC236}">
                  <a16:creationId xmlns:a16="http://schemas.microsoft.com/office/drawing/2014/main" id="{AD6A67E8-5D84-49EB-882E-D79C3A15D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83879"/>
              <a:ext cx="2438400" cy="9700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06" name="Text Box 13">
              <a:extLst>
                <a:ext uri="{FF2B5EF4-FFF2-40B4-BE49-F238E27FC236}">
                  <a16:creationId xmlns:a16="http://schemas.microsoft.com/office/drawing/2014/main" id="{11EF3320-101C-42DD-A72B-5B57A0FCA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107" name="Text Box 14">
              <a:extLst>
                <a:ext uri="{FF2B5EF4-FFF2-40B4-BE49-F238E27FC236}">
                  <a16:creationId xmlns:a16="http://schemas.microsoft.com/office/drawing/2014/main" id="{83227E2B-DD00-4CE7-A124-C83ACF44E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37029"/>
              <a:ext cx="213559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name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B0313D91-17DC-4839-9D2B-CF600AB10BCA}"/>
              </a:ext>
            </a:extLst>
          </p:cNvPr>
          <p:cNvGrpSpPr/>
          <p:nvPr/>
        </p:nvGrpSpPr>
        <p:grpSpPr>
          <a:xfrm>
            <a:off x="7482538" y="4209013"/>
            <a:ext cx="1473753" cy="1094098"/>
            <a:chOff x="1082040" y="2857500"/>
            <a:chExt cx="2438400" cy="1665704"/>
          </a:xfrm>
        </p:grpSpPr>
        <p:sp>
          <p:nvSpPr>
            <p:cNvPr id="98" name="Rectangle 10">
              <a:extLst>
                <a:ext uri="{FF2B5EF4-FFF2-40B4-BE49-F238E27FC236}">
                  <a16:creationId xmlns:a16="http://schemas.microsoft.com/office/drawing/2014/main" id="{33A70F1B-7309-4024-AF0D-49DDAD1CD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99" name="Text Box 11">
              <a:extLst>
                <a:ext uri="{FF2B5EF4-FFF2-40B4-BE49-F238E27FC236}">
                  <a16:creationId xmlns:a16="http://schemas.microsoft.com/office/drawing/2014/main" id="{FFDD9BAF-FA6D-4988-81E8-B68CADA7E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3366" y="2917825"/>
              <a:ext cx="96052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Contract</a:t>
              </a:r>
            </a:p>
          </p:txBody>
        </p:sp>
        <p:sp>
          <p:nvSpPr>
            <p:cNvPr id="100" name="Rectangle 12">
              <a:extLst>
                <a:ext uri="{FF2B5EF4-FFF2-40B4-BE49-F238E27FC236}">
                  <a16:creationId xmlns:a16="http://schemas.microsoft.com/office/drawing/2014/main" id="{00E57E6E-7AF7-4636-B882-FDED117EC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83876"/>
              <a:ext cx="2438400" cy="9820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01" name="Text Box 13">
              <a:extLst>
                <a:ext uri="{FF2B5EF4-FFF2-40B4-BE49-F238E27FC236}">
                  <a16:creationId xmlns:a16="http://schemas.microsoft.com/office/drawing/2014/main" id="{DEA3F49A-EC3E-4FE4-ACCB-D4CEDD13C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102" name="Text Box 14">
              <a:extLst>
                <a:ext uri="{FF2B5EF4-FFF2-40B4-BE49-F238E27FC236}">
                  <a16:creationId xmlns:a16="http://schemas.microsoft.com/office/drawing/2014/main" id="{0CB38993-8932-4253-A5A3-7D17D971D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69737"/>
              <a:ext cx="1663491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int salary</a:t>
              </a:r>
            </a:p>
          </p:txBody>
        </p:sp>
      </p:grpSp>
      <p:sp>
        <p:nvSpPr>
          <p:cNvPr id="89" name="Textfeld 88">
            <a:extLst>
              <a:ext uri="{FF2B5EF4-FFF2-40B4-BE49-F238E27FC236}">
                <a16:creationId xmlns:a16="http://schemas.microsoft.com/office/drawing/2014/main" id="{4079132E-66C8-4CA2-9A3B-6A0175D4AD7B}"/>
              </a:ext>
            </a:extLst>
          </p:cNvPr>
          <p:cNvSpPr txBox="1"/>
          <p:nvPr/>
        </p:nvSpPr>
        <p:spPr>
          <a:xfrm>
            <a:off x="4060292" y="2755273"/>
            <a:ext cx="1072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employee</a:t>
            </a:r>
          </a:p>
        </p:txBody>
      </p:sp>
      <p:cxnSp>
        <p:nvCxnSpPr>
          <p:cNvPr id="90" name="Gerade Verbindung 71">
            <a:extLst>
              <a:ext uri="{FF2B5EF4-FFF2-40B4-BE49-F238E27FC236}">
                <a16:creationId xmlns:a16="http://schemas.microsoft.com/office/drawing/2014/main" id="{5FD4A5B5-4156-4179-8280-2831623618BA}"/>
              </a:ext>
            </a:extLst>
          </p:cNvPr>
          <p:cNvCxnSpPr/>
          <p:nvPr/>
        </p:nvCxnSpPr>
        <p:spPr>
          <a:xfrm>
            <a:off x="4059747" y="4356998"/>
            <a:ext cx="3422791" cy="0"/>
          </a:xfrm>
          <a:prstGeom prst="line">
            <a:avLst/>
          </a:prstGeom>
          <a:ln>
            <a:headEnd type="arrow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Gerade Verbindung 72">
            <a:extLst>
              <a:ext uri="{FF2B5EF4-FFF2-40B4-BE49-F238E27FC236}">
                <a16:creationId xmlns:a16="http://schemas.microsoft.com/office/drawing/2014/main" id="{9073322B-B9D5-48AE-BC40-CCF3D9656BC8}"/>
              </a:ext>
            </a:extLst>
          </p:cNvPr>
          <p:cNvCxnSpPr/>
          <p:nvPr/>
        </p:nvCxnSpPr>
        <p:spPr>
          <a:xfrm>
            <a:off x="4072615" y="4915636"/>
            <a:ext cx="3420000" cy="0"/>
          </a:xfrm>
          <a:prstGeom prst="line">
            <a:avLst/>
          </a:prstGeom>
          <a:ln>
            <a:headEnd type="none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0A7A4E37-2230-4C89-82F3-6759B06D7329}"/>
              </a:ext>
            </a:extLst>
          </p:cNvPr>
          <p:cNvSpPr txBox="1"/>
          <p:nvPr/>
        </p:nvSpPr>
        <p:spPr>
          <a:xfrm>
            <a:off x="5059555" y="4055070"/>
            <a:ext cx="13019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employment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A84E7B8B-CF8C-4208-A2A5-93DC255B54CC}"/>
              </a:ext>
            </a:extLst>
          </p:cNvPr>
          <p:cNvSpPr txBox="1"/>
          <p:nvPr/>
        </p:nvSpPr>
        <p:spPr>
          <a:xfrm>
            <a:off x="5152487" y="4578838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contracts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300C71B0-4C7C-4E1C-B7F3-7B5EA6E0E159}"/>
              </a:ext>
            </a:extLst>
          </p:cNvPr>
          <p:cNvSpPr txBox="1"/>
          <p:nvPr/>
        </p:nvSpPr>
        <p:spPr>
          <a:xfrm>
            <a:off x="6076776" y="4928698"/>
            <a:ext cx="1393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workContract</a:t>
            </a:r>
            <a:endParaRPr lang="en-US" sz="1600" dirty="0"/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BDE4E505-A0CE-4E63-A985-EB3AAFC1B07C}"/>
              </a:ext>
            </a:extLst>
          </p:cNvPr>
          <p:cNvSpPr txBox="1"/>
          <p:nvPr/>
        </p:nvSpPr>
        <p:spPr>
          <a:xfrm>
            <a:off x="4077025" y="4361207"/>
            <a:ext cx="1072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employee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0706AAF1-6145-4C59-BADD-E204F4401CE8}"/>
              </a:ext>
            </a:extLst>
          </p:cNvPr>
          <p:cNvSpPr txBox="1"/>
          <p:nvPr/>
        </p:nvSpPr>
        <p:spPr>
          <a:xfrm>
            <a:off x="4473645" y="2132856"/>
            <a:ext cx="2614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2"/>
                </a:solidFill>
                <a:latin typeface="Comic Sans MS" panose="030F0702030302020204" pitchFamily="66" charset="0"/>
              </a:rPr>
              <a:t>ambiguous matching roles</a:t>
            </a:r>
          </a:p>
        </p:txBody>
      </p:sp>
      <p:cxnSp>
        <p:nvCxnSpPr>
          <p:cNvPr id="97" name="Gerade Verbindung 47">
            <a:extLst>
              <a:ext uri="{FF2B5EF4-FFF2-40B4-BE49-F238E27FC236}">
                <a16:creationId xmlns:a16="http://schemas.microsoft.com/office/drawing/2014/main" id="{58FAC35F-F0AF-4D12-A702-9833E664E9A1}"/>
              </a:ext>
            </a:extLst>
          </p:cNvPr>
          <p:cNvCxnSpPr>
            <a:cxnSpLocks/>
          </p:cNvCxnSpPr>
          <p:nvPr/>
        </p:nvCxnSpPr>
        <p:spPr>
          <a:xfrm flipH="1">
            <a:off x="336000" y="3501008"/>
            <a:ext cx="1152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hteck 117">
            <a:extLst>
              <a:ext uri="{FF2B5EF4-FFF2-40B4-BE49-F238E27FC236}">
                <a16:creationId xmlns:a16="http://schemas.microsoft.com/office/drawing/2014/main" id="{5B78B576-4144-4EE2-A775-42E729380640}"/>
              </a:ext>
            </a:extLst>
          </p:cNvPr>
          <p:cNvSpPr/>
          <p:nvPr/>
        </p:nvSpPr>
        <p:spPr>
          <a:xfrm>
            <a:off x="10395557" y="5118443"/>
            <a:ext cx="697627" cy="369332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Error</a:t>
            </a:r>
          </a:p>
        </p:txBody>
      </p:sp>
      <p:sp>
        <p:nvSpPr>
          <p:cNvPr id="119" name="AutoShape 40">
            <a:extLst>
              <a:ext uri="{FF2B5EF4-FFF2-40B4-BE49-F238E27FC236}">
                <a16:creationId xmlns:a16="http://schemas.microsoft.com/office/drawing/2014/main" id="{2AD824E3-1CF6-40F4-A5A5-FF6AE8D7897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453814" y="1750390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120" name="AutoShape 40">
            <a:extLst>
              <a:ext uri="{FF2B5EF4-FFF2-40B4-BE49-F238E27FC236}">
                <a16:creationId xmlns:a16="http://schemas.microsoft.com/office/drawing/2014/main" id="{E6A973BB-8A6C-4A20-8B46-EF18242B228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453814" y="3752901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B</a:t>
            </a:r>
          </a:p>
        </p:txBody>
      </p:sp>
    </p:spTree>
    <p:extLst>
      <p:ext uri="{BB962C8B-B14F-4D97-AF65-F5344CB8AC3E}">
        <p14:creationId xmlns:p14="http://schemas.microsoft.com/office/powerpoint/2010/main" val="2525843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5F356E0-B51C-4BF8-93F3-D2EB3F76B7E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Do we allow </a:t>
            </a:r>
            <a:r>
              <a:rPr lang="en-US" dirty="0">
                <a:solidFill>
                  <a:schemeClr val="tx2"/>
                </a:solidFill>
              </a:rPr>
              <a:t>intersection of cardinality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Acceptable according to </a:t>
            </a:r>
            <a:r>
              <a:rPr lang="en-US" dirty="0">
                <a:solidFill>
                  <a:schemeClr val="tx2"/>
                </a:solidFill>
              </a:rPr>
              <a:t>formal semantics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BUT a cardinality may be considered a </a:t>
            </a:r>
            <a:r>
              <a:rPr lang="en-US" dirty="0">
                <a:solidFill>
                  <a:schemeClr val="accent6"/>
                </a:solidFill>
              </a:rPr>
              <a:t>writing promise for the implementation!</a:t>
            </a:r>
            <a:endParaRPr lang="en-US" dirty="0">
              <a:solidFill>
                <a:schemeClr val="tx2"/>
              </a:solidFill>
            </a:endParaRPr>
          </a:p>
          <a:p>
            <a:pPr lvl="2"/>
            <a:r>
              <a:rPr lang="en-US" dirty="0"/>
              <a:t>e.g., adding arbitrary many </a:t>
            </a:r>
            <a:r>
              <a:rPr lang="en-US" dirty="0" err="1">
                <a:solidFill>
                  <a:schemeClr val="tx2"/>
                </a:solidFill>
                <a:latin typeface="+mn-lt"/>
                <a:cs typeface="Courier New" panose="02070309020205020404" pitchFamily="49" charset="0"/>
              </a:rPr>
              <a:t>workContracts</a:t>
            </a:r>
            <a:r>
              <a:rPr lang="en-US" dirty="0"/>
              <a:t> to a </a:t>
            </a:r>
            <a:r>
              <a:rPr lang="en-US" dirty="0">
                <a:solidFill>
                  <a:schemeClr val="tx2"/>
                </a:solidFill>
                <a:latin typeface="+mn-lt"/>
                <a:cs typeface="Courier New" panose="02070309020205020404" pitchFamily="49" charset="0"/>
              </a:rPr>
              <a:t>Person</a:t>
            </a:r>
            <a:r>
              <a:rPr lang="en-US" dirty="0"/>
              <a:t>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319BD71-6182-4930-8E21-6CBCB7CC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Mismatching Cardinalities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A446B08C-55A0-464C-8BA4-2AF20A12AF4C}"/>
              </a:ext>
            </a:extLst>
          </p:cNvPr>
          <p:cNvGrpSpPr/>
          <p:nvPr/>
        </p:nvGrpSpPr>
        <p:grpSpPr>
          <a:xfrm>
            <a:off x="2516434" y="2858884"/>
            <a:ext cx="1473753" cy="1094098"/>
            <a:chOff x="1082040" y="2857500"/>
            <a:chExt cx="2438400" cy="1665704"/>
          </a:xfrm>
        </p:grpSpPr>
        <p:sp>
          <p:nvSpPr>
            <p:cNvPr id="43" name="Rectangle 10">
              <a:extLst>
                <a:ext uri="{FF2B5EF4-FFF2-40B4-BE49-F238E27FC236}">
                  <a16:creationId xmlns:a16="http://schemas.microsoft.com/office/drawing/2014/main" id="{6ECF9989-75A0-4BA6-8E12-26A2521A9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44" name="Text Box 11">
              <a:extLst>
                <a:ext uri="{FF2B5EF4-FFF2-40B4-BE49-F238E27FC236}">
                  <a16:creationId xmlns:a16="http://schemas.microsoft.com/office/drawing/2014/main" id="{FE07B3FD-04ED-4D3D-A4B1-64E7A5B17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3780" y="2917825"/>
              <a:ext cx="137970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Person</a:t>
              </a:r>
            </a:p>
          </p:txBody>
        </p:sp>
        <p:sp>
          <p:nvSpPr>
            <p:cNvPr id="45" name="Rectangle 12">
              <a:extLst>
                <a:ext uri="{FF2B5EF4-FFF2-40B4-BE49-F238E27FC236}">
                  <a16:creationId xmlns:a16="http://schemas.microsoft.com/office/drawing/2014/main" id="{D9724D47-E010-409A-9C9C-91D6D19DA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78881"/>
              <a:ext cx="2438400" cy="9870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46" name="Text Box 13">
              <a:extLst>
                <a:ext uri="{FF2B5EF4-FFF2-40B4-BE49-F238E27FC236}">
                  <a16:creationId xmlns:a16="http://schemas.microsoft.com/office/drawing/2014/main" id="{0C7229AC-83E6-4230-A3F6-8ABBFA036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47" name="Text Box 14">
              <a:extLst>
                <a:ext uri="{FF2B5EF4-FFF2-40B4-BE49-F238E27FC236}">
                  <a16:creationId xmlns:a16="http://schemas.microsoft.com/office/drawing/2014/main" id="{4799D482-C61E-439C-AF72-52296EE82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37028"/>
              <a:ext cx="213559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name</a:t>
              </a: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B98F6481-88EA-48F4-9A67-6D4A87D44488}"/>
              </a:ext>
            </a:extLst>
          </p:cNvPr>
          <p:cNvGrpSpPr/>
          <p:nvPr/>
        </p:nvGrpSpPr>
        <p:grpSpPr>
          <a:xfrm>
            <a:off x="7412978" y="2858885"/>
            <a:ext cx="1473753" cy="1094098"/>
            <a:chOff x="1082040" y="2857500"/>
            <a:chExt cx="2438400" cy="1665704"/>
          </a:xfrm>
        </p:grpSpPr>
        <p:sp>
          <p:nvSpPr>
            <p:cNvPr id="49" name="Rectangle 10">
              <a:extLst>
                <a:ext uri="{FF2B5EF4-FFF2-40B4-BE49-F238E27FC236}">
                  <a16:creationId xmlns:a16="http://schemas.microsoft.com/office/drawing/2014/main" id="{94EE022B-7E80-4D33-B4F5-841B4055A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50" name="Text Box 11">
              <a:extLst>
                <a:ext uri="{FF2B5EF4-FFF2-40B4-BE49-F238E27FC236}">
                  <a16:creationId xmlns:a16="http://schemas.microsoft.com/office/drawing/2014/main" id="{B0AB265D-AF69-4F6B-A89D-A997BF2EE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3366" y="2917825"/>
              <a:ext cx="96052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Contract</a:t>
              </a:r>
            </a:p>
          </p:txBody>
        </p:sp>
        <p:sp>
          <p:nvSpPr>
            <p:cNvPr id="51" name="Rectangle 12">
              <a:extLst>
                <a:ext uri="{FF2B5EF4-FFF2-40B4-BE49-F238E27FC236}">
                  <a16:creationId xmlns:a16="http://schemas.microsoft.com/office/drawing/2014/main" id="{972E86BD-51A5-4CE9-A573-D64170AE8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90895"/>
              <a:ext cx="2438400" cy="9750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52" name="Text Box 13">
              <a:extLst>
                <a:ext uri="{FF2B5EF4-FFF2-40B4-BE49-F238E27FC236}">
                  <a16:creationId xmlns:a16="http://schemas.microsoft.com/office/drawing/2014/main" id="{07916F5B-B4F8-40B7-A97F-25E47C857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53" name="Text Box 14">
              <a:extLst>
                <a:ext uri="{FF2B5EF4-FFF2-40B4-BE49-F238E27FC236}">
                  <a16:creationId xmlns:a16="http://schemas.microsoft.com/office/drawing/2014/main" id="{1B547CD3-FF82-4418-95E4-F6FBA9949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69737"/>
              <a:ext cx="1663491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int salary</a:t>
              </a:r>
            </a:p>
          </p:txBody>
        </p:sp>
      </p:grpSp>
      <p:cxnSp>
        <p:nvCxnSpPr>
          <p:cNvPr id="54" name="Gerade Verbindung 51">
            <a:extLst>
              <a:ext uri="{FF2B5EF4-FFF2-40B4-BE49-F238E27FC236}">
                <a16:creationId xmlns:a16="http://schemas.microsoft.com/office/drawing/2014/main" id="{C78AFE06-7AA3-4733-9B23-4A06C26DA5D1}"/>
              </a:ext>
            </a:extLst>
          </p:cNvPr>
          <p:cNvCxnSpPr>
            <a:stCxn id="43" idx="3"/>
            <a:endCxn id="49" idx="1"/>
          </p:cNvCxnSpPr>
          <p:nvPr/>
        </p:nvCxnSpPr>
        <p:spPr>
          <a:xfrm>
            <a:off x="3990187" y="3354283"/>
            <a:ext cx="3422791" cy="1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AE3FDB9D-83D4-4F03-8619-B7794D4D4BCF}"/>
              </a:ext>
            </a:extLst>
          </p:cNvPr>
          <p:cNvSpPr txBox="1"/>
          <p:nvPr/>
        </p:nvSpPr>
        <p:spPr>
          <a:xfrm>
            <a:off x="4007645" y="3005338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dirty="0">
                <a:solidFill>
                  <a:schemeClr val="accent6"/>
                </a:solidFill>
              </a:rPr>
              <a:t>1..*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9F6E3586-74A3-4E9F-8D92-5D2B27DB83F1}"/>
              </a:ext>
            </a:extLst>
          </p:cNvPr>
          <p:cNvSpPr txBox="1"/>
          <p:nvPr/>
        </p:nvSpPr>
        <p:spPr>
          <a:xfrm>
            <a:off x="6022953" y="3359464"/>
            <a:ext cx="1393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workContract</a:t>
            </a:r>
            <a:endParaRPr lang="en-US" sz="1600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413E8FC8-F92A-4F69-A8CA-8B16FCBDBF94}"/>
              </a:ext>
            </a:extLst>
          </p:cNvPr>
          <p:cNvSpPr txBox="1"/>
          <p:nvPr/>
        </p:nvSpPr>
        <p:spPr>
          <a:xfrm>
            <a:off x="6947523" y="3008823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 b="1"/>
            </a:lvl1pPr>
          </a:lstStyle>
          <a:p>
            <a:r>
              <a:rPr lang="de-DE" dirty="0">
                <a:solidFill>
                  <a:schemeClr val="accent6"/>
                </a:solidFill>
              </a:rPr>
              <a:t>0..1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653EBC6C-D6B6-4820-85DA-9E5E05733430}"/>
              </a:ext>
            </a:extLst>
          </p:cNvPr>
          <p:cNvGrpSpPr/>
          <p:nvPr/>
        </p:nvGrpSpPr>
        <p:grpSpPr>
          <a:xfrm>
            <a:off x="2528299" y="4443058"/>
            <a:ext cx="1473753" cy="1094099"/>
            <a:chOff x="1082040" y="2857498"/>
            <a:chExt cx="2438400" cy="1665706"/>
          </a:xfrm>
        </p:grpSpPr>
        <p:sp>
          <p:nvSpPr>
            <p:cNvPr id="59" name="Rectangle 10">
              <a:extLst>
                <a:ext uri="{FF2B5EF4-FFF2-40B4-BE49-F238E27FC236}">
                  <a16:creationId xmlns:a16="http://schemas.microsoft.com/office/drawing/2014/main" id="{145521E4-083A-4DEF-9BFC-D18552432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498"/>
              <a:ext cx="2438400" cy="14964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60" name="Text Box 11">
              <a:extLst>
                <a:ext uri="{FF2B5EF4-FFF2-40B4-BE49-F238E27FC236}">
                  <a16:creationId xmlns:a16="http://schemas.microsoft.com/office/drawing/2014/main" id="{89D57620-8154-4506-9E09-6A1A76EAC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3780" y="2917825"/>
              <a:ext cx="137970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Person</a:t>
              </a:r>
            </a:p>
          </p:txBody>
        </p:sp>
        <p:sp>
          <p:nvSpPr>
            <p:cNvPr id="61" name="Rectangle 12">
              <a:extLst>
                <a:ext uri="{FF2B5EF4-FFF2-40B4-BE49-F238E27FC236}">
                  <a16:creationId xmlns:a16="http://schemas.microsoft.com/office/drawing/2014/main" id="{8AE26405-B6E0-41D6-84F3-24E49658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83879"/>
              <a:ext cx="2438400" cy="9700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62" name="Text Box 13">
              <a:extLst>
                <a:ext uri="{FF2B5EF4-FFF2-40B4-BE49-F238E27FC236}">
                  <a16:creationId xmlns:a16="http://schemas.microsoft.com/office/drawing/2014/main" id="{573714E5-D322-413B-B7A8-94EAED245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63" name="Text Box 14">
              <a:extLst>
                <a:ext uri="{FF2B5EF4-FFF2-40B4-BE49-F238E27FC236}">
                  <a16:creationId xmlns:a16="http://schemas.microsoft.com/office/drawing/2014/main" id="{8D256211-8A8C-48A4-AB3A-3BEC421F4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37029"/>
              <a:ext cx="2135592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String name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110837EA-C9FF-46E4-A962-434FEA1AA4D9}"/>
              </a:ext>
            </a:extLst>
          </p:cNvPr>
          <p:cNvGrpSpPr/>
          <p:nvPr/>
        </p:nvGrpSpPr>
        <p:grpSpPr>
          <a:xfrm>
            <a:off x="7424843" y="4443061"/>
            <a:ext cx="1473753" cy="1094098"/>
            <a:chOff x="1082040" y="2857500"/>
            <a:chExt cx="2438400" cy="1665704"/>
          </a:xfrm>
        </p:grpSpPr>
        <p:sp>
          <p:nvSpPr>
            <p:cNvPr id="65" name="Rectangle 10">
              <a:extLst>
                <a:ext uri="{FF2B5EF4-FFF2-40B4-BE49-F238E27FC236}">
                  <a16:creationId xmlns:a16="http://schemas.microsoft.com/office/drawing/2014/main" id="{26066D4B-D633-4F55-82F5-80BF920C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2857500"/>
              <a:ext cx="2438400" cy="15084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66" name="Text Box 11">
              <a:extLst>
                <a:ext uri="{FF2B5EF4-FFF2-40B4-BE49-F238E27FC236}">
                  <a16:creationId xmlns:a16="http://schemas.microsoft.com/office/drawing/2014/main" id="{3BCA308D-2D7B-46AC-B4CD-499D75E53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3366" y="2917825"/>
              <a:ext cx="96052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1600" dirty="0"/>
                <a:t>Contract</a:t>
              </a:r>
            </a:p>
          </p:txBody>
        </p:sp>
        <p:sp>
          <p:nvSpPr>
            <p:cNvPr id="67" name="Rectangle 12">
              <a:extLst>
                <a:ext uri="{FF2B5EF4-FFF2-40B4-BE49-F238E27FC236}">
                  <a16:creationId xmlns:a16="http://schemas.microsoft.com/office/drawing/2014/main" id="{8E4917BF-1885-4EF8-BC68-F193CA87A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" y="3383876"/>
              <a:ext cx="2438400" cy="9820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68" name="Text Box 13">
              <a:extLst>
                <a:ext uri="{FF2B5EF4-FFF2-40B4-BE49-F238E27FC236}">
                  <a16:creationId xmlns:a16="http://schemas.microsoft.com/office/drawing/2014/main" id="{082F2BF4-EFED-4DD7-8B3F-4F2D91799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4184650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de-DE" altLang="en-US" sz="1600" dirty="0"/>
            </a:p>
          </p:txBody>
        </p:sp>
        <p:sp>
          <p:nvSpPr>
            <p:cNvPr id="69" name="Text Box 14">
              <a:extLst>
                <a:ext uri="{FF2B5EF4-FFF2-40B4-BE49-F238E27FC236}">
                  <a16:creationId xmlns:a16="http://schemas.microsoft.com/office/drawing/2014/main" id="{FB5B0159-8ECE-4A2F-841D-D1E22BE54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040" y="3369737"/>
              <a:ext cx="1663491" cy="51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int salary</a:t>
              </a:r>
            </a:p>
          </p:txBody>
        </p:sp>
      </p:grpSp>
      <p:cxnSp>
        <p:nvCxnSpPr>
          <p:cNvPr id="72" name="Gerade Verbindung 72">
            <a:extLst>
              <a:ext uri="{FF2B5EF4-FFF2-40B4-BE49-F238E27FC236}">
                <a16:creationId xmlns:a16="http://schemas.microsoft.com/office/drawing/2014/main" id="{69C5AF4E-E96B-4CFA-A0A2-56AFB49123FB}"/>
              </a:ext>
            </a:extLst>
          </p:cNvPr>
          <p:cNvCxnSpPr/>
          <p:nvPr/>
        </p:nvCxnSpPr>
        <p:spPr>
          <a:xfrm>
            <a:off x="4014920" y="4933660"/>
            <a:ext cx="3420000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F74C1908-C00C-434D-8BC3-30BEEBFEF661}"/>
              </a:ext>
            </a:extLst>
          </p:cNvPr>
          <p:cNvSpPr txBox="1"/>
          <p:nvPr/>
        </p:nvSpPr>
        <p:spPr>
          <a:xfrm>
            <a:off x="5004095" y="4569799"/>
            <a:ext cx="13019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employment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1CA841E-D36B-4658-A2AB-146ADCCA1F80}"/>
              </a:ext>
            </a:extLst>
          </p:cNvPr>
          <p:cNvSpPr txBox="1"/>
          <p:nvPr/>
        </p:nvSpPr>
        <p:spPr>
          <a:xfrm>
            <a:off x="6028225" y="4946722"/>
            <a:ext cx="1393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workContract</a:t>
            </a:r>
            <a:endParaRPr lang="en-US" sz="1600" dirty="0"/>
          </a:p>
        </p:txBody>
      </p:sp>
      <p:cxnSp>
        <p:nvCxnSpPr>
          <p:cNvPr id="78" name="Gerade Verbindung 47">
            <a:extLst>
              <a:ext uri="{FF2B5EF4-FFF2-40B4-BE49-F238E27FC236}">
                <a16:creationId xmlns:a16="http://schemas.microsoft.com/office/drawing/2014/main" id="{6062ADB0-3035-43F0-9722-8DF4A66670C6}"/>
              </a:ext>
            </a:extLst>
          </p:cNvPr>
          <p:cNvCxnSpPr>
            <a:cxnSpLocks/>
          </p:cNvCxnSpPr>
          <p:nvPr/>
        </p:nvCxnSpPr>
        <p:spPr>
          <a:xfrm flipH="1">
            <a:off x="278305" y="4109960"/>
            <a:ext cx="1152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DF43766A-24CA-4BFD-901D-833E4E96B014}"/>
              </a:ext>
            </a:extLst>
          </p:cNvPr>
          <p:cNvSpPr/>
          <p:nvPr/>
        </p:nvSpPr>
        <p:spPr>
          <a:xfrm>
            <a:off x="10454863" y="5161853"/>
            <a:ext cx="697627" cy="369332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Error</a:t>
            </a:r>
          </a:p>
        </p:txBody>
      </p:sp>
      <p:sp>
        <p:nvSpPr>
          <p:cNvPr id="80" name="AutoShape 40">
            <a:extLst>
              <a:ext uri="{FF2B5EF4-FFF2-40B4-BE49-F238E27FC236}">
                <a16:creationId xmlns:a16="http://schemas.microsoft.com/office/drawing/2014/main" id="{B4059C15-BAD0-4C97-80E6-53EBA981225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199401" y="2752739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81" name="AutoShape 40">
            <a:extLst>
              <a:ext uri="{FF2B5EF4-FFF2-40B4-BE49-F238E27FC236}">
                <a16:creationId xmlns:a16="http://schemas.microsoft.com/office/drawing/2014/main" id="{B6B7565D-F587-4158-BC0B-BE4BD407CE3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197487" y="4309216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B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8A445B36-D2F0-4DC9-8351-043C9E961200}"/>
              </a:ext>
            </a:extLst>
          </p:cNvPr>
          <p:cNvSpPr txBox="1"/>
          <p:nvPr/>
        </p:nvSpPr>
        <p:spPr>
          <a:xfrm>
            <a:off x="4014763" y="4635053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dirty="0">
                <a:solidFill>
                  <a:schemeClr val="accent6"/>
                </a:solidFill>
              </a:rPr>
              <a:t>1..4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D49F913C-DC03-48C8-8763-1414A4D54241}"/>
              </a:ext>
            </a:extLst>
          </p:cNvPr>
          <p:cNvSpPr txBox="1"/>
          <p:nvPr/>
        </p:nvSpPr>
        <p:spPr>
          <a:xfrm>
            <a:off x="7160018" y="4638538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 b="1"/>
            </a:lvl1pPr>
          </a:lstStyle>
          <a:p>
            <a:r>
              <a:rPr lang="de-DE" dirty="0">
                <a:solidFill>
                  <a:schemeClr val="accent6"/>
                </a:solidFill>
              </a:rPr>
              <a:t>*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B8BEE244-271E-4661-B204-A21393B8556B}"/>
              </a:ext>
            </a:extLst>
          </p:cNvPr>
          <p:cNvSpPr txBox="1"/>
          <p:nvPr/>
        </p:nvSpPr>
        <p:spPr>
          <a:xfrm>
            <a:off x="5004095" y="2978613"/>
            <a:ext cx="13019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employment</a:t>
            </a:r>
          </a:p>
        </p:txBody>
      </p:sp>
    </p:spTree>
    <p:extLst>
      <p:ext uri="{BB962C8B-B14F-4D97-AF65-F5344CB8AC3E}">
        <p14:creationId xmlns:p14="http://schemas.microsoft.com/office/powerpoint/2010/main" val="1206576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95EB8DF-5CE1-454C-BA43-CC000FE79F0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Roles are reading and writing promises 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getLecturer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setLecturer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Association targets cannot be changed: </a:t>
            </a:r>
          </a:p>
          <a:p>
            <a:pPr marL="2160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</a:t>
            </a:r>
            <a:r>
              <a:rPr lang="en-US" dirty="0"/>
              <a:t> No merging of these associations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F9FC83E-B012-4259-9C17-ED7FB7EA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Association and Inheritance Conflict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65AD53B-F24A-4AE9-A6FA-3717E50E3A71}"/>
              </a:ext>
            </a:extLst>
          </p:cNvPr>
          <p:cNvGrpSpPr/>
          <p:nvPr/>
        </p:nvGrpSpPr>
        <p:grpSpPr>
          <a:xfrm>
            <a:off x="1556217" y="2500017"/>
            <a:ext cx="3672408" cy="1223994"/>
            <a:chOff x="1889650" y="2589734"/>
            <a:chExt cx="3672408" cy="1223994"/>
          </a:xfrm>
        </p:grpSpPr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778757C4-307A-49F4-AF06-63C83F8F7184}"/>
                </a:ext>
              </a:extLst>
            </p:cNvPr>
            <p:cNvSpPr txBox="1"/>
            <p:nvPr/>
          </p:nvSpPr>
          <p:spPr>
            <a:xfrm>
              <a:off x="1889650" y="2589734"/>
              <a:ext cx="1172116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Lecturer</a:t>
              </a:r>
              <a:endParaRPr lang="en-US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401B2E49-D7C3-4F04-87BF-5006708212B8}"/>
                </a:ext>
              </a:extLst>
            </p:cNvPr>
            <p:cNvSpPr txBox="1"/>
            <p:nvPr/>
          </p:nvSpPr>
          <p:spPr>
            <a:xfrm>
              <a:off x="1909019" y="3366376"/>
              <a:ext cx="1172116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/>
                <a:t>Professor</a:t>
              </a:r>
            </a:p>
          </p:txBody>
        </p:sp>
        <p:sp>
          <p:nvSpPr>
            <p:cNvPr id="9" name="Line 24">
              <a:extLst>
                <a:ext uri="{FF2B5EF4-FFF2-40B4-BE49-F238E27FC236}">
                  <a16:creationId xmlns:a16="http://schemas.microsoft.com/office/drawing/2014/main" id="{9E0BFB34-6B2C-4E0A-854D-86BF22657E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5077" y="3068694"/>
              <a:ext cx="0" cy="285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de-DE"/>
            </a:p>
          </p:txBody>
        </p:sp>
        <p:sp>
          <p:nvSpPr>
            <p:cNvPr id="10" name="AutoShape 25">
              <a:extLst>
                <a:ext uri="{FF2B5EF4-FFF2-40B4-BE49-F238E27FC236}">
                  <a16:creationId xmlns:a16="http://schemas.microsoft.com/office/drawing/2014/main" id="{D70C113D-A27D-45BF-9A57-9B384A50D0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86448" y="2935730"/>
              <a:ext cx="239928" cy="18124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369AC41-AD06-4EDF-8D7B-4EB1727F8B8D}"/>
                </a:ext>
              </a:extLst>
            </p:cNvPr>
            <p:cNvSpPr/>
            <p:nvPr/>
          </p:nvSpPr>
          <p:spPr>
            <a:xfrm>
              <a:off x="4408059" y="3361934"/>
              <a:ext cx="1153999" cy="3429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de-DE" sz="1600" dirty="0">
                  <a:latin typeface="Arial" charset="0"/>
                </a:rPr>
                <a:t>Course</a:t>
              </a:r>
            </a:p>
          </p:txBody>
        </p: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C18074A2-A256-4D09-BEEB-F2BF6B82CFE6}"/>
                </a:ext>
              </a:extLst>
            </p:cNvPr>
            <p:cNvCxnSpPr>
              <a:stCxn id="8" idx="3"/>
              <a:endCxn id="11" idx="1"/>
            </p:cNvCxnSpPr>
            <p:nvPr/>
          </p:nvCxnSpPr>
          <p:spPr>
            <a:xfrm flipV="1">
              <a:off x="3081135" y="3533432"/>
              <a:ext cx="1326924" cy="222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7DDD0442-7733-4E8F-84A2-D10C73E40CC7}"/>
                </a:ext>
              </a:extLst>
            </p:cNvPr>
            <p:cNvSpPr txBox="1"/>
            <p:nvPr/>
          </p:nvSpPr>
          <p:spPr>
            <a:xfrm>
              <a:off x="3401818" y="3270182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de-DE"/>
              </a:defPPr>
              <a:lvl1pPr>
                <a:defRPr sz="1400"/>
              </a:lvl1pPr>
            </a:lstStyle>
            <a:p>
              <a:r>
                <a:rPr lang="en-US" dirty="0"/>
                <a:t>holds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B547674B-D317-4214-B082-F8DE00437667}"/>
                </a:ext>
              </a:extLst>
            </p:cNvPr>
            <p:cNvSpPr txBox="1"/>
            <p:nvPr/>
          </p:nvSpPr>
          <p:spPr>
            <a:xfrm>
              <a:off x="3045758" y="321791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/>
                <a:t>1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D81B244-5042-44E8-942A-30B6F313250E}"/>
                </a:ext>
              </a:extLst>
            </p:cNvPr>
            <p:cNvSpPr txBox="1"/>
            <p:nvPr/>
          </p:nvSpPr>
          <p:spPr>
            <a:xfrm>
              <a:off x="4133625" y="3289927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*</a:t>
              </a:r>
              <a:endParaRPr lang="de-DE" sz="2000" dirty="0"/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923B6C1-45FB-435C-B1D6-CCA091861E50}"/>
                </a:ext>
              </a:extLst>
            </p:cNvPr>
            <p:cNvSpPr txBox="1"/>
            <p:nvPr/>
          </p:nvSpPr>
          <p:spPr>
            <a:xfrm>
              <a:off x="3041778" y="3505951"/>
              <a:ext cx="9075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lecturer</a:t>
              </a:r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99AB6470-C28D-4C25-B8CA-D7E64CA25FB9}"/>
              </a:ext>
            </a:extLst>
          </p:cNvPr>
          <p:cNvGrpSpPr/>
          <p:nvPr/>
        </p:nvGrpSpPr>
        <p:grpSpPr>
          <a:xfrm>
            <a:off x="7193047" y="2437715"/>
            <a:ext cx="3846001" cy="1226836"/>
            <a:chOff x="6468585" y="2478094"/>
            <a:chExt cx="3846001" cy="1226836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826B4540-DF32-4A21-A90A-6EA4EDF51682}"/>
                </a:ext>
              </a:extLst>
            </p:cNvPr>
            <p:cNvSpPr txBox="1"/>
            <p:nvPr/>
          </p:nvSpPr>
          <p:spPr>
            <a:xfrm>
              <a:off x="6468585" y="2589426"/>
              <a:ext cx="1172116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Lecturer</a:t>
              </a:r>
              <a:endParaRPr lang="en-US"/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FE1C59AD-652C-4360-B476-C99400AE7E6B}"/>
                </a:ext>
              </a:extLst>
            </p:cNvPr>
            <p:cNvSpPr txBox="1"/>
            <p:nvPr/>
          </p:nvSpPr>
          <p:spPr>
            <a:xfrm>
              <a:off x="6468585" y="3366376"/>
              <a:ext cx="1177861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/>
                <a:t>Professor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5955EC88-2454-4121-985D-220C102BE6D5}"/>
                </a:ext>
              </a:extLst>
            </p:cNvPr>
            <p:cNvSpPr/>
            <p:nvPr/>
          </p:nvSpPr>
          <p:spPr>
            <a:xfrm>
              <a:off x="9160587" y="2597177"/>
              <a:ext cx="1153999" cy="338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de-DE" sz="1600" dirty="0">
                  <a:latin typeface="Arial" charset="0"/>
                </a:rPr>
                <a:t>Course</a:t>
              </a: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DCF82AC3-509E-4DA1-AD51-19A1F5B65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4643" y="3079753"/>
              <a:ext cx="2871" cy="2866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de-DE"/>
            </a:p>
          </p:txBody>
        </p:sp>
        <p:sp>
          <p:nvSpPr>
            <p:cNvPr id="20" name="AutoShape 25">
              <a:extLst>
                <a:ext uri="{FF2B5EF4-FFF2-40B4-BE49-F238E27FC236}">
                  <a16:creationId xmlns:a16="http://schemas.microsoft.com/office/drawing/2014/main" id="{CC94AD7E-5EAB-40DC-91EC-4F707311D42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937551" y="2916568"/>
              <a:ext cx="239928" cy="18124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000"/>
            </a:p>
          </p:txBody>
        </p: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1BB72874-519C-4F4F-93AF-38DBCBD2F9EE}"/>
                </a:ext>
              </a:extLst>
            </p:cNvPr>
            <p:cNvCxnSpPr>
              <a:stCxn id="16" idx="3"/>
              <a:endCxn id="18" idx="1"/>
            </p:cNvCxnSpPr>
            <p:nvPr/>
          </p:nvCxnSpPr>
          <p:spPr>
            <a:xfrm>
              <a:off x="7640701" y="2758703"/>
              <a:ext cx="151988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E0E91A7-899A-4EE8-AB19-1FE7BB918EA7}"/>
                </a:ext>
              </a:extLst>
            </p:cNvPr>
            <p:cNvSpPr txBox="1"/>
            <p:nvPr/>
          </p:nvSpPr>
          <p:spPr>
            <a:xfrm>
              <a:off x="8117742" y="2497839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de-DE"/>
              </a:defPPr>
              <a:lvl1pPr>
                <a:defRPr sz="1400"/>
              </a:lvl1pPr>
            </a:lstStyle>
            <a:p>
              <a:r>
                <a:rPr lang="en-US" dirty="0"/>
                <a:t>holds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EA52C8B2-1A50-47A2-9E3F-C099092597F1}"/>
                </a:ext>
              </a:extLst>
            </p:cNvPr>
            <p:cNvSpPr txBox="1"/>
            <p:nvPr/>
          </p:nvSpPr>
          <p:spPr>
            <a:xfrm>
              <a:off x="7654270" y="247809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de-DE"/>
              </a:defPPr>
              <a:lvl1pPr>
                <a:defRPr sz="1400"/>
              </a:lvl1pPr>
            </a:lstStyle>
            <a:p>
              <a:r>
                <a:rPr lang="de-DE" dirty="0"/>
                <a:t>1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E42D1996-522C-4889-B9D1-A0D1744E0272}"/>
                </a:ext>
              </a:extLst>
            </p:cNvPr>
            <p:cNvSpPr txBox="1"/>
            <p:nvPr/>
          </p:nvSpPr>
          <p:spPr>
            <a:xfrm>
              <a:off x="8874426" y="2510466"/>
              <a:ext cx="2648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/>
                <a:t>*</a:t>
              </a:r>
              <a:endParaRPr lang="de-DE" dirty="0"/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D6FE7476-BEDC-4FE6-BB6C-E4C96538B0FB}"/>
                </a:ext>
              </a:extLst>
            </p:cNvPr>
            <p:cNvSpPr txBox="1"/>
            <p:nvPr/>
          </p:nvSpPr>
          <p:spPr>
            <a:xfrm>
              <a:off x="7590999" y="2766126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de-DE"/>
              </a:defPPr>
              <a:lvl1pPr>
                <a:defRPr sz="1400"/>
              </a:lvl1pPr>
            </a:lstStyle>
            <a:p>
              <a:r>
                <a:rPr lang="en-US"/>
                <a:t>lecturer</a:t>
              </a:r>
            </a:p>
          </p:txBody>
        </p:sp>
      </p:grpSp>
      <p:sp>
        <p:nvSpPr>
          <p:cNvPr id="29" name="Rechteck 28">
            <a:extLst>
              <a:ext uri="{FF2B5EF4-FFF2-40B4-BE49-F238E27FC236}">
                <a16:creationId xmlns:a16="http://schemas.microsoft.com/office/drawing/2014/main" id="{73A01487-F361-457E-8696-9D9FCA6449FC}"/>
              </a:ext>
            </a:extLst>
          </p:cNvPr>
          <p:cNvSpPr/>
          <p:nvPr/>
        </p:nvSpPr>
        <p:spPr>
          <a:xfrm>
            <a:off x="2864356" y="4827327"/>
            <a:ext cx="394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>
                <a:latin typeface="+mj-lt"/>
                <a:ea typeface="Cambria Math"/>
              </a:rPr>
              <a:t>=</a:t>
            </a:r>
            <a:endParaRPr lang="de-DE" sz="2800" b="1" dirty="0">
              <a:latin typeface="+mj-lt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FE4ED14-AB62-4116-B27D-88C249EEF63F}"/>
              </a:ext>
            </a:extLst>
          </p:cNvPr>
          <p:cNvSpPr txBox="1"/>
          <p:nvPr/>
        </p:nvSpPr>
        <p:spPr>
          <a:xfrm>
            <a:off x="4216463" y="4475367"/>
            <a:ext cx="1172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Lecturer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18720E1-2AFA-4ECD-8C33-092B06E929F0}"/>
              </a:ext>
            </a:extLst>
          </p:cNvPr>
          <p:cNvSpPr txBox="1"/>
          <p:nvPr/>
        </p:nvSpPr>
        <p:spPr>
          <a:xfrm>
            <a:off x="4210717" y="5290469"/>
            <a:ext cx="117786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Professor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0CF2E52-8CC6-4E20-B23A-1B65FCEF9119}"/>
              </a:ext>
            </a:extLst>
          </p:cNvPr>
          <p:cNvSpPr/>
          <p:nvPr/>
        </p:nvSpPr>
        <p:spPr>
          <a:xfrm>
            <a:off x="6827285" y="4475367"/>
            <a:ext cx="1153999" cy="33855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Arial" charset="0"/>
              </a:rPr>
              <a:t>Course</a:t>
            </a:r>
          </a:p>
        </p:txBody>
      </p:sp>
      <p:sp>
        <p:nvSpPr>
          <p:cNvPr id="33" name="Line 24">
            <a:extLst>
              <a:ext uri="{FF2B5EF4-FFF2-40B4-BE49-F238E27FC236}">
                <a16:creationId xmlns:a16="http://schemas.microsoft.com/office/drawing/2014/main" id="{8EAABAE3-80E3-41E6-BD3C-A4936A23A5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2473" y="4993834"/>
            <a:ext cx="0" cy="2852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531271E7-79B5-431C-9F23-9D16FB7B45E0}"/>
              </a:ext>
            </a:extLst>
          </p:cNvPr>
          <p:cNvSpPr txBox="1"/>
          <p:nvPr/>
        </p:nvSpPr>
        <p:spPr>
          <a:xfrm>
            <a:off x="6298949" y="5196015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/>
              <a:t>holds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563E276-8639-42D8-9C83-2ABDDC314999}"/>
              </a:ext>
            </a:extLst>
          </p:cNvPr>
          <p:cNvSpPr txBox="1"/>
          <p:nvPr/>
        </p:nvSpPr>
        <p:spPr>
          <a:xfrm>
            <a:off x="5432193" y="520813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/>
              <a:t>1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E9B35C-13B0-4119-8233-635665736A7D}"/>
              </a:ext>
            </a:extLst>
          </p:cNvPr>
          <p:cNvSpPr txBox="1"/>
          <p:nvPr/>
        </p:nvSpPr>
        <p:spPr>
          <a:xfrm>
            <a:off x="7448452" y="4796357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*</a:t>
            </a:r>
            <a:endParaRPr lang="en-US"/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E67E1C8B-A451-4FEF-9F2E-0E3EA294F6F1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>
            <a:off x="5388579" y="4644644"/>
            <a:ext cx="1438706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A56BC233-49F7-48E6-8A66-96DEB3FAF355}"/>
              </a:ext>
            </a:extLst>
          </p:cNvPr>
          <p:cNvSpPr txBox="1"/>
          <p:nvPr/>
        </p:nvSpPr>
        <p:spPr>
          <a:xfrm>
            <a:off x="5938909" y="4365104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/>
              <a:t>holds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0F587374-7FA9-43A6-A646-D9F106ABCB3C}"/>
              </a:ext>
            </a:extLst>
          </p:cNvPr>
          <p:cNvSpPr txBox="1"/>
          <p:nvPr/>
        </p:nvSpPr>
        <p:spPr>
          <a:xfrm>
            <a:off x="5438833" y="43833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/>
              <a:t>1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0B3CF3CA-6D72-46B1-A31F-B2BAA6135CC6}"/>
              </a:ext>
            </a:extLst>
          </p:cNvPr>
          <p:cNvSpPr txBox="1"/>
          <p:nvPr/>
        </p:nvSpPr>
        <p:spPr>
          <a:xfrm>
            <a:off x="6549176" y="4365104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*</a:t>
            </a:r>
            <a:endParaRPr lang="en-US"/>
          </a:p>
        </p:txBody>
      </p:sp>
      <p:cxnSp>
        <p:nvCxnSpPr>
          <p:cNvPr id="42" name="Gewinkelte Verbindung 38">
            <a:extLst>
              <a:ext uri="{FF2B5EF4-FFF2-40B4-BE49-F238E27FC236}">
                <a16:creationId xmlns:a16="http://schemas.microsoft.com/office/drawing/2014/main" id="{4887911B-9892-4834-9B6B-F7F22E025A86}"/>
              </a:ext>
            </a:extLst>
          </p:cNvPr>
          <p:cNvCxnSpPr>
            <a:cxnSpLocks/>
            <a:stCxn id="31" idx="3"/>
            <a:endCxn id="32" idx="2"/>
          </p:cNvCxnSpPr>
          <p:nvPr/>
        </p:nvCxnSpPr>
        <p:spPr>
          <a:xfrm flipV="1">
            <a:off x="5388578" y="4813920"/>
            <a:ext cx="2015707" cy="645826"/>
          </a:xfrm>
          <a:prstGeom prst="bentConnector2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67547943-BCAF-453A-B336-97405D10518F}"/>
              </a:ext>
            </a:extLst>
          </p:cNvPr>
          <p:cNvSpPr txBox="1"/>
          <p:nvPr/>
        </p:nvSpPr>
        <p:spPr>
          <a:xfrm>
            <a:off x="5373950" y="4604887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/>
              <a:t>lecturer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A501045-A8F3-4F9C-BD22-6EAC7DB09469}"/>
              </a:ext>
            </a:extLst>
          </p:cNvPr>
          <p:cNvSpPr txBox="1"/>
          <p:nvPr/>
        </p:nvSpPr>
        <p:spPr>
          <a:xfrm>
            <a:off x="5359768" y="5443978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en-US"/>
              <a:t>lecturer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74A6EC47-35CC-479A-85C4-0444C0728CCC}"/>
              </a:ext>
            </a:extLst>
          </p:cNvPr>
          <p:cNvSpPr/>
          <p:nvPr/>
        </p:nvSpPr>
        <p:spPr>
          <a:xfrm>
            <a:off x="8297246" y="4450998"/>
            <a:ext cx="30222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2"/>
                </a:solidFill>
                <a:latin typeface="Comic Sans MS" panose="030F0702030302020204" pitchFamily="66" charset="0"/>
              </a:rPr>
              <a:t>ambiguous role: </a:t>
            </a:r>
            <a:r>
              <a:rPr lang="en-US" sz="1600" dirty="0" err="1">
                <a:solidFill>
                  <a:schemeClr val="tx2"/>
                </a:solidFill>
                <a:latin typeface="Comic Sans MS" panose="030F0702030302020204" pitchFamily="66" charset="0"/>
                <a:cs typeface="Consolas" panose="020B0609020204030204" pitchFamily="49" charset="0"/>
              </a:rPr>
              <a:t>Course.lecturer</a:t>
            </a:r>
            <a:endParaRPr lang="en-US" sz="1600" dirty="0">
              <a:solidFill>
                <a:schemeClr val="tx2"/>
              </a:solidFill>
              <a:latin typeface="Comic Sans MS" panose="030F0702030302020204" pitchFamily="66" charset="0"/>
              <a:cs typeface="Consolas" panose="020B0609020204030204" pitchFamily="49" charset="0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BD04A89A-1DAC-4E94-A8E1-E90A58E234CE}"/>
              </a:ext>
            </a:extLst>
          </p:cNvPr>
          <p:cNvSpPr txBox="1"/>
          <p:nvPr/>
        </p:nvSpPr>
        <p:spPr>
          <a:xfrm>
            <a:off x="6048224" y="2618406"/>
            <a:ext cx="782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Cambria Math"/>
                <a:ea typeface="Cambria Math"/>
              </a:rPr>
              <a:t>⊕</a:t>
            </a:r>
            <a:r>
              <a:rPr lang="de-DE" sz="2000" b="1" baseline="-25000" dirty="0">
                <a:latin typeface="+mj-lt"/>
                <a:ea typeface="Cambria Math"/>
              </a:rPr>
              <a:t>CD</a:t>
            </a:r>
            <a:endParaRPr lang="de-DE" sz="2800" b="1" baseline="-25000" dirty="0">
              <a:latin typeface="+mj-lt"/>
            </a:endParaRPr>
          </a:p>
        </p:txBody>
      </p:sp>
      <p:cxnSp>
        <p:nvCxnSpPr>
          <p:cNvPr id="49" name="Gerade Verbindung 48">
            <a:extLst>
              <a:ext uri="{FF2B5EF4-FFF2-40B4-BE49-F238E27FC236}">
                <a16:creationId xmlns:a16="http://schemas.microsoft.com/office/drawing/2014/main" id="{ADDF1C75-5D8C-4202-A514-D105E81C7AFC}"/>
              </a:ext>
            </a:extLst>
          </p:cNvPr>
          <p:cNvCxnSpPr>
            <a:cxnSpLocks/>
          </p:cNvCxnSpPr>
          <p:nvPr/>
        </p:nvCxnSpPr>
        <p:spPr>
          <a:xfrm>
            <a:off x="6316553" y="3239909"/>
            <a:ext cx="0" cy="7822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EABBCED0-2098-4791-8977-563176195711}"/>
              </a:ext>
            </a:extLst>
          </p:cNvPr>
          <p:cNvCxnSpPr>
            <a:cxnSpLocks/>
          </p:cNvCxnSpPr>
          <p:nvPr/>
        </p:nvCxnSpPr>
        <p:spPr>
          <a:xfrm>
            <a:off x="6316553" y="2084572"/>
            <a:ext cx="0" cy="46022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utoShape 25">
            <a:extLst>
              <a:ext uri="{FF2B5EF4-FFF2-40B4-BE49-F238E27FC236}">
                <a16:creationId xmlns:a16="http://schemas.microsoft.com/office/drawing/2014/main" id="{2F4724D3-4B40-4A9D-A4AB-1E2AB7E1D01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679683" y="4815430"/>
            <a:ext cx="239928" cy="181241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5F7FA777-F0E2-453F-9C71-8DEBAC94BE67}"/>
              </a:ext>
            </a:extLst>
          </p:cNvPr>
          <p:cNvSpPr/>
          <p:nvPr/>
        </p:nvSpPr>
        <p:spPr>
          <a:xfrm>
            <a:off x="10621884" y="5259691"/>
            <a:ext cx="697627" cy="369332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Error</a:t>
            </a:r>
          </a:p>
        </p:txBody>
      </p:sp>
      <p:cxnSp>
        <p:nvCxnSpPr>
          <p:cNvPr id="55" name="Gerade Verbindung 47">
            <a:extLst>
              <a:ext uri="{FF2B5EF4-FFF2-40B4-BE49-F238E27FC236}">
                <a16:creationId xmlns:a16="http://schemas.microsoft.com/office/drawing/2014/main" id="{46719E7D-7608-4DDC-98B3-88ECD23E4482}"/>
              </a:ext>
            </a:extLst>
          </p:cNvPr>
          <p:cNvCxnSpPr>
            <a:cxnSpLocks/>
          </p:cNvCxnSpPr>
          <p:nvPr/>
        </p:nvCxnSpPr>
        <p:spPr>
          <a:xfrm flipH="1">
            <a:off x="336000" y="4149080"/>
            <a:ext cx="1152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utoShape 40">
            <a:extLst>
              <a:ext uri="{FF2B5EF4-FFF2-40B4-BE49-F238E27FC236}">
                <a16:creationId xmlns:a16="http://schemas.microsoft.com/office/drawing/2014/main" id="{7CF8744A-940E-47B5-90EC-7C1E135B2C0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88578" y="2188096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A</a:t>
            </a:r>
          </a:p>
        </p:txBody>
      </p:sp>
      <p:sp>
        <p:nvSpPr>
          <p:cNvPr id="60" name="AutoShape 40">
            <a:extLst>
              <a:ext uri="{FF2B5EF4-FFF2-40B4-BE49-F238E27FC236}">
                <a16:creationId xmlns:a16="http://schemas.microsoft.com/office/drawing/2014/main" id="{652054FC-D3CA-4406-829E-1C883B0BF8C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55182" y="2188096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B</a:t>
            </a:r>
          </a:p>
        </p:txBody>
      </p:sp>
      <p:sp>
        <p:nvSpPr>
          <p:cNvPr id="61" name="AutoShape 40">
            <a:extLst>
              <a:ext uri="{FF2B5EF4-FFF2-40B4-BE49-F238E27FC236}">
                <a16:creationId xmlns:a16="http://schemas.microsoft.com/office/drawing/2014/main" id="{3652A7B6-E9CC-46FE-963C-AB1BC9A3AFE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82462" y="4293096"/>
            <a:ext cx="609600" cy="304800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eaLnBrk="0" hangingPunct="0">
              <a:lnSpc>
                <a:spcPct val="70000"/>
              </a:lnSpc>
            </a:pPr>
            <a:r>
              <a:rPr lang="en-US" altLang="de-DE" sz="1600" dirty="0"/>
              <a:t>CD C</a:t>
            </a:r>
          </a:p>
        </p:txBody>
      </p:sp>
    </p:spTree>
    <p:extLst>
      <p:ext uri="{BB962C8B-B14F-4D97-AF65-F5344CB8AC3E}">
        <p14:creationId xmlns:p14="http://schemas.microsoft.com/office/powerpoint/2010/main" val="258698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1" grpId="0" animBg="1"/>
      <p:bldP spid="32" grpId="0" animBg="1"/>
      <p:bldP spid="33" grpId="0" animBg="1"/>
      <p:bldP spid="35" grpId="0"/>
      <p:bldP spid="36" grpId="0"/>
      <p:bldP spid="37" grpId="0"/>
      <p:bldP spid="39" grpId="0"/>
      <p:bldP spid="40" grpId="0"/>
      <p:bldP spid="41" grpId="0"/>
      <p:bldP spid="43" grpId="0"/>
      <p:bldP spid="44" grpId="0"/>
      <p:bldP spid="46" grpId="0"/>
      <p:bldP spid="53" grpId="0" animBg="1"/>
      <p:bldP spid="54" grpId="0" animBg="1"/>
      <p:bldP spid="6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485AF64-115D-4589-8A7B-BC71E83DF90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3999" y="1235175"/>
            <a:ext cx="3286981" cy="438545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Ideal: merge is compatible with code generation</a:t>
            </a:r>
          </a:p>
          <a:p>
            <a:pPr lvl="1"/>
            <a:r>
              <a:rPr lang="en-US" dirty="0"/>
              <a:t>i.e. code generation and handwritten code on sub-diagrams can be reused</a:t>
            </a:r>
          </a:p>
          <a:p>
            <a:endParaRPr lang="en-US" dirty="0"/>
          </a:p>
          <a:p>
            <a:r>
              <a:rPr lang="en-US" dirty="0"/>
              <a:t>Modular, incremental generation: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late binding </a:t>
            </a:r>
            <a:r>
              <a:rPr lang="en-US" dirty="0"/>
              <a:t>for handwritten code </a:t>
            </a:r>
          </a:p>
          <a:p>
            <a:pPr lvl="1"/>
            <a:r>
              <a:rPr lang="en-US" dirty="0"/>
              <a:t>reuse of pre-generated/compiled submodules as </a:t>
            </a:r>
            <a:r>
              <a:rPr lang="en-US" dirty="0">
                <a:solidFill>
                  <a:schemeClr val="tx2"/>
                </a:solidFill>
              </a:rPr>
              <a:t>black-box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FA95BA5-89DE-42B0-80AA-43AEE619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Merging and Code Generation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5BC7143-5E21-440E-BA09-F994CA75EAD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540250" y="2734578"/>
            <a:ext cx="1188795" cy="603027"/>
          </a:xfrm>
          <a:prstGeom prst="straightConnector1">
            <a:avLst/>
          </a:prstGeom>
          <a:ln w="12700">
            <a:solidFill>
              <a:schemeClr val="tx2"/>
            </a:solidFill>
            <a:prstDash val="dash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ine Ecke des Rechtecks schneiden 39">
            <a:extLst>
              <a:ext uri="{FF2B5EF4-FFF2-40B4-BE49-F238E27FC236}">
                <a16:creationId xmlns:a16="http://schemas.microsoft.com/office/drawing/2014/main" id="{05996255-0453-4BE0-8B8C-1FB8453E4861}"/>
              </a:ext>
            </a:extLst>
          </p:cNvPr>
          <p:cNvSpPr/>
          <p:nvPr/>
        </p:nvSpPr>
        <p:spPr>
          <a:xfrm>
            <a:off x="3791744" y="2400879"/>
            <a:ext cx="724265" cy="333699"/>
          </a:xfrm>
          <a:prstGeom prst="snip1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CD2</a:t>
            </a:r>
          </a:p>
        </p:txBody>
      </p:sp>
      <p:sp>
        <p:nvSpPr>
          <p:cNvPr id="6" name="Eine Ecke des Rechtecks schneiden 100">
            <a:extLst>
              <a:ext uri="{FF2B5EF4-FFF2-40B4-BE49-F238E27FC236}">
                <a16:creationId xmlns:a16="http://schemas.microsoft.com/office/drawing/2014/main" id="{1BB6DC0F-3706-40C9-A4FE-6F9094F5FAE6}"/>
              </a:ext>
            </a:extLst>
          </p:cNvPr>
          <p:cNvSpPr/>
          <p:nvPr/>
        </p:nvSpPr>
        <p:spPr>
          <a:xfrm>
            <a:off x="4501787" y="4153089"/>
            <a:ext cx="894650" cy="333699"/>
          </a:xfrm>
          <a:prstGeom prst="snip1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/>
                </a:solidFill>
              </a:rPr>
              <a:t>CD M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EA46E0BA-E834-4202-AC7E-96C00E50427A}"/>
              </a:ext>
            </a:extLst>
          </p:cNvPr>
          <p:cNvCxnSpPr/>
          <p:nvPr/>
        </p:nvCxnSpPr>
        <p:spPr>
          <a:xfrm>
            <a:off x="5540453" y="4419054"/>
            <a:ext cx="70269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2888095E-8A4D-4D52-A19A-ADD96AC3DA11}"/>
              </a:ext>
            </a:extLst>
          </p:cNvPr>
          <p:cNvSpPr/>
          <p:nvPr/>
        </p:nvSpPr>
        <p:spPr bwMode="auto">
          <a:xfrm>
            <a:off x="6300528" y="2216810"/>
            <a:ext cx="774796" cy="2818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rtlCol="0" anchor="ctr"/>
          <a:lstStyle/>
          <a:p>
            <a:pPr algn="ctr"/>
            <a:r>
              <a:rPr lang="de-DE" sz="1600" dirty="0"/>
              <a:t>Java </a:t>
            </a:r>
            <a:endParaRPr lang="en-US" sz="160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830DD09-689B-4C44-BA29-4DA7335DDC11}"/>
              </a:ext>
            </a:extLst>
          </p:cNvPr>
          <p:cNvSpPr/>
          <p:nvPr/>
        </p:nvSpPr>
        <p:spPr bwMode="auto">
          <a:xfrm>
            <a:off x="6300528" y="2498654"/>
            <a:ext cx="1090973" cy="307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rtlCol="0" anchor="ctr"/>
          <a:lstStyle/>
          <a:p>
            <a:r>
              <a:rPr lang="en-US" sz="1600" dirty="0"/>
              <a:t>data2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420D639-0293-4A2D-97E3-4B55DEA59ECD}"/>
              </a:ext>
            </a:extLst>
          </p:cNvPr>
          <p:cNvSpPr/>
          <p:nvPr/>
        </p:nvSpPr>
        <p:spPr>
          <a:xfrm>
            <a:off x="7018147" y="2190876"/>
            <a:ext cx="7008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de-DE" altLang="de-DE" sz="1400" b="1" noProof="1">
                <a:solidFill>
                  <a:srgbClr val="000000"/>
                </a:solidFill>
              </a:rPr>
              <a:t>«gen»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D5F4F56-7AF9-49A4-B72A-75AE3F0AA0FB}"/>
              </a:ext>
            </a:extLst>
          </p:cNvPr>
          <p:cNvSpPr/>
          <p:nvPr/>
        </p:nvSpPr>
        <p:spPr bwMode="auto">
          <a:xfrm>
            <a:off x="5729045" y="3196683"/>
            <a:ext cx="774796" cy="28184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rtlCol="0" anchor="ctr"/>
          <a:lstStyle/>
          <a:p>
            <a:pPr algn="ctr"/>
            <a:r>
              <a:rPr lang="de-DE" sz="1600" dirty="0"/>
              <a:t>Java</a:t>
            </a:r>
            <a:endParaRPr lang="en-US" sz="16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A547C8B-A07E-4A16-B81E-A32DD2842189}"/>
              </a:ext>
            </a:extLst>
          </p:cNvPr>
          <p:cNvSpPr/>
          <p:nvPr/>
        </p:nvSpPr>
        <p:spPr bwMode="auto">
          <a:xfrm>
            <a:off x="5729045" y="3478526"/>
            <a:ext cx="1334533" cy="335292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rtlCol="0" anchor="ctr"/>
          <a:lstStyle/>
          <a:p>
            <a:r>
              <a:rPr lang="en-US" sz="1600" dirty="0"/>
              <a:t>extensions2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DC8F22B-0A4C-41FE-8A2E-3D204DB15CA7}"/>
              </a:ext>
            </a:extLst>
          </p:cNvPr>
          <p:cNvSpPr/>
          <p:nvPr/>
        </p:nvSpPr>
        <p:spPr>
          <a:xfrm>
            <a:off x="6472611" y="3170749"/>
            <a:ext cx="5918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de-DE" sz="1400" b="1" noProof="1">
                <a:solidFill>
                  <a:schemeClr val="tx2"/>
                </a:solidFill>
              </a:rPr>
              <a:t>«hc»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233A648-C23D-48C4-8F25-0CB17B5783B4}"/>
              </a:ext>
            </a:extLst>
          </p:cNvPr>
          <p:cNvSpPr/>
          <p:nvPr/>
        </p:nvSpPr>
        <p:spPr bwMode="auto">
          <a:xfrm>
            <a:off x="6327960" y="4042902"/>
            <a:ext cx="774796" cy="28184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2"/>
            </a:solidFill>
            <a:round/>
            <a:headEnd/>
            <a:tailEnd type="arrow" w="med" len="med"/>
          </a:ln>
        </p:spPr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/>
                </a:solidFill>
              </a:rPr>
              <a:t>Java 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0A4221D-E003-4793-9F26-565D6FB83544}"/>
              </a:ext>
            </a:extLst>
          </p:cNvPr>
          <p:cNvSpPr/>
          <p:nvPr/>
        </p:nvSpPr>
        <p:spPr bwMode="auto">
          <a:xfrm>
            <a:off x="6327960" y="4324746"/>
            <a:ext cx="1090973" cy="30777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2"/>
            </a:solidFill>
            <a:round/>
            <a:headEnd/>
            <a:tailEnd type="arrow" w="med" len="med"/>
          </a:ln>
        </p:spPr>
        <p:txBody>
          <a:bodyPr rtlCol="0" anchor="ctr"/>
          <a:lstStyle/>
          <a:p>
            <a:r>
              <a:rPr lang="en-US" sz="1600" dirty="0">
                <a:solidFill>
                  <a:schemeClr val="tx2"/>
                </a:solidFill>
              </a:rPr>
              <a:t>data M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993FB18-0EDC-4DD2-BBEC-052799D40FF4}"/>
              </a:ext>
            </a:extLst>
          </p:cNvPr>
          <p:cNvSpPr/>
          <p:nvPr/>
        </p:nvSpPr>
        <p:spPr>
          <a:xfrm>
            <a:off x="7045579" y="4016968"/>
            <a:ext cx="7008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de-DE" altLang="de-DE" sz="1400" b="1" noProof="1">
                <a:solidFill>
                  <a:srgbClr val="000000"/>
                </a:solidFill>
              </a:rPr>
              <a:t>«gen»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3FC9DC4-2945-4F71-9511-3C87159DB840}"/>
              </a:ext>
            </a:extLst>
          </p:cNvPr>
          <p:cNvCxnSpPr/>
          <p:nvPr/>
        </p:nvCxnSpPr>
        <p:spPr>
          <a:xfrm>
            <a:off x="7467249" y="2633391"/>
            <a:ext cx="9981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F5D9ECE-68E7-4ABD-B287-77115B8FF296}"/>
              </a:ext>
            </a:extLst>
          </p:cNvPr>
          <p:cNvCxnSpPr/>
          <p:nvPr/>
        </p:nvCxnSpPr>
        <p:spPr>
          <a:xfrm>
            <a:off x="7097198" y="3642114"/>
            <a:ext cx="1383983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7FE43BCB-1A99-4083-BDB5-C754031F6355}"/>
              </a:ext>
            </a:extLst>
          </p:cNvPr>
          <p:cNvCxnSpPr/>
          <p:nvPr/>
        </p:nvCxnSpPr>
        <p:spPr>
          <a:xfrm>
            <a:off x="7494679" y="4459483"/>
            <a:ext cx="9981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39CB3725-E1E0-47C9-8B79-2E1F85C5EABA}"/>
              </a:ext>
            </a:extLst>
          </p:cNvPr>
          <p:cNvSpPr/>
          <p:nvPr/>
        </p:nvSpPr>
        <p:spPr>
          <a:xfrm>
            <a:off x="4732673" y="3170749"/>
            <a:ext cx="420308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</a:t>
            </a:r>
            <a:endParaRPr lang="en-US" sz="2400" b="1" dirty="0">
              <a:solidFill>
                <a:schemeClr val="tx2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Freihandform 13">
            <a:extLst>
              <a:ext uri="{FF2B5EF4-FFF2-40B4-BE49-F238E27FC236}">
                <a16:creationId xmlns:a16="http://schemas.microsoft.com/office/drawing/2014/main" id="{EC8FF1FE-7AA7-4E1C-8E3F-B17CEAE03C85}"/>
              </a:ext>
            </a:extLst>
          </p:cNvPr>
          <p:cNvSpPr/>
          <p:nvPr/>
        </p:nvSpPr>
        <p:spPr>
          <a:xfrm>
            <a:off x="4610214" y="1953120"/>
            <a:ext cx="394082" cy="1311287"/>
          </a:xfrm>
          <a:custGeom>
            <a:avLst/>
            <a:gdLst>
              <a:gd name="connsiteX0" fmla="*/ 0 w 693172"/>
              <a:gd name="connsiteY0" fmla="*/ 0 h 1899138"/>
              <a:gd name="connsiteX1" fmla="*/ 643095 w 693172"/>
              <a:gd name="connsiteY1" fmla="*/ 1195754 h 1899138"/>
              <a:gd name="connsiteX2" fmla="*/ 602902 w 693172"/>
              <a:gd name="connsiteY2" fmla="*/ 1899138 h 1899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3172" h="1899138">
                <a:moveTo>
                  <a:pt x="0" y="0"/>
                </a:moveTo>
                <a:cubicBezTo>
                  <a:pt x="271305" y="439615"/>
                  <a:pt x="542611" y="879231"/>
                  <a:pt x="643095" y="1195754"/>
                </a:cubicBezTo>
                <a:cubicBezTo>
                  <a:pt x="743579" y="1512277"/>
                  <a:pt x="673240" y="1705707"/>
                  <a:pt x="602902" y="1899138"/>
                </a:cubicBez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ihandform 14">
            <a:extLst>
              <a:ext uri="{FF2B5EF4-FFF2-40B4-BE49-F238E27FC236}">
                <a16:creationId xmlns:a16="http://schemas.microsoft.com/office/drawing/2014/main" id="{47581CD5-B45B-4E72-98B2-818FCECA0F10}"/>
              </a:ext>
            </a:extLst>
          </p:cNvPr>
          <p:cNvSpPr/>
          <p:nvPr/>
        </p:nvSpPr>
        <p:spPr>
          <a:xfrm>
            <a:off x="4450914" y="2794727"/>
            <a:ext cx="452476" cy="475824"/>
          </a:xfrm>
          <a:custGeom>
            <a:avLst/>
            <a:gdLst>
              <a:gd name="connsiteX0" fmla="*/ 0 w 492370"/>
              <a:gd name="connsiteY0" fmla="*/ 0 h 361740"/>
              <a:gd name="connsiteX1" fmla="*/ 351693 w 492370"/>
              <a:gd name="connsiteY1" fmla="*/ 200967 h 361740"/>
              <a:gd name="connsiteX2" fmla="*/ 492370 w 492370"/>
              <a:gd name="connsiteY2" fmla="*/ 361740 h 36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2370" h="361740">
                <a:moveTo>
                  <a:pt x="0" y="0"/>
                </a:moveTo>
                <a:cubicBezTo>
                  <a:pt x="134815" y="70338"/>
                  <a:pt x="269631" y="140677"/>
                  <a:pt x="351693" y="200967"/>
                </a:cubicBezTo>
                <a:cubicBezTo>
                  <a:pt x="433755" y="261257"/>
                  <a:pt x="463062" y="311498"/>
                  <a:pt x="492370" y="361740"/>
                </a:cubicBez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CE14163-EE75-442E-B9F2-32681D05871B}"/>
              </a:ext>
            </a:extLst>
          </p:cNvPr>
          <p:cNvCxnSpPr>
            <a:cxnSpLocks/>
            <a:stCxn id="20" idx="2"/>
            <a:endCxn id="6" idx="3"/>
          </p:cNvCxnSpPr>
          <p:nvPr/>
        </p:nvCxnSpPr>
        <p:spPr>
          <a:xfrm>
            <a:off x="4942827" y="3632414"/>
            <a:ext cx="6285" cy="52067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ine Ecke des Rechtecks schneiden 121">
            <a:extLst>
              <a:ext uri="{FF2B5EF4-FFF2-40B4-BE49-F238E27FC236}">
                <a16:creationId xmlns:a16="http://schemas.microsoft.com/office/drawing/2014/main" id="{0EED47D6-B419-4C65-97A3-E9A111F3A76F}"/>
              </a:ext>
            </a:extLst>
          </p:cNvPr>
          <p:cNvSpPr/>
          <p:nvPr/>
        </p:nvSpPr>
        <p:spPr>
          <a:xfrm>
            <a:off x="8493294" y="2469589"/>
            <a:ext cx="1188795" cy="333699"/>
          </a:xfrm>
          <a:prstGeom prst="snip1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classes2</a:t>
            </a:r>
          </a:p>
        </p:txBody>
      </p:sp>
      <p:sp>
        <p:nvSpPr>
          <p:cNvPr id="25" name="Eine Ecke des Rechtecks schneiden 123">
            <a:extLst>
              <a:ext uri="{FF2B5EF4-FFF2-40B4-BE49-F238E27FC236}">
                <a16:creationId xmlns:a16="http://schemas.microsoft.com/office/drawing/2014/main" id="{0AC1253F-C835-4E26-AA70-E838A127E9BD}"/>
              </a:ext>
            </a:extLst>
          </p:cNvPr>
          <p:cNvSpPr/>
          <p:nvPr/>
        </p:nvSpPr>
        <p:spPr>
          <a:xfrm>
            <a:off x="8493294" y="3465564"/>
            <a:ext cx="1188795" cy="333699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ext.2</a:t>
            </a:r>
          </a:p>
        </p:txBody>
      </p:sp>
      <p:sp>
        <p:nvSpPr>
          <p:cNvPr id="26" name="Eine Ecke des Rechtecks schneiden 124">
            <a:extLst>
              <a:ext uri="{FF2B5EF4-FFF2-40B4-BE49-F238E27FC236}">
                <a16:creationId xmlns:a16="http://schemas.microsoft.com/office/drawing/2014/main" id="{7D5A38CD-7841-40D3-BA92-1FC73C206461}"/>
              </a:ext>
            </a:extLst>
          </p:cNvPr>
          <p:cNvSpPr/>
          <p:nvPr/>
        </p:nvSpPr>
        <p:spPr>
          <a:xfrm>
            <a:off x="8520726" y="4305883"/>
            <a:ext cx="1188795" cy="333699"/>
          </a:xfrm>
          <a:prstGeom prst="snip1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2"/>
                </a:solidFill>
              </a:rPr>
              <a:t>classesM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27" name="Eine Ecke des Rechtecks schneiden 125">
            <a:extLst>
              <a:ext uri="{FF2B5EF4-FFF2-40B4-BE49-F238E27FC236}">
                <a16:creationId xmlns:a16="http://schemas.microsoft.com/office/drawing/2014/main" id="{C9AB0832-9F24-4A65-A1AD-64C127958ED3}"/>
              </a:ext>
            </a:extLst>
          </p:cNvPr>
          <p:cNvSpPr/>
          <p:nvPr/>
        </p:nvSpPr>
        <p:spPr>
          <a:xfrm>
            <a:off x="10574130" y="2440777"/>
            <a:ext cx="1203091" cy="333699"/>
          </a:xfrm>
          <a:prstGeom prst="snip1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/>
              <a:t>Module 2</a:t>
            </a:r>
          </a:p>
        </p:txBody>
      </p:sp>
      <p:sp>
        <p:nvSpPr>
          <p:cNvPr id="28" name="Eine Ecke des Rechtecks schneiden 126">
            <a:extLst>
              <a:ext uri="{FF2B5EF4-FFF2-40B4-BE49-F238E27FC236}">
                <a16:creationId xmlns:a16="http://schemas.microsoft.com/office/drawing/2014/main" id="{5F7D69AA-7082-40F7-B605-7D88C31FC93F}"/>
              </a:ext>
            </a:extLst>
          </p:cNvPr>
          <p:cNvSpPr/>
          <p:nvPr/>
        </p:nvSpPr>
        <p:spPr>
          <a:xfrm>
            <a:off x="10601562" y="4301874"/>
            <a:ext cx="1203091" cy="333699"/>
          </a:xfrm>
          <a:prstGeom prst="snip1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/>
                </a:solidFill>
              </a:rPr>
              <a:t>System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28B8042C-55A4-42CB-BB8A-04410F7DB081}"/>
              </a:ext>
            </a:extLst>
          </p:cNvPr>
          <p:cNvGrpSpPr/>
          <p:nvPr/>
        </p:nvGrpSpPr>
        <p:grpSpPr>
          <a:xfrm>
            <a:off x="5763756" y="4639582"/>
            <a:ext cx="4845085" cy="811687"/>
            <a:chOff x="2987824" y="3586572"/>
            <a:chExt cx="4845085" cy="811687"/>
          </a:xfrm>
        </p:grpSpPr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153E839F-8DCB-425F-9539-883B09085CE9}"/>
                </a:ext>
              </a:extLst>
            </p:cNvPr>
            <p:cNvCxnSpPr/>
            <p:nvPr/>
          </p:nvCxnSpPr>
          <p:spPr>
            <a:xfrm>
              <a:off x="4355976" y="4221088"/>
              <a:ext cx="138398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98686851-A0FF-460F-88F4-062F5A3D2861}"/>
                </a:ext>
              </a:extLst>
            </p:cNvPr>
            <p:cNvGrpSpPr/>
            <p:nvPr/>
          </p:nvGrpSpPr>
          <p:grpSpPr>
            <a:xfrm>
              <a:off x="2987824" y="3586572"/>
              <a:ext cx="4845085" cy="811687"/>
              <a:chOff x="2987824" y="3586572"/>
              <a:chExt cx="4845085" cy="811687"/>
            </a:xfrm>
          </p:grpSpPr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3702A470-1A0A-4FAA-A2C9-7C781F03949C}"/>
                  </a:ext>
                </a:extLst>
              </p:cNvPr>
              <p:cNvSpPr/>
              <p:nvPr/>
            </p:nvSpPr>
            <p:spPr bwMode="auto">
              <a:xfrm>
                <a:off x="2987824" y="3775657"/>
                <a:ext cx="774796" cy="28184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2"/>
                    </a:solidFill>
                  </a:rPr>
                  <a:t>Java</a:t>
                </a:r>
                <a:endParaRPr lang="en-US" sz="16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191C48E9-43F8-4EC3-BAF4-5EC673DC933E}"/>
                  </a:ext>
                </a:extLst>
              </p:cNvPr>
              <p:cNvSpPr/>
              <p:nvPr/>
            </p:nvSpPr>
            <p:spPr bwMode="auto">
              <a:xfrm>
                <a:off x="2987824" y="4057500"/>
                <a:ext cx="1334533" cy="3352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 rtlCol="0" anchor="ctr"/>
              <a:lstStyle/>
              <a:p>
                <a:r>
                  <a:rPr lang="en-US" sz="1600" dirty="0" err="1">
                    <a:solidFill>
                      <a:schemeClr val="tx2"/>
                    </a:solidFill>
                  </a:rPr>
                  <a:t>extensionsM</a:t>
                </a:r>
                <a:endParaRPr lang="en-US" sz="16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66D58D31-B853-4184-A958-611621683563}"/>
                  </a:ext>
                </a:extLst>
              </p:cNvPr>
              <p:cNvSpPr/>
              <p:nvPr/>
            </p:nvSpPr>
            <p:spPr>
              <a:xfrm>
                <a:off x="3731390" y="3749723"/>
                <a:ext cx="59182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de-DE" sz="1400" b="1" noProof="1">
                    <a:solidFill>
                      <a:schemeClr val="tx2"/>
                    </a:solidFill>
                  </a:rPr>
                  <a:t>«hc»</a:t>
                </a:r>
              </a:p>
            </p:txBody>
          </p:sp>
          <p:sp>
            <p:nvSpPr>
              <p:cNvPr id="35" name="Eine Ecke des Rechtecks schneiden 122">
                <a:extLst>
                  <a:ext uri="{FF2B5EF4-FFF2-40B4-BE49-F238E27FC236}">
                    <a16:creationId xmlns:a16="http://schemas.microsoft.com/office/drawing/2014/main" id="{7FD1781B-37E2-4F54-B9E8-CCE2EF75E3CB}"/>
                  </a:ext>
                </a:extLst>
              </p:cNvPr>
              <p:cNvSpPr/>
              <p:nvPr/>
            </p:nvSpPr>
            <p:spPr>
              <a:xfrm>
                <a:off x="5752073" y="4064560"/>
                <a:ext cx="1188795" cy="333699"/>
              </a:xfrm>
              <a:prstGeom prst="snip1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2"/>
                    </a:solidFill>
                  </a:rPr>
                  <a:t>ext.M</a:t>
                </a:r>
                <a:endParaRPr lang="en-US" dirty="0">
                  <a:solidFill>
                    <a:schemeClr val="tx2"/>
                  </a:solidFill>
                </a:endParaRPr>
              </a:p>
            </p:txBody>
          </p:sp>
          <p:cxnSp>
            <p:nvCxnSpPr>
              <p:cNvPr id="36" name="Gerade Verbindung mit Pfeil 35">
                <a:extLst>
                  <a:ext uri="{FF2B5EF4-FFF2-40B4-BE49-F238E27FC236}">
                    <a16:creationId xmlns:a16="http://schemas.microsoft.com/office/drawing/2014/main" id="{2D832F69-76DF-461E-B325-374992A4B7EE}"/>
                  </a:ext>
                </a:extLst>
              </p:cNvPr>
              <p:cNvCxnSpPr/>
              <p:nvPr/>
            </p:nvCxnSpPr>
            <p:spPr>
              <a:xfrm flipV="1">
                <a:off x="6940868" y="3586572"/>
                <a:ext cx="892041" cy="634516"/>
              </a:xfrm>
              <a:prstGeom prst="straightConnector1">
                <a:avLst/>
              </a:prstGeom>
              <a:ln w="12700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8B64EF15-4566-46B3-9A7E-28E84FC1F087}"/>
              </a:ext>
            </a:extLst>
          </p:cNvPr>
          <p:cNvGrpSpPr/>
          <p:nvPr/>
        </p:nvGrpSpPr>
        <p:grpSpPr>
          <a:xfrm>
            <a:off x="3791744" y="1406731"/>
            <a:ext cx="7985477" cy="693751"/>
            <a:chOff x="1050523" y="2971018"/>
            <a:chExt cx="7985477" cy="693751"/>
          </a:xfrm>
        </p:grpSpPr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E9F44675-674C-4F16-B063-FA38D0AEC22F}"/>
                </a:ext>
              </a:extLst>
            </p:cNvPr>
            <p:cNvCxnSpPr/>
            <p:nvPr/>
          </p:nvCxnSpPr>
          <p:spPr>
            <a:xfrm>
              <a:off x="1835696" y="3373104"/>
              <a:ext cx="170123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E7E7944F-366B-4BE4-AD8B-A683F912D329}"/>
                </a:ext>
              </a:extLst>
            </p:cNvPr>
            <p:cNvSpPr/>
            <p:nvPr/>
          </p:nvSpPr>
          <p:spPr>
            <a:xfrm>
              <a:off x="1924996" y="3085579"/>
              <a:ext cx="53251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e-DE" sz="1400" dirty="0"/>
                <a:t>gen.</a:t>
              </a:r>
              <a:endParaRPr lang="en-US" sz="1400" dirty="0"/>
            </a:p>
          </p:txBody>
        </p:sp>
        <p:sp>
          <p:nvSpPr>
            <p:cNvPr id="40" name="Eine Ecke des Rechtecks schneiden 84">
              <a:extLst>
                <a:ext uri="{FF2B5EF4-FFF2-40B4-BE49-F238E27FC236}">
                  <a16:creationId xmlns:a16="http://schemas.microsoft.com/office/drawing/2014/main" id="{B1BADF31-F457-44EA-AFED-86F52D8E8A16}"/>
                </a:ext>
              </a:extLst>
            </p:cNvPr>
            <p:cNvSpPr/>
            <p:nvPr/>
          </p:nvSpPr>
          <p:spPr>
            <a:xfrm>
              <a:off x="1050523" y="3181021"/>
              <a:ext cx="724265" cy="333699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CD1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00235080-6B73-4360-A275-84D2AA78714E}"/>
                </a:ext>
              </a:extLst>
            </p:cNvPr>
            <p:cNvSpPr/>
            <p:nvPr/>
          </p:nvSpPr>
          <p:spPr bwMode="auto">
            <a:xfrm>
              <a:off x="3559307" y="2996952"/>
              <a:ext cx="774796" cy="2818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rtlCol="0" anchor="ctr"/>
            <a:lstStyle/>
            <a:p>
              <a:pPr algn="ctr"/>
              <a:r>
                <a:rPr lang="de-DE" sz="1600" dirty="0"/>
                <a:t>Java </a:t>
              </a:r>
              <a:endParaRPr lang="en-US" sz="1600" dirty="0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18E79348-1239-45EE-A46B-FE820CFBB3E3}"/>
                </a:ext>
              </a:extLst>
            </p:cNvPr>
            <p:cNvSpPr/>
            <p:nvPr/>
          </p:nvSpPr>
          <p:spPr bwMode="auto">
            <a:xfrm>
              <a:off x="3559307" y="3278796"/>
              <a:ext cx="1090973" cy="3077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rtlCol="0" anchor="ctr"/>
            <a:lstStyle/>
            <a:p>
              <a:r>
                <a:rPr lang="en-US" sz="1600" dirty="0"/>
                <a:t>data1 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A4D0BA09-0F9D-41D6-A4E1-AAF6EEF3A67B}"/>
                </a:ext>
              </a:extLst>
            </p:cNvPr>
            <p:cNvSpPr/>
            <p:nvPr/>
          </p:nvSpPr>
          <p:spPr>
            <a:xfrm>
              <a:off x="4276926" y="2971018"/>
              <a:ext cx="70083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de-DE" altLang="de-DE" sz="1400" b="1" noProof="1">
                  <a:solidFill>
                    <a:srgbClr val="000000"/>
                  </a:solidFill>
                </a:rPr>
                <a:t>«gen»</a:t>
              </a: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0A6519A9-20A8-47FE-AC7A-CD1D315C5113}"/>
                </a:ext>
              </a:extLst>
            </p:cNvPr>
            <p:cNvSpPr/>
            <p:nvPr/>
          </p:nvSpPr>
          <p:spPr>
            <a:xfrm>
              <a:off x="4852753" y="3356992"/>
              <a:ext cx="80182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1400" dirty="0" err="1"/>
                <a:t>compile</a:t>
              </a:r>
              <a:endParaRPr lang="en-US" sz="1400" dirty="0"/>
            </a:p>
          </p:txBody>
        </p: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46F89226-972F-4F79-982C-91BEBFC66F03}"/>
                </a:ext>
              </a:extLst>
            </p:cNvPr>
            <p:cNvCxnSpPr/>
            <p:nvPr/>
          </p:nvCxnSpPr>
          <p:spPr>
            <a:xfrm>
              <a:off x="4726027" y="3413533"/>
              <a:ext cx="9981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Eine Ecke des Rechtecks schneiden 120">
              <a:extLst>
                <a:ext uri="{FF2B5EF4-FFF2-40B4-BE49-F238E27FC236}">
                  <a16:creationId xmlns:a16="http://schemas.microsoft.com/office/drawing/2014/main" id="{DF1A5AA5-BBEF-4B02-B3E3-B67C705A8636}"/>
                </a:ext>
              </a:extLst>
            </p:cNvPr>
            <p:cNvSpPr/>
            <p:nvPr/>
          </p:nvSpPr>
          <p:spPr>
            <a:xfrm>
              <a:off x="5752073" y="3226506"/>
              <a:ext cx="1188795" cy="333699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classes1</a:t>
              </a:r>
            </a:p>
          </p:txBody>
        </p:sp>
        <p:sp>
          <p:nvSpPr>
            <p:cNvPr id="47" name="Eine Ecke des Rechtecks schneiden 127">
              <a:extLst>
                <a:ext uri="{FF2B5EF4-FFF2-40B4-BE49-F238E27FC236}">
                  <a16:creationId xmlns:a16="http://schemas.microsoft.com/office/drawing/2014/main" id="{B02D9D4A-3290-4D82-A679-478B55C4D844}"/>
                </a:ext>
              </a:extLst>
            </p:cNvPr>
            <p:cNvSpPr/>
            <p:nvPr/>
          </p:nvSpPr>
          <p:spPr>
            <a:xfrm>
              <a:off x="7832909" y="3284984"/>
              <a:ext cx="1203091" cy="333699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Module 1</a:t>
              </a:r>
            </a:p>
          </p:txBody>
        </p: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DFEB4A03-CE46-475D-B703-DED241CBFB21}"/>
                </a:ext>
              </a:extLst>
            </p:cNvPr>
            <p:cNvCxnSpPr/>
            <p:nvPr/>
          </p:nvCxnSpPr>
          <p:spPr>
            <a:xfrm>
              <a:off x="6940868" y="3354405"/>
              <a:ext cx="89932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3DB8DBA-287F-413E-8289-C91532F9C0B5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9682089" y="2774475"/>
            <a:ext cx="912194" cy="85793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F651D5A6-A86E-4DFE-8387-E49CCF130FD8}"/>
              </a:ext>
            </a:extLst>
          </p:cNvPr>
          <p:cNvCxnSpPr/>
          <p:nvPr/>
        </p:nvCxnSpPr>
        <p:spPr>
          <a:xfrm>
            <a:off x="9709521" y="4495566"/>
            <a:ext cx="899320" cy="0"/>
          </a:xfrm>
          <a:prstGeom prst="straightConnector1">
            <a:avLst/>
          </a:prstGeom>
          <a:ln w="127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FF0ED46F-FBF9-4C05-9BF7-D58D0A475089}"/>
              </a:ext>
            </a:extLst>
          </p:cNvPr>
          <p:cNvCxnSpPr>
            <a:cxnSpLocks/>
          </p:cNvCxnSpPr>
          <p:nvPr/>
        </p:nvCxnSpPr>
        <p:spPr>
          <a:xfrm>
            <a:off x="9680596" y="3791171"/>
            <a:ext cx="913687" cy="553730"/>
          </a:xfrm>
          <a:prstGeom prst="straightConnector1">
            <a:avLst/>
          </a:prstGeom>
          <a:ln w="127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CB62A856-64A2-404E-92B7-7A5B640EA632}"/>
              </a:ext>
            </a:extLst>
          </p:cNvPr>
          <p:cNvCxnSpPr/>
          <p:nvPr/>
        </p:nvCxnSpPr>
        <p:spPr>
          <a:xfrm>
            <a:off x="9682089" y="2510198"/>
            <a:ext cx="89932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hteck 52">
            <a:extLst>
              <a:ext uri="{FF2B5EF4-FFF2-40B4-BE49-F238E27FC236}">
                <a16:creationId xmlns:a16="http://schemas.microsoft.com/office/drawing/2014/main" id="{CD8E3FBD-E240-460A-950A-C7CDC2D8EA08}"/>
              </a:ext>
            </a:extLst>
          </p:cNvPr>
          <p:cNvSpPr/>
          <p:nvPr/>
        </p:nvSpPr>
        <p:spPr>
          <a:xfrm>
            <a:off x="9699255" y="1430078"/>
            <a:ext cx="841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/>
              <a:t>bind/link</a:t>
            </a:r>
            <a:endParaRPr lang="en-US" sz="1400" dirty="0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3D49FC4D-DC95-4405-BAF5-A955522C35EA}"/>
              </a:ext>
            </a:extLst>
          </p:cNvPr>
          <p:cNvSpPr/>
          <p:nvPr/>
        </p:nvSpPr>
        <p:spPr>
          <a:xfrm>
            <a:off x="3912640" y="3252467"/>
            <a:ext cx="9283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compose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A268F911-3C57-4A81-A12D-F58CA4086938}"/>
              </a:ext>
            </a:extLst>
          </p:cNvPr>
          <p:cNvCxnSpPr/>
          <p:nvPr/>
        </p:nvCxnSpPr>
        <p:spPr>
          <a:xfrm>
            <a:off x="4576917" y="2510198"/>
            <a:ext cx="1701233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35344B4C-E32B-4369-9EA5-8FC30BE5C8B1}"/>
              </a:ext>
            </a:extLst>
          </p:cNvPr>
          <p:cNvSpPr/>
          <p:nvPr/>
        </p:nvSpPr>
        <p:spPr>
          <a:xfrm>
            <a:off x="5133897" y="2786336"/>
            <a:ext cx="1149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depends on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E20F1CA-F049-4ADA-B277-FEA30D37757E}"/>
              </a:ext>
            </a:extLst>
          </p:cNvPr>
          <p:cNvSpPr/>
          <p:nvPr/>
        </p:nvSpPr>
        <p:spPr>
          <a:xfrm>
            <a:off x="4355189" y="4734664"/>
            <a:ext cx="1149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depends on</a:t>
            </a:r>
            <a:endParaRPr lang="en-US" sz="1400" dirty="0">
              <a:solidFill>
                <a:schemeClr val="tx2"/>
              </a:solidFill>
            </a:endParaRP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93DC588F-A031-4F1E-83ED-D111BB6D057D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5311510" y="4512722"/>
            <a:ext cx="452246" cy="456867"/>
          </a:xfrm>
          <a:prstGeom prst="straightConnector1">
            <a:avLst/>
          </a:prstGeom>
          <a:ln w="12700">
            <a:solidFill>
              <a:schemeClr val="tx2"/>
            </a:solidFill>
            <a:prstDash val="dash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33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9AA9B72-B81E-4670-A1C0-F77733E308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4000" y="1236273"/>
            <a:ext cx="11483999" cy="4385455"/>
          </a:xfrm>
        </p:spPr>
        <p:txBody>
          <a:bodyPr/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Goal: </a:t>
            </a:r>
            <a:r>
              <a:rPr lang="en-US" dirty="0">
                <a:solidFill>
                  <a:schemeClr val="tx2"/>
                </a:solidFill>
              </a:rPr>
              <a:t>Divide and Conquer</a:t>
            </a:r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Apply this principle to data models by developing a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merge operator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for CDs.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Result: </a:t>
            </a:r>
            <a:r>
              <a:rPr lang="en-US" dirty="0" err="1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CDMerge</a:t>
            </a:r>
            <a:endParaRPr lang="en-US" dirty="0">
              <a:solidFill>
                <a:schemeClr val="tx2"/>
              </a:solidFill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semantically sound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merging of CDs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integrated into </a:t>
            </a:r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cd4analysis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(</a:t>
            </a:r>
            <a:r>
              <a:rPr lang="en-US" dirty="0">
                <a:latin typeface="+mj-lt"/>
                <a:cs typeface="Courier New" panose="02070309020205020404" pitchFamily="49" charset="0"/>
                <a:hlinkClick r:id="rId3" action="ppaction://hlinkfile"/>
              </a:rPr>
              <a:t>github.com/</a:t>
            </a:r>
            <a:r>
              <a:rPr lang="en-US" dirty="0" err="1">
                <a:latin typeface="+mj-lt"/>
                <a:cs typeface="Courier New" panose="02070309020205020404" pitchFamily="49" charset="0"/>
                <a:hlinkClick r:id="rId3" action="ppaction://hlinkfile"/>
              </a:rPr>
              <a:t>MontiCore</a:t>
            </a:r>
            <a:r>
              <a:rPr lang="en-US" dirty="0">
                <a:latin typeface="+mj-lt"/>
                <a:cs typeface="Courier New" panose="02070309020205020404" pitchFamily="49" charset="0"/>
                <a:hlinkClick r:id="rId3" action="ppaction://hlinkfile"/>
              </a:rPr>
              <a:t>/cd4analysis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Case study: </a:t>
            </a:r>
            <a:r>
              <a:rPr lang="en-US" dirty="0" err="1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MaCoCo</a:t>
            </a:r>
            <a:endParaRPr lang="en-US" dirty="0">
              <a:solidFill>
                <a:schemeClr val="tx2"/>
              </a:solidFill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large CD for university information system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decomposition by hand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into 4 component-CDs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+mj-lt"/>
                <a:cs typeface="Courier New" panose="02070309020205020404" pitchFamily="49" charset="0"/>
              </a:rPr>
              <a:t>automatic merge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by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CDMerge</a:t>
            </a:r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Next Step: Merging and Code Generation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modular, incremental generation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component integration</a:t>
            </a: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pPr marL="216000" lvl="1" indent="0">
              <a:buNone/>
            </a:pPr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418FFFC-9126-4BE2-B6C2-23B4D25E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1830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SE">
  <a:themeElements>
    <a:clrScheme name="Editirmodus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339933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  <a:headEnd type="none" w="med" len="med"/>
          <a:tailEnd type="arrow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itir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339933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Anzeige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C0C0C0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Druck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FFFFFF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</a:extraClrSchemeLst>
  <a:extLst>
    <a:ext uri="{05A4C25C-085E-4340-85A3-A5531E510DB2}">
      <thm15:themeFamily xmlns:thm15="http://schemas.microsoft.com/office/thememl/2012/main" name="DesignSE" id="{EAFC8903-E4B1-467C-960D-91660CE78A0A}" vid="{99D41127-BE3F-4F81-BB33-06BFE3C930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1379</Words>
  <Application>Microsoft Office PowerPoint</Application>
  <PresentationFormat>Breitbild</PresentationFormat>
  <Paragraphs>508</Paragraphs>
  <Slides>20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 Math</vt:lpstr>
      <vt:lpstr>Comic Sans MS</vt:lpstr>
      <vt:lpstr>Courier New</vt:lpstr>
      <vt:lpstr>Symbol</vt:lpstr>
      <vt:lpstr>Wingdings</vt:lpstr>
      <vt:lpstr>DesignSE</vt:lpstr>
      <vt:lpstr>CDMerge: Semantically Sound Merging of Class Diagrams for Software Component Integration</vt:lpstr>
      <vt:lpstr>Merging Class Diagrams: Motivation</vt:lpstr>
      <vt:lpstr>Merging Operator for Class Diagrams  : CD × CD   CD</vt:lpstr>
      <vt:lpstr>Merging Class Diagrams: Example</vt:lpstr>
      <vt:lpstr>Formal Aspects of Merging Class Diagrams</vt:lpstr>
      <vt:lpstr>Closed-World vs Open-World Semantics</vt:lpstr>
      <vt:lpstr>A Merge of CDs is a Minimal Expansion!</vt:lpstr>
      <vt:lpstr>Why can we not achieve: sem_ow (A⊕ B)= sem_ow (A)  ∩ sem_ow (B)?</vt:lpstr>
      <vt:lpstr>Why can we not achieve: sem_ow (A⊕ B)= sem_ow (A)  ∩ sem_ow (B)?</vt:lpstr>
      <vt:lpstr>How is CDMerge implemented?</vt:lpstr>
      <vt:lpstr>Example: Class Merging</vt:lpstr>
      <vt:lpstr>Example: Class Merging</vt:lpstr>
      <vt:lpstr>Example: Inheritance Merging</vt:lpstr>
      <vt:lpstr>Example: Conflicts in Inheritance Merging</vt:lpstr>
      <vt:lpstr>Example: Association Merging</vt:lpstr>
      <vt:lpstr>Example: Ambiguous Matching of Association</vt:lpstr>
      <vt:lpstr>Example: Mismatching Cardinalities</vt:lpstr>
      <vt:lpstr>Example: Association and Inheritance Conflict</vt:lpstr>
      <vt:lpstr>Next Step: Merging and Code Generation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Windows-Benutzer</dc:creator>
  <cp:lastModifiedBy>Max Stachon</cp:lastModifiedBy>
  <cp:revision>910</cp:revision>
  <cp:lastPrinted>2022-09-15T16:44:52Z</cp:lastPrinted>
  <dcterms:created xsi:type="dcterms:W3CDTF">2019-02-06T21:20:56Z</dcterms:created>
  <dcterms:modified xsi:type="dcterms:W3CDTF">2025-11-27T19:32:30Z</dcterms:modified>
</cp:coreProperties>
</file>